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5240000" cy="8572500"/>
  <p:notesSz cx="6858000" cy="9144000"/>
  <p:embeddedFontLst>
    <p:embeddedFont>
      <p:font typeface="Arial Bold" charset="1" panose="020B0704020202020204"/>
      <p:regular r:id="rId27"/>
    </p:embeddedFont>
    <p:embeddedFont>
      <p:font typeface="Arial" charset="1" panose="020B06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Christian | Target: 0:20. Good afternoon. We are Christian Corvino, Giorgia Chiaro, Marta Cudia, and Alessio Olivieri. Our project asks a simple but demanding question: can a model understand where a surgical procedure is in time, not just what is visible in a single frame? We evaluate that question on laparoscopic cholecystectomy videos.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Christian | Target: 0:45. A context-aware surgical system must know the current phase before it can provide useful guidance, index a video, or anticipate what comes next. The difficulty is that adjacent phases can look similar in a single frame, while smoke, blood, lighting changes, and tool occlusion make the visual evidence noisy. A short false transition may barely affect overall accuracy, but it can make the inferred workflow clinically implausible. This is why our problem is temporal segmentation, not ordinary image classification.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Christian | Target: 1:05. We use Cholec80, which contains 80 laparoscopic cholecystectomy videos with seven phase labels. The original videos are recorded at 25 frames per second. Because phases last minutes and consecutive frames are highly redundant, we sample one frame per second and resize to 224 by 224. This produces 184,578 labeled frames. Crucially, the split is made by whole video: videos 1 to 32 for training, 33 to 40 for validation, and 41 to 80 for testing. No patient or near-duplicate frame can leak across sets.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Christian | Target: 1:05. The dataset reflects real surgery, so it is strongly imbalanced. Calot triangle dissection and gallbladder dissection together account for more than 72 percent of all frames, while gallbladder retraction is only 3.6 percent. The rarest phase is represented about eleven times less than the most common one. We verified that missing opening or closing phases in a subset of videos are genuine recording characteristics, not parsing errors. Therefore, we preserve the data and manage imbalance during training with class-aware losses rather than artificially changing the test distribution.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0:40. Before comparing the models, we fix their interface. We sample one frame per second and ResNet50 converts each frame into a 2048-dimensional vector. For a video lasting T seconds, the temporal input is therefore T by 2048, and every architecture returns T by 7 logits: one score for each surgical phase at every second. Original, teammates, and finetuned change the ResNet representation; GRU, Transformer, MS-TCN, and SF-TMN change only how those vectors interact across time. This separation lets us compare temporal architectures on the same type of input.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1:10. We use three recurrent variants and one windowed Transformer. Every recurrent model first projects 2048 features to 256 dimensions with LayerNorm, GELU, and dropout. The GRU then uses two unidirectional 256-unit layers, so each prediction summarizes only the past. The BiGRU reads both directions with 128 units per direction, giving past and future context without increasing the final 256-dimensional state. MS-CBiGRU first applies four parallel convolutions spanning 3, 5, 9, and 17 seconds, then uses the BiGRU; this combines local transition patterns with full-sequence memory. The Transformer instead adds positional encoding and uses three encoder layers with eight attention heads. It processes overlapping 64-second windows and averages logits in the overlap. Attention is flexible inside each window, but it has no true video-level memory, which helps explain its fragmented temporal predictions.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0:55. MS-TCN receives the complete video rather than short windows. A one-by-one convolution first projects the 2048 input channels to 64. Each stage then contains 10 or 11 residual layers whose dilation doubles from one up to 512 or 1024. This gives a nominal receptive field of 2047 or 4095 seconds per stage, enough to cover most operations. The model has four stages: the first predicts an initial phase sequence, while the next three consume only the preceding phase probabilities and learn to remove isolated errors and short fragments. Our multi-task version adds phase and instrument heads at every stage. Instruments provide auxiliary supervision to the shared representation, but only phase probabilities enter the next refinement stage.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1:00. SF-TMN models the same video at two temporal resolutions. The slow path keeps all T one-second positions, preserving precise phase boundaries. The fast path max-pools non-overlapping groups of 32 seconds, reducing the sequence to roughly T divided by 32 and making long-range workflow structure cheaper to model. Both paths use ten ASFormer blocks with 64 channels. Each block combines an exponentially dilated convolution with local sliding-window attention, so it has a stronger segmentation bias than the windowed Transformer. Fast features are upsampled and fused with slow features using learned softmax weights. After the initial fusion, three decoder levels repeat this slow-fast refinement. This combination of precise boundaries, coarse context, and iterative correction explains why SF-TMN achieved the best segmental score.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Marta | Target: 1:00. Training must address both class imbalance and temporal fragmentation. For Transformer and MS-TCN we compare weighted cross-entropy, focal loss, and a boundary-aware loss that emphasizes frames near transitions. MS-TCN also uses truncated temporal smoothing, which penalizes abrupt changes in adjacent log-probabilities. The multi-task model adds binary cross-entropy for tool presence with weight 0.40. Recurrent baselines use weighted cross-entropy plus lighter smoothing, while SF-TMN follows its reference setup with unweighted cross-entropy.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Marta | Target: 1:00. We separate model selection from final evaluation. During development, each feature source, architecture, and loss is trained on the training set. Validation selects the best checkpoint, the loss family, and whether raw output or Viterbi post-processing is better. Only after all these choices are frozen is the 40-video test set instantiated and evaluated once. The instrument threshold is also selected only on validation. This protocol prevents tuning on the test results.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Marta | Target: 1:10. Accuracy and macro F1 measure frame classification, but they do not tell us whether the predicted sequence contains too many short, implausible segments. Edit score compares the ordered sequence of segments and strongly penalizes fragmentation. F1 at 10, 25, and 50 percent temporal overlap checks whether predicted phase intervals match real intervals at increasingly strict boundaries. We average those three F1 values as our primary metric. Viterbi decoding is selected only when validation shows that the learned phase-transition model improves temporal quality.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1:15. This plot contains all 21 architecture and feature-source combinations from the final report. The horizontal axis is frame accuracy and the vertical axis is mean segmental F1. A point can move right without moving up, so better frame classification does not guarantee better workflow reconstruction. The 11-layer multi-task MS-TCN with teammates features is furthest right at 92.12 percent accuracy, but its temporal score is 79.65. SF-TMN with original features is highest at 88.36 percent mean segmental F1, with 91.31 percent accuracy. For workflow reconstruction, that is the better trade-off.</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1:05. Looking at the top temporal configurations, SF-TMN with original features ranks first at 88.36 percent. The 10-layer multi-task MS-TCN with finetuned features follows at 86.69 percent, then SF-TMN finetuned at 85.70 and MS-CBiGRU original at 85.67. The temporal Transformer is substantially weaker, between 46 and 51 percent depending on features. Its 64-second windows classify many frames correctly, but they do not reconstruct the global procedure as reliably as full-sequence or multi-scale models.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1:00. Feature quality is architecture-dependent. Finetuning helps the Transformer and gives the best macro F1 with the 11-layer MS-TCN, but original ImageNet features are best for SF-TMN and MS-CBiGRU. Depth is also not monotonic. Moving from 10 to 11 layers improves mean segmental F1 by 8.01 points on original features, but reduces it by 2.54 points on finetuned features and 4.21 points on teammates features. These are not pure causal ablations because validation selected different losses. Computationally, all models remain light, with test inference under nine seconds for 40 videos.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Alessio | Target: 1:10. Our answer is task-dependent. If the goal is pure frame accuracy, the best choice is the 11-layer multi-task MS-TCN with teammates features. If the goal is coherent surgical workflow reconstruction, SF-TMN with original features is the stronger model, and that is our recommended configuration. The main limitations are one random seed, one hold-out split, offline future context, and a depth comparison that did not hold every training choice fixed. The next steps are multi-seed evaluation with paired per-video statistics, a controlled 10-versus-12-layer ablation, and a causal model for real-time assistance. The key lesson is that a surgical model is useful only when its sequence is clinically plausible.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Backup slide; not included in the 15-minute timing. Use only if the committee asks for the complete frame-level comparison.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Backup slide; not included in the 15-minute timing. Use only if the committee asks for the complete temporal segmentation comparison.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Backup slide; not included in the 15-minute timing. Contains the remaining quantitative results from Tables 5.3, 5.4, and 5.5.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MEDICAL ROBOTICS PROJECT</a:t>
            </a:r>
          </a:p>
        </p:txBody>
      </p:sp>
      <p:sp>
        <p:nvSpPr>
          <p:cNvPr name="TextBox 7" id="7"/>
          <p:cNvSpPr txBox="true"/>
          <p:nvPr/>
        </p:nvSpPr>
        <p:spPr>
          <a:xfrm rot="0">
            <a:off x="800100" y="1171575"/>
            <a:ext cx="12001500" cy="1473708"/>
          </a:xfrm>
          <a:prstGeom prst="rect">
            <a:avLst/>
          </a:prstGeom>
        </p:spPr>
        <p:txBody>
          <a:bodyPr anchor="t" rtlCol="false" tIns="0" lIns="0" bIns="0" rIns="0">
            <a:spAutoFit/>
          </a:bodyPr>
          <a:lstStyle/>
          <a:p>
            <a:pPr algn="l">
              <a:lnSpc>
                <a:spcPts val="5586"/>
              </a:lnSpc>
            </a:pPr>
            <a:r>
              <a:rPr lang="en-US" b="true" sz="5700" spc="-239">
                <a:solidFill>
                  <a:srgbClr val="102126"/>
                </a:solidFill>
                <a:latin typeface="Arial Bold"/>
                <a:ea typeface="Arial Bold"/>
                <a:cs typeface="Arial Bold"/>
                <a:sym typeface="Arial Bold"/>
              </a:rPr>
              <a:t>Surgical Workflow</a:t>
            </a:r>
          </a:p>
          <a:p>
            <a:pPr algn="l">
              <a:lnSpc>
                <a:spcPts val="5586"/>
              </a:lnSpc>
            </a:pPr>
            <a:r>
              <a:rPr lang="en-US" b="true" sz="5700" spc="-239">
                <a:solidFill>
                  <a:srgbClr val="102126"/>
                </a:solidFill>
                <a:latin typeface="Arial Bold"/>
                <a:ea typeface="Arial Bold"/>
                <a:cs typeface="Arial Bold"/>
                <a:sym typeface="Arial Bold"/>
              </a:rPr>
              <a:t>Analysis</a:t>
            </a:r>
          </a:p>
        </p:txBody>
      </p:sp>
      <p:sp>
        <p:nvSpPr>
          <p:cNvPr name="TextBox 8" id="8"/>
          <p:cNvSpPr txBox="true"/>
          <p:nvPr/>
        </p:nvSpPr>
        <p:spPr>
          <a:xfrm rot="0">
            <a:off x="800100" y="2733103"/>
            <a:ext cx="10477500" cy="443103"/>
          </a:xfrm>
          <a:prstGeom prst="rect">
            <a:avLst/>
          </a:prstGeom>
        </p:spPr>
        <p:txBody>
          <a:bodyPr anchor="t" rtlCol="false" tIns="0" lIns="0" bIns="0" rIns="0">
            <a:spAutoFit/>
          </a:bodyPr>
          <a:lstStyle/>
          <a:p>
            <a:pPr algn="l">
              <a:lnSpc>
                <a:spcPts val="3264"/>
              </a:lnSpc>
            </a:pPr>
            <a:r>
              <a:rPr lang="en-US" sz="2550">
                <a:solidFill>
                  <a:srgbClr val="42585D"/>
                </a:solidFill>
                <a:latin typeface="Arial"/>
                <a:ea typeface="Arial"/>
                <a:cs typeface="Arial"/>
                <a:sym typeface="Arial"/>
              </a:rPr>
              <a:t>Temporal phase recognition on Cholec80</a:t>
            </a:r>
          </a:p>
        </p:txBody>
      </p:sp>
      <p:sp>
        <p:nvSpPr>
          <p:cNvPr name="TextBox 9" id="9"/>
          <p:cNvSpPr txBox="true"/>
          <p:nvPr/>
        </p:nvSpPr>
        <p:spPr>
          <a:xfrm rot="0">
            <a:off x="800100" y="3747611"/>
            <a:ext cx="1680305" cy="314325"/>
          </a:xfrm>
          <a:prstGeom prst="rect">
            <a:avLst/>
          </a:prstGeom>
        </p:spPr>
        <p:txBody>
          <a:bodyPr anchor="t" rtlCol="false" tIns="0" lIns="0" bIns="0" rIns="0">
            <a:spAutoFit/>
          </a:bodyPr>
          <a:lstStyle/>
          <a:p>
            <a:pPr algn="l">
              <a:lnSpc>
                <a:spcPts val="2415"/>
              </a:lnSpc>
            </a:pPr>
            <a:r>
              <a:rPr lang="en-US" sz="1725">
                <a:solidFill>
                  <a:srgbClr val="42585D"/>
                </a:solidFill>
                <a:latin typeface="Arial"/>
                <a:ea typeface="Arial"/>
                <a:cs typeface="Arial"/>
                <a:sym typeface="Arial"/>
              </a:rPr>
              <a:t>Christian Corvino</a:t>
            </a:r>
          </a:p>
        </p:txBody>
      </p:sp>
      <p:sp>
        <p:nvSpPr>
          <p:cNvPr name="TextBox 10" id="10"/>
          <p:cNvSpPr txBox="true"/>
          <p:nvPr/>
        </p:nvSpPr>
        <p:spPr>
          <a:xfrm rot="0">
            <a:off x="2804255" y="3747611"/>
            <a:ext cx="1412558" cy="314325"/>
          </a:xfrm>
          <a:prstGeom prst="rect">
            <a:avLst/>
          </a:prstGeom>
        </p:spPr>
        <p:txBody>
          <a:bodyPr anchor="t" rtlCol="false" tIns="0" lIns="0" bIns="0" rIns="0">
            <a:spAutoFit/>
          </a:bodyPr>
          <a:lstStyle/>
          <a:p>
            <a:pPr algn="l">
              <a:lnSpc>
                <a:spcPts val="2415"/>
              </a:lnSpc>
            </a:pPr>
            <a:r>
              <a:rPr lang="en-US" sz="1725">
                <a:solidFill>
                  <a:srgbClr val="42585D"/>
                </a:solidFill>
                <a:latin typeface="Arial"/>
                <a:ea typeface="Arial"/>
                <a:cs typeface="Arial"/>
                <a:sym typeface="Arial"/>
              </a:rPr>
              <a:t>Giorgia Chiaro</a:t>
            </a:r>
          </a:p>
        </p:txBody>
      </p:sp>
      <p:sp>
        <p:nvSpPr>
          <p:cNvPr name="TextBox 11" id="11"/>
          <p:cNvSpPr txBox="true"/>
          <p:nvPr/>
        </p:nvSpPr>
        <p:spPr>
          <a:xfrm rot="0">
            <a:off x="4540568" y="3747611"/>
            <a:ext cx="1193292" cy="314325"/>
          </a:xfrm>
          <a:prstGeom prst="rect">
            <a:avLst/>
          </a:prstGeom>
        </p:spPr>
        <p:txBody>
          <a:bodyPr anchor="t" rtlCol="false" tIns="0" lIns="0" bIns="0" rIns="0">
            <a:spAutoFit/>
          </a:bodyPr>
          <a:lstStyle/>
          <a:p>
            <a:pPr algn="l">
              <a:lnSpc>
                <a:spcPts val="2415"/>
              </a:lnSpc>
            </a:pPr>
            <a:r>
              <a:rPr lang="en-US" sz="1725">
                <a:solidFill>
                  <a:srgbClr val="42585D"/>
                </a:solidFill>
                <a:latin typeface="Arial"/>
                <a:ea typeface="Arial"/>
                <a:cs typeface="Arial"/>
                <a:sym typeface="Arial"/>
              </a:rPr>
              <a:t>Marta Cudia</a:t>
            </a:r>
          </a:p>
        </p:txBody>
      </p:sp>
      <p:sp>
        <p:nvSpPr>
          <p:cNvPr name="TextBox 12" id="12"/>
          <p:cNvSpPr txBox="true"/>
          <p:nvPr/>
        </p:nvSpPr>
        <p:spPr>
          <a:xfrm rot="0">
            <a:off x="6057710" y="3747611"/>
            <a:ext cx="1436656" cy="314325"/>
          </a:xfrm>
          <a:prstGeom prst="rect">
            <a:avLst/>
          </a:prstGeom>
        </p:spPr>
        <p:txBody>
          <a:bodyPr anchor="t" rtlCol="false" tIns="0" lIns="0" bIns="0" rIns="0">
            <a:spAutoFit/>
          </a:bodyPr>
          <a:lstStyle/>
          <a:p>
            <a:pPr algn="l">
              <a:lnSpc>
                <a:spcPts val="2415"/>
              </a:lnSpc>
            </a:pPr>
            <a:r>
              <a:rPr lang="en-US" sz="1725">
                <a:solidFill>
                  <a:srgbClr val="42585D"/>
                </a:solidFill>
                <a:latin typeface="Arial"/>
                <a:ea typeface="Arial"/>
                <a:cs typeface="Arial"/>
                <a:sym typeface="Arial"/>
              </a:rPr>
              <a:t>Alessio Olivieri</a:t>
            </a:r>
          </a:p>
        </p:txBody>
      </p:sp>
      <p:sp>
        <p:nvSpPr>
          <p:cNvPr name="AutoShape 13" id="13"/>
          <p:cNvSpPr/>
          <p:nvPr/>
        </p:nvSpPr>
        <p:spPr>
          <a:xfrm rot="0">
            <a:off x="800100" y="7296150"/>
            <a:ext cx="1278731" cy="209550"/>
          </a:xfrm>
          <a:prstGeom prst="rect">
            <a:avLst/>
          </a:prstGeom>
          <a:solidFill>
            <a:srgbClr val="52D6C9"/>
          </a:solidFill>
        </p:spPr>
      </p:sp>
      <p:sp>
        <p:nvSpPr>
          <p:cNvPr name="AutoShape 14" id="14"/>
          <p:cNvSpPr/>
          <p:nvPr/>
        </p:nvSpPr>
        <p:spPr>
          <a:xfrm rot="0">
            <a:off x="2078831" y="7296150"/>
            <a:ext cx="4795266" cy="209550"/>
          </a:xfrm>
          <a:prstGeom prst="rect">
            <a:avLst/>
          </a:prstGeom>
          <a:solidFill>
            <a:srgbClr val="78C6E8"/>
          </a:solidFill>
        </p:spPr>
      </p:sp>
      <p:sp>
        <p:nvSpPr>
          <p:cNvPr name="AutoShape 15" id="15"/>
          <p:cNvSpPr/>
          <p:nvPr/>
        </p:nvSpPr>
        <p:spPr>
          <a:xfrm rot="0">
            <a:off x="6874097" y="7296150"/>
            <a:ext cx="1172146" cy="209550"/>
          </a:xfrm>
          <a:prstGeom prst="rect">
            <a:avLst/>
          </a:prstGeom>
          <a:solidFill>
            <a:srgbClr val="F3C85B"/>
          </a:solidFill>
        </p:spPr>
      </p:sp>
      <p:sp>
        <p:nvSpPr>
          <p:cNvPr name="AutoShape 16" id="16"/>
          <p:cNvSpPr/>
          <p:nvPr/>
        </p:nvSpPr>
        <p:spPr>
          <a:xfrm rot="0">
            <a:off x="8046244" y="7296150"/>
            <a:ext cx="3942778" cy="209550"/>
          </a:xfrm>
          <a:prstGeom prst="rect">
            <a:avLst/>
          </a:prstGeom>
          <a:solidFill>
            <a:srgbClr val="F18978"/>
          </a:solidFill>
        </p:spPr>
      </p:sp>
      <p:sp>
        <p:nvSpPr>
          <p:cNvPr name="AutoShape 17" id="17"/>
          <p:cNvSpPr/>
          <p:nvPr/>
        </p:nvSpPr>
        <p:spPr>
          <a:xfrm rot="0">
            <a:off x="11989022" y="7296150"/>
            <a:ext cx="745903" cy="209550"/>
          </a:xfrm>
          <a:prstGeom prst="rect">
            <a:avLst/>
          </a:prstGeom>
          <a:solidFill>
            <a:srgbClr val="B69AF8"/>
          </a:solidFill>
        </p:spPr>
      </p:sp>
      <p:sp>
        <p:nvSpPr>
          <p:cNvPr name="AutoShape 18" id="18"/>
          <p:cNvSpPr/>
          <p:nvPr/>
        </p:nvSpPr>
        <p:spPr>
          <a:xfrm rot="0">
            <a:off x="12734925" y="7296150"/>
            <a:ext cx="1065657" cy="209550"/>
          </a:xfrm>
          <a:prstGeom prst="rect">
            <a:avLst/>
          </a:prstGeom>
          <a:solidFill>
            <a:srgbClr val="A6DC74"/>
          </a:solidFill>
        </p:spPr>
      </p:sp>
      <p:sp>
        <p:nvSpPr>
          <p:cNvPr name="AutoShape 19" id="19"/>
          <p:cNvSpPr/>
          <p:nvPr/>
        </p:nvSpPr>
        <p:spPr>
          <a:xfrm rot="0">
            <a:off x="13800582" y="7296150"/>
            <a:ext cx="639413" cy="209550"/>
          </a:xfrm>
          <a:prstGeom prst="rect">
            <a:avLst/>
          </a:prstGeom>
          <a:solidFill>
            <a:srgbClr val="F4A5C4"/>
          </a:solidFill>
        </p:spPr>
      </p:sp>
      <p:sp>
        <p:nvSpPr>
          <p:cNvPr name="AutoShape 20" id="20"/>
          <p:cNvSpPr/>
          <p:nvPr/>
        </p:nvSpPr>
        <p:spPr>
          <a:xfrm rot="0">
            <a:off x="800100" y="8039100"/>
            <a:ext cx="13639800" cy="9525"/>
          </a:xfrm>
          <a:prstGeom prst="rect">
            <a:avLst/>
          </a:prstGeom>
          <a:solidFill>
            <a:srgbClr val="061217">
              <a:alpha val="14902"/>
            </a:srgbClr>
          </a:solidFill>
        </p:spPr>
      </p:sp>
      <p:sp>
        <p:nvSpPr>
          <p:cNvPr name="TextBox 21" id="21"/>
          <p:cNvSpPr txBox="true"/>
          <p:nvPr/>
        </p:nvSpPr>
        <p:spPr>
          <a:xfrm rot="0">
            <a:off x="800100" y="8153400"/>
            <a:ext cx="184232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Sapienza University of Rome</a:t>
            </a:r>
          </a:p>
        </p:txBody>
      </p:sp>
      <p:sp>
        <p:nvSpPr>
          <p:cNvPr name="TextBox 22" id="22"/>
          <p:cNvSpPr txBox="true"/>
          <p:nvPr/>
        </p:nvSpPr>
        <p:spPr>
          <a:xfrm rot="0">
            <a:off x="13343763" y="8153400"/>
            <a:ext cx="1096137"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20 July 2026 ·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131093" y="0"/>
            <a:ext cx="15371093" cy="7715250"/>
            <a:chOff x="0" y="0"/>
            <a:chExt cx="20494791" cy="10287000"/>
          </a:xfrm>
        </p:grpSpPr>
        <p:sp>
          <p:nvSpPr>
            <p:cNvPr name="Freeform 5" id="5"/>
            <p:cNvSpPr/>
            <p:nvPr/>
          </p:nvSpPr>
          <p:spPr>
            <a:xfrm flipH="false" flipV="false" rot="0">
              <a:off x="0" y="0"/>
              <a:ext cx="20494791" cy="10287000"/>
            </a:xfrm>
            <a:custGeom>
              <a:avLst/>
              <a:gdLst/>
              <a:ahLst/>
              <a:cxnLst/>
              <a:rect r="r" b="b" t="t" l="l"/>
              <a:pathLst>
                <a:path h="10287000" w="20494791">
                  <a:moveTo>
                    <a:pt x="0" y="0"/>
                  </a:moveTo>
                  <a:lnTo>
                    <a:pt x="20494791" y="0"/>
                  </a:lnTo>
                  <a:lnTo>
                    <a:pt x="20494791" y="10287000"/>
                  </a:lnTo>
                  <a:lnTo>
                    <a:pt x="0" y="10287000"/>
                  </a:lnTo>
                  <a:lnTo>
                    <a:pt x="0" y="0"/>
                  </a:lnTo>
                  <a:close/>
                </a:path>
              </a:pathLst>
            </a:custGeom>
            <a:blipFill>
              <a:blip r:embed="rId4"/>
              <a:stretch>
                <a:fillRect l="-21981" t="0" r="-21128" b="-11111"/>
              </a:stretch>
            </a:blipFill>
          </p:spPr>
        </p:sp>
      </p:grpSp>
      <p:sp>
        <p:nvSpPr>
          <p:cNvPr name="AutoShape 6" id="6"/>
          <p:cNvSpPr/>
          <p:nvPr/>
        </p:nvSpPr>
        <p:spPr>
          <a:xfrm rot="0">
            <a:off x="800100" y="8039100"/>
            <a:ext cx="13639800" cy="9525"/>
          </a:xfrm>
          <a:prstGeom prst="rect">
            <a:avLst/>
          </a:prstGeom>
          <a:solidFill>
            <a:srgbClr val="061217">
              <a:alpha val="14902"/>
            </a:srgbClr>
          </a:solidFill>
        </p:spPr>
      </p:sp>
      <p:sp>
        <p:nvSpPr>
          <p:cNvPr name="Freeform 7" id="7"/>
          <p:cNvSpPr/>
          <p:nvPr/>
        </p:nvSpPr>
        <p:spPr>
          <a:xfrm flipH="false" flipV="false" rot="0">
            <a:off x="0" y="0"/>
            <a:ext cx="15240000" cy="8572500"/>
          </a:xfrm>
          <a:custGeom>
            <a:avLst/>
            <a:gdLst/>
            <a:ahLst/>
            <a:cxnLst/>
            <a:rect r="r" b="b" t="t" l="l"/>
            <a:pathLst>
              <a:path h="8572500" w="15240000">
                <a:moveTo>
                  <a:pt x="0" y="0"/>
                </a:moveTo>
                <a:lnTo>
                  <a:pt x="15240000" y="0"/>
                </a:lnTo>
                <a:lnTo>
                  <a:pt x="15240000" y="8572500"/>
                </a:lnTo>
                <a:lnTo>
                  <a:pt x="0" y="8572500"/>
                </a:lnTo>
                <a:lnTo>
                  <a:pt x="0" y="0"/>
                </a:lnTo>
                <a:close/>
              </a:path>
            </a:pathLst>
          </a:custGeom>
          <a:blipFill>
            <a:blip r:embed="rId5"/>
            <a:stretch>
              <a:fillRect l="0" t="0" r="0" b="0"/>
            </a:stretch>
          </a:blipFill>
        </p:spPr>
      </p:sp>
      <p:sp>
        <p:nvSpPr>
          <p:cNvPr name="TextBox 8" id="8"/>
          <p:cNvSpPr txBox="true"/>
          <p:nvPr/>
        </p:nvSpPr>
        <p:spPr>
          <a:xfrm rot="0">
            <a:off x="800100" y="7791450"/>
            <a:ext cx="500329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Clinical context: Lalys &amp; Jannin (2014); Padoy (2019); Project report, Chapter 1</a:t>
            </a:r>
          </a:p>
        </p:txBody>
      </p:sp>
      <p:sp>
        <p:nvSpPr>
          <p:cNvPr name="TextBox 9" id="9"/>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10" id="10"/>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271939"/>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DATASET DESIGN</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Cholec80 becomes a strict video-level benchmark</a:t>
            </a:r>
          </a:p>
        </p:txBody>
      </p:sp>
      <p:sp>
        <p:nvSpPr>
          <p:cNvPr name="TextBox 8" id="8"/>
          <p:cNvSpPr txBox="true"/>
          <p:nvPr/>
        </p:nvSpPr>
        <p:spPr>
          <a:xfrm rot="0">
            <a:off x="800100" y="2382774"/>
            <a:ext cx="2333625" cy="584740"/>
          </a:xfrm>
          <a:prstGeom prst="rect">
            <a:avLst/>
          </a:prstGeom>
        </p:spPr>
        <p:txBody>
          <a:bodyPr anchor="t" rtlCol="false" tIns="0" lIns="0" bIns="0" rIns="0">
            <a:spAutoFit/>
          </a:bodyPr>
          <a:lstStyle/>
          <a:p>
            <a:pPr algn="l">
              <a:lnSpc>
                <a:spcPts val="5805"/>
              </a:lnSpc>
            </a:pPr>
            <a:r>
              <a:rPr lang="en-US" b="true" sz="6450" spc="-303">
                <a:solidFill>
                  <a:srgbClr val="102126"/>
                </a:solidFill>
                <a:latin typeface="Arial Bold"/>
                <a:ea typeface="Arial Bold"/>
                <a:cs typeface="Arial Bold"/>
                <a:sym typeface="Arial Bold"/>
              </a:rPr>
              <a:t>80</a:t>
            </a:r>
          </a:p>
        </p:txBody>
      </p:sp>
      <p:sp>
        <p:nvSpPr>
          <p:cNvPr name="TextBox 9" id="9"/>
          <p:cNvSpPr txBox="true"/>
          <p:nvPr/>
        </p:nvSpPr>
        <p:spPr>
          <a:xfrm rot="0">
            <a:off x="800100" y="3200648"/>
            <a:ext cx="2286000" cy="304800"/>
          </a:xfrm>
          <a:prstGeom prst="rect">
            <a:avLst/>
          </a:prstGeom>
        </p:spPr>
        <p:txBody>
          <a:bodyPr anchor="t" rtlCol="false" tIns="0" lIns="0" bIns="0" rIns="0">
            <a:spAutoFit/>
          </a:bodyPr>
          <a:lstStyle/>
          <a:p>
            <a:pPr algn="l">
              <a:lnSpc>
                <a:spcPts val="2310"/>
              </a:lnSpc>
            </a:pPr>
            <a:r>
              <a:rPr lang="en-US" sz="1650">
                <a:solidFill>
                  <a:srgbClr val="53696E"/>
                </a:solidFill>
                <a:latin typeface="Arial"/>
                <a:ea typeface="Arial"/>
                <a:cs typeface="Arial"/>
                <a:sym typeface="Arial"/>
              </a:rPr>
              <a:t>laparoscopic procedures</a:t>
            </a:r>
          </a:p>
        </p:txBody>
      </p:sp>
      <p:sp>
        <p:nvSpPr>
          <p:cNvPr name="TextBox 10" id="10"/>
          <p:cNvSpPr txBox="true"/>
          <p:nvPr/>
        </p:nvSpPr>
        <p:spPr>
          <a:xfrm rot="0">
            <a:off x="3752850" y="2382774"/>
            <a:ext cx="2333625" cy="584740"/>
          </a:xfrm>
          <a:prstGeom prst="rect">
            <a:avLst/>
          </a:prstGeom>
        </p:spPr>
        <p:txBody>
          <a:bodyPr anchor="t" rtlCol="false" tIns="0" lIns="0" bIns="0" rIns="0">
            <a:spAutoFit/>
          </a:bodyPr>
          <a:lstStyle/>
          <a:p>
            <a:pPr algn="l">
              <a:lnSpc>
                <a:spcPts val="5805"/>
              </a:lnSpc>
            </a:pPr>
            <a:r>
              <a:rPr lang="en-US" b="true" sz="6450" spc="-303">
                <a:solidFill>
                  <a:srgbClr val="102126"/>
                </a:solidFill>
                <a:latin typeface="Arial Bold"/>
                <a:ea typeface="Arial Bold"/>
                <a:cs typeface="Arial Bold"/>
                <a:sym typeface="Arial Bold"/>
              </a:rPr>
              <a:t>7</a:t>
            </a:r>
          </a:p>
        </p:txBody>
      </p:sp>
      <p:sp>
        <p:nvSpPr>
          <p:cNvPr name="TextBox 11" id="11"/>
          <p:cNvSpPr txBox="true"/>
          <p:nvPr/>
        </p:nvSpPr>
        <p:spPr>
          <a:xfrm rot="0">
            <a:off x="3752850" y="3200648"/>
            <a:ext cx="2286000" cy="304800"/>
          </a:xfrm>
          <a:prstGeom prst="rect">
            <a:avLst/>
          </a:prstGeom>
        </p:spPr>
        <p:txBody>
          <a:bodyPr anchor="t" rtlCol="false" tIns="0" lIns="0" bIns="0" rIns="0">
            <a:spAutoFit/>
          </a:bodyPr>
          <a:lstStyle/>
          <a:p>
            <a:pPr algn="l">
              <a:lnSpc>
                <a:spcPts val="2310"/>
              </a:lnSpc>
            </a:pPr>
            <a:r>
              <a:rPr lang="en-US" sz="1650">
                <a:solidFill>
                  <a:srgbClr val="53696E"/>
                </a:solidFill>
                <a:latin typeface="Arial"/>
                <a:ea typeface="Arial"/>
                <a:cs typeface="Arial"/>
                <a:sym typeface="Arial"/>
              </a:rPr>
              <a:t>surgical phases</a:t>
            </a:r>
          </a:p>
        </p:txBody>
      </p:sp>
      <p:sp>
        <p:nvSpPr>
          <p:cNvPr name="TextBox 12" id="12"/>
          <p:cNvSpPr txBox="true"/>
          <p:nvPr/>
        </p:nvSpPr>
        <p:spPr>
          <a:xfrm rot="0">
            <a:off x="6681788" y="2382774"/>
            <a:ext cx="2333625" cy="584740"/>
          </a:xfrm>
          <a:prstGeom prst="rect">
            <a:avLst/>
          </a:prstGeom>
        </p:spPr>
        <p:txBody>
          <a:bodyPr anchor="t" rtlCol="false" tIns="0" lIns="0" bIns="0" rIns="0">
            <a:spAutoFit/>
          </a:bodyPr>
          <a:lstStyle/>
          <a:p>
            <a:pPr algn="l">
              <a:lnSpc>
                <a:spcPts val="5805"/>
              </a:lnSpc>
            </a:pPr>
            <a:r>
              <a:rPr lang="en-US" b="true" sz="6450" spc="-303">
                <a:solidFill>
                  <a:srgbClr val="102126"/>
                </a:solidFill>
                <a:latin typeface="Arial Bold"/>
                <a:ea typeface="Arial Bold"/>
                <a:cs typeface="Arial Bold"/>
                <a:sym typeface="Arial Bold"/>
              </a:rPr>
              <a:t>1 fps</a:t>
            </a:r>
          </a:p>
        </p:txBody>
      </p:sp>
      <p:sp>
        <p:nvSpPr>
          <p:cNvPr name="TextBox 13" id="13"/>
          <p:cNvSpPr txBox="true"/>
          <p:nvPr/>
        </p:nvSpPr>
        <p:spPr>
          <a:xfrm rot="0">
            <a:off x="6705600" y="3200648"/>
            <a:ext cx="2286000" cy="304800"/>
          </a:xfrm>
          <a:prstGeom prst="rect">
            <a:avLst/>
          </a:prstGeom>
        </p:spPr>
        <p:txBody>
          <a:bodyPr anchor="t" rtlCol="false" tIns="0" lIns="0" bIns="0" rIns="0">
            <a:spAutoFit/>
          </a:bodyPr>
          <a:lstStyle/>
          <a:p>
            <a:pPr algn="l">
              <a:lnSpc>
                <a:spcPts val="2310"/>
              </a:lnSpc>
            </a:pPr>
            <a:r>
              <a:rPr lang="en-US" sz="1650">
                <a:solidFill>
                  <a:srgbClr val="53696E"/>
                </a:solidFill>
                <a:latin typeface="Arial"/>
                <a:ea typeface="Arial"/>
                <a:cs typeface="Arial"/>
                <a:sym typeface="Arial"/>
              </a:rPr>
              <a:t>from 25 fps video</a:t>
            </a:r>
          </a:p>
        </p:txBody>
      </p:sp>
      <p:sp>
        <p:nvSpPr>
          <p:cNvPr name="TextBox 14" id="14"/>
          <p:cNvSpPr txBox="true"/>
          <p:nvPr/>
        </p:nvSpPr>
        <p:spPr>
          <a:xfrm rot="0">
            <a:off x="9658350" y="2382774"/>
            <a:ext cx="2694432" cy="584740"/>
          </a:xfrm>
          <a:prstGeom prst="rect">
            <a:avLst/>
          </a:prstGeom>
        </p:spPr>
        <p:txBody>
          <a:bodyPr anchor="t" rtlCol="false" tIns="0" lIns="0" bIns="0" rIns="0">
            <a:spAutoFit/>
          </a:bodyPr>
          <a:lstStyle/>
          <a:p>
            <a:pPr algn="l">
              <a:lnSpc>
                <a:spcPts val="5805"/>
              </a:lnSpc>
            </a:pPr>
            <a:r>
              <a:rPr lang="en-US" b="true" sz="6450" spc="-303">
                <a:solidFill>
                  <a:srgbClr val="102126"/>
                </a:solidFill>
                <a:latin typeface="Arial Bold"/>
                <a:ea typeface="Arial Bold"/>
                <a:cs typeface="Arial Bold"/>
                <a:sym typeface="Arial Bold"/>
              </a:rPr>
              <a:t>184,578</a:t>
            </a:r>
          </a:p>
        </p:txBody>
      </p:sp>
      <p:sp>
        <p:nvSpPr>
          <p:cNvPr name="TextBox 15" id="15"/>
          <p:cNvSpPr txBox="true"/>
          <p:nvPr/>
        </p:nvSpPr>
        <p:spPr>
          <a:xfrm rot="0">
            <a:off x="9658350" y="3200648"/>
            <a:ext cx="2286000" cy="304800"/>
          </a:xfrm>
          <a:prstGeom prst="rect">
            <a:avLst/>
          </a:prstGeom>
        </p:spPr>
        <p:txBody>
          <a:bodyPr anchor="t" rtlCol="false" tIns="0" lIns="0" bIns="0" rIns="0">
            <a:spAutoFit/>
          </a:bodyPr>
          <a:lstStyle/>
          <a:p>
            <a:pPr algn="l">
              <a:lnSpc>
                <a:spcPts val="2310"/>
              </a:lnSpc>
            </a:pPr>
            <a:r>
              <a:rPr lang="en-US" sz="1650">
                <a:solidFill>
                  <a:srgbClr val="53696E"/>
                </a:solidFill>
                <a:latin typeface="Arial"/>
                <a:ea typeface="Arial"/>
                <a:cs typeface="Arial"/>
                <a:sym typeface="Arial"/>
              </a:rPr>
              <a:t>aligned frames</a:t>
            </a:r>
          </a:p>
        </p:txBody>
      </p:sp>
      <p:grpSp>
        <p:nvGrpSpPr>
          <p:cNvPr name="Group 16" id="16"/>
          <p:cNvGrpSpPr/>
          <p:nvPr/>
        </p:nvGrpSpPr>
        <p:grpSpPr>
          <a:xfrm rot="0">
            <a:off x="800100" y="4043839"/>
            <a:ext cx="5394865" cy="514350"/>
            <a:chOff x="0" y="0"/>
            <a:chExt cx="7193153" cy="685800"/>
          </a:xfrm>
        </p:grpSpPr>
        <p:sp>
          <p:nvSpPr>
            <p:cNvPr name="Freeform 17" id="17"/>
            <p:cNvSpPr/>
            <p:nvPr/>
          </p:nvSpPr>
          <p:spPr>
            <a:xfrm flipH="false" flipV="false" rot="0">
              <a:off x="0" y="0"/>
              <a:ext cx="7193153" cy="685800"/>
            </a:xfrm>
            <a:custGeom>
              <a:avLst/>
              <a:gdLst/>
              <a:ahLst/>
              <a:cxnLst/>
              <a:rect r="r" b="b" t="t" l="l"/>
              <a:pathLst>
                <a:path h="685800" w="7193153">
                  <a:moveTo>
                    <a:pt x="88900" y="0"/>
                  </a:moveTo>
                  <a:lnTo>
                    <a:pt x="7104253" y="0"/>
                  </a:lnTo>
                  <a:cubicBezTo>
                    <a:pt x="7153402" y="0"/>
                    <a:pt x="7193153" y="39751"/>
                    <a:pt x="7193153" y="88900"/>
                  </a:cubicBezTo>
                  <a:lnTo>
                    <a:pt x="7193153" y="596900"/>
                  </a:lnTo>
                  <a:cubicBezTo>
                    <a:pt x="7193153" y="646049"/>
                    <a:pt x="7153402" y="685800"/>
                    <a:pt x="7104253" y="685800"/>
                  </a:cubicBezTo>
                  <a:lnTo>
                    <a:pt x="88900" y="685800"/>
                  </a:lnTo>
                  <a:cubicBezTo>
                    <a:pt x="39751" y="685800"/>
                    <a:pt x="0" y="646049"/>
                    <a:pt x="0" y="596900"/>
                  </a:cubicBezTo>
                  <a:lnTo>
                    <a:pt x="0" y="88900"/>
                  </a:lnTo>
                  <a:cubicBezTo>
                    <a:pt x="0" y="39751"/>
                    <a:pt x="39751" y="0"/>
                    <a:pt x="88900" y="0"/>
                  </a:cubicBezTo>
                  <a:close/>
                </a:path>
              </a:pathLst>
            </a:custGeom>
            <a:solidFill>
              <a:srgbClr val="0B9185"/>
            </a:solidFill>
          </p:spPr>
        </p:sp>
        <p:sp>
          <p:nvSpPr>
            <p:cNvPr name="TextBox 18" id="18"/>
            <p:cNvSpPr txBox="true"/>
            <p:nvPr/>
          </p:nvSpPr>
          <p:spPr>
            <a:xfrm>
              <a:off x="0" y="-47625"/>
              <a:ext cx="7193153" cy="733425"/>
            </a:xfrm>
            <a:prstGeom prst="rect">
              <a:avLst/>
            </a:prstGeom>
          </p:spPr>
          <p:txBody>
            <a:bodyPr anchor="t" rtlCol="false" tIns="196850" lIns="196850" bIns="196850" rIns="196850"/>
            <a:lstStyle/>
            <a:p>
              <a:pPr algn="l">
                <a:lnSpc>
                  <a:spcPts val="2100"/>
                </a:lnSpc>
              </a:pPr>
              <a:r>
                <a:rPr lang="en-US" b="true" sz="1500">
                  <a:solidFill>
                    <a:srgbClr val="061217"/>
                  </a:solidFill>
                  <a:latin typeface="Arial Bold"/>
                  <a:ea typeface="Arial Bold"/>
                  <a:cs typeface="Arial Bold"/>
                  <a:sym typeface="Arial Bold"/>
                </a:rPr>
                <a:t>TRAIN · 32 videos</a:t>
              </a:r>
            </a:p>
          </p:txBody>
        </p:sp>
      </p:grpSp>
      <p:grpSp>
        <p:nvGrpSpPr>
          <p:cNvPr name="Group 19" id="19"/>
          <p:cNvGrpSpPr/>
          <p:nvPr/>
        </p:nvGrpSpPr>
        <p:grpSpPr>
          <a:xfrm rot="0">
            <a:off x="6271165" y="4043839"/>
            <a:ext cx="1348835" cy="514350"/>
            <a:chOff x="0" y="0"/>
            <a:chExt cx="1798447" cy="685800"/>
          </a:xfrm>
        </p:grpSpPr>
        <p:sp>
          <p:nvSpPr>
            <p:cNvPr name="Freeform 20" id="20"/>
            <p:cNvSpPr/>
            <p:nvPr/>
          </p:nvSpPr>
          <p:spPr>
            <a:xfrm flipH="false" flipV="false" rot="0">
              <a:off x="0" y="0"/>
              <a:ext cx="1798447" cy="685800"/>
            </a:xfrm>
            <a:custGeom>
              <a:avLst/>
              <a:gdLst/>
              <a:ahLst/>
              <a:cxnLst/>
              <a:rect r="r" b="b" t="t" l="l"/>
              <a:pathLst>
                <a:path h="685800" w="1798447">
                  <a:moveTo>
                    <a:pt x="88900" y="0"/>
                  </a:moveTo>
                  <a:lnTo>
                    <a:pt x="1709547" y="0"/>
                  </a:lnTo>
                  <a:cubicBezTo>
                    <a:pt x="1758696" y="0"/>
                    <a:pt x="1798447" y="39751"/>
                    <a:pt x="1798447" y="88900"/>
                  </a:cubicBezTo>
                  <a:lnTo>
                    <a:pt x="1798447" y="596900"/>
                  </a:lnTo>
                  <a:cubicBezTo>
                    <a:pt x="1798447" y="646049"/>
                    <a:pt x="1758696" y="685800"/>
                    <a:pt x="1709547" y="685800"/>
                  </a:cubicBezTo>
                  <a:lnTo>
                    <a:pt x="88900" y="685800"/>
                  </a:lnTo>
                  <a:cubicBezTo>
                    <a:pt x="39751" y="685800"/>
                    <a:pt x="0" y="646049"/>
                    <a:pt x="0" y="596900"/>
                  </a:cubicBezTo>
                  <a:lnTo>
                    <a:pt x="0" y="88900"/>
                  </a:lnTo>
                  <a:cubicBezTo>
                    <a:pt x="0" y="39751"/>
                    <a:pt x="39751" y="0"/>
                    <a:pt x="88900" y="0"/>
                  </a:cubicBezTo>
                  <a:close/>
                </a:path>
              </a:pathLst>
            </a:custGeom>
            <a:solidFill>
              <a:srgbClr val="C77C08"/>
            </a:solidFill>
          </p:spPr>
        </p:sp>
        <p:sp>
          <p:nvSpPr>
            <p:cNvPr name="TextBox 21" id="21"/>
            <p:cNvSpPr txBox="true"/>
            <p:nvPr/>
          </p:nvSpPr>
          <p:spPr>
            <a:xfrm>
              <a:off x="0" y="-47625"/>
              <a:ext cx="1798447" cy="733425"/>
            </a:xfrm>
            <a:prstGeom prst="rect">
              <a:avLst/>
            </a:prstGeom>
          </p:spPr>
          <p:txBody>
            <a:bodyPr anchor="t" rtlCol="false" tIns="196850" lIns="196850" bIns="196850" rIns="196850"/>
            <a:lstStyle/>
            <a:p>
              <a:pPr algn="l">
                <a:lnSpc>
                  <a:spcPts val="2100"/>
                </a:lnSpc>
              </a:pPr>
              <a:r>
                <a:rPr lang="en-US" b="true" sz="1500">
                  <a:solidFill>
                    <a:srgbClr val="061217"/>
                  </a:solidFill>
                  <a:latin typeface="Arial Bold"/>
                  <a:ea typeface="Arial Bold"/>
                  <a:cs typeface="Arial Bold"/>
                  <a:sym typeface="Arial Bold"/>
                </a:rPr>
                <a:t>VAL · 8</a:t>
              </a:r>
            </a:p>
          </p:txBody>
        </p:sp>
      </p:grpSp>
      <p:grpSp>
        <p:nvGrpSpPr>
          <p:cNvPr name="Group 22" id="22"/>
          <p:cNvGrpSpPr/>
          <p:nvPr/>
        </p:nvGrpSpPr>
        <p:grpSpPr>
          <a:xfrm rot="0">
            <a:off x="7696200" y="4043839"/>
            <a:ext cx="6743700" cy="514350"/>
            <a:chOff x="0" y="0"/>
            <a:chExt cx="8991600" cy="685800"/>
          </a:xfrm>
        </p:grpSpPr>
        <p:sp>
          <p:nvSpPr>
            <p:cNvPr name="Freeform 23" id="23"/>
            <p:cNvSpPr/>
            <p:nvPr/>
          </p:nvSpPr>
          <p:spPr>
            <a:xfrm flipH="false" flipV="false" rot="0">
              <a:off x="0" y="0"/>
              <a:ext cx="8991600" cy="685800"/>
            </a:xfrm>
            <a:custGeom>
              <a:avLst/>
              <a:gdLst/>
              <a:ahLst/>
              <a:cxnLst/>
              <a:rect r="r" b="b" t="t" l="l"/>
              <a:pathLst>
                <a:path h="685800" w="8991600">
                  <a:moveTo>
                    <a:pt x="88900" y="0"/>
                  </a:moveTo>
                  <a:lnTo>
                    <a:pt x="8902700" y="0"/>
                  </a:lnTo>
                  <a:cubicBezTo>
                    <a:pt x="8951849" y="0"/>
                    <a:pt x="8991600" y="39751"/>
                    <a:pt x="8991600" y="88900"/>
                  </a:cubicBezTo>
                  <a:lnTo>
                    <a:pt x="8991600" y="596900"/>
                  </a:lnTo>
                  <a:cubicBezTo>
                    <a:pt x="8991600" y="646049"/>
                    <a:pt x="8951849" y="685800"/>
                    <a:pt x="8902700" y="685800"/>
                  </a:cubicBezTo>
                  <a:lnTo>
                    <a:pt x="88900" y="685800"/>
                  </a:lnTo>
                  <a:cubicBezTo>
                    <a:pt x="39751" y="685800"/>
                    <a:pt x="0" y="646049"/>
                    <a:pt x="0" y="596900"/>
                  </a:cubicBezTo>
                  <a:lnTo>
                    <a:pt x="0" y="88900"/>
                  </a:lnTo>
                  <a:cubicBezTo>
                    <a:pt x="0" y="39751"/>
                    <a:pt x="39751" y="0"/>
                    <a:pt x="88900" y="0"/>
                  </a:cubicBezTo>
                  <a:close/>
                </a:path>
              </a:pathLst>
            </a:custGeom>
            <a:solidFill>
              <a:srgbClr val="7252BD"/>
            </a:solidFill>
          </p:spPr>
        </p:sp>
        <p:sp>
          <p:nvSpPr>
            <p:cNvPr name="TextBox 24" id="24"/>
            <p:cNvSpPr txBox="true"/>
            <p:nvPr/>
          </p:nvSpPr>
          <p:spPr>
            <a:xfrm>
              <a:off x="0" y="-47625"/>
              <a:ext cx="8991600" cy="733425"/>
            </a:xfrm>
            <a:prstGeom prst="rect">
              <a:avLst/>
            </a:prstGeom>
          </p:spPr>
          <p:txBody>
            <a:bodyPr anchor="t" rtlCol="false" tIns="196850" lIns="196850" bIns="196850" rIns="196850"/>
            <a:lstStyle/>
            <a:p>
              <a:pPr algn="l">
                <a:lnSpc>
                  <a:spcPts val="2100"/>
                </a:lnSpc>
              </a:pPr>
              <a:r>
                <a:rPr lang="en-US" b="true" sz="1500">
                  <a:solidFill>
                    <a:srgbClr val="061217"/>
                  </a:solidFill>
                  <a:latin typeface="Arial Bold"/>
                  <a:ea typeface="Arial Bold"/>
                  <a:cs typeface="Arial Bold"/>
                  <a:sym typeface="Arial Bold"/>
                </a:rPr>
                <a:t>TEST · 40 videos</a:t>
              </a:r>
            </a:p>
          </p:txBody>
        </p:sp>
      </p:grpSp>
      <p:sp>
        <p:nvSpPr>
          <p:cNvPr name="TextBox 25" id="25"/>
          <p:cNvSpPr txBox="true"/>
          <p:nvPr/>
        </p:nvSpPr>
        <p:spPr>
          <a:xfrm rot="0">
            <a:off x="800100" y="4739164"/>
            <a:ext cx="13639800" cy="341090"/>
          </a:xfrm>
          <a:prstGeom prst="rect">
            <a:avLst/>
          </a:prstGeom>
        </p:spPr>
        <p:txBody>
          <a:bodyPr anchor="t" rtlCol="false" tIns="0" lIns="0" bIns="0" rIns="0">
            <a:spAutoFit/>
          </a:bodyPr>
          <a:lstStyle/>
          <a:p>
            <a:pPr algn="l">
              <a:lnSpc>
                <a:spcPts val="2311"/>
              </a:lnSpc>
            </a:pPr>
            <a:r>
              <a:rPr lang="en-US" b="true" sz="1725">
                <a:solidFill>
                  <a:srgbClr val="102126"/>
                </a:solidFill>
                <a:latin typeface="Arial Bold"/>
                <a:ea typeface="Arial Bold"/>
                <a:cs typeface="Arial Bold"/>
                <a:sym typeface="Arial Bold"/>
              </a:rPr>
              <a:t>No frame-level split:</a:t>
            </a:r>
            <a:r>
              <a:rPr lang="en-US" sz="1725">
                <a:solidFill>
                  <a:srgbClr val="42585D"/>
                </a:solidFill>
                <a:latin typeface="Arial"/>
                <a:ea typeface="Arial"/>
                <a:cs typeface="Arial"/>
                <a:sym typeface="Arial"/>
              </a:rPr>
              <a:t> entire videos stay in one partition to prevent leakage.</a:t>
            </a:r>
          </a:p>
        </p:txBody>
      </p:sp>
      <p:sp>
        <p:nvSpPr>
          <p:cNvPr name="AutoShape 26" id="26"/>
          <p:cNvSpPr/>
          <p:nvPr/>
        </p:nvSpPr>
        <p:spPr>
          <a:xfrm rot="0">
            <a:off x="800100" y="8039100"/>
            <a:ext cx="13639800" cy="9525"/>
          </a:xfrm>
          <a:prstGeom prst="rect">
            <a:avLst/>
          </a:prstGeom>
          <a:solidFill>
            <a:srgbClr val="061217">
              <a:alpha val="14902"/>
            </a:srgbClr>
          </a:solidFill>
        </p:spPr>
      </p:sp>
      <p:sp>
        <p:nvSpPr>
          <p:cNvPr name="TextBox 27" id="27"/>
          <p:cNvSpPr txBox="true"/>
          <p:nvPr/>
        </p:nvSpPr>
        <p:spPr>
          <a:xfrm rot="0">
            <a:off x="800100" y="7791450"/>
            <a:ext cx="6216110"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Sections 2.2-2.4 · Cholec80 introduced by Twinanda et al. (EndoNet, 2017)</a:t>
            </a:r>
          </a:p>
        </p:txBody>
      </p:sp>
      <p:sp>
        <p:nvSpPr>
          <p:cNvPr name="TextBox 28" id="28"/>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29" id="29"/>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THE DATA CHALLENGE</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Real surgical duration creates an 11× class imbalance</a:t>
            </a:r>
          </a:p>
        </p:txBody>
      </p:sp>
      <p:sp>
        <p:nvSpPr>
          <p:cNvPr name="AutoShape 8" id="8"/>
          <p:cNvSpPr/>
          <p:nvPr/>
        </p:nvSpPr>
        <p:spPr>
          <a:xfrm rot="0">
            <a:off x="800100" y="1935099"/>
            <a:ext cx="7687723" cy="9525"/>
          </a:xfrm>
          <a:prstGeom prst="rect">
            <a:avLst/>
          </a:prstGeom>
          <a:solidFill>
            <a:srgbClr val="102126">
              <a:alpha val="9804"/>
            </a:srgbClr>
          </a:solidFill>
        </p:spPr>
      </p:sp>
      <p:sp>
        <p:nvSpPr>
          <p:cNvPr name="AutoShape 9" id="9"/>
          <p:cNvSpPr/>
          <p:nvPr/>
        </p:nvSpPr>
        <p:spPr>
          <a:xfrm rot="0">
            <a:off x="8478298" y="1944624"/>
            <a:ext cx="9525" cy="4457700"/>
          </a:xfrm>
          <a:prstGeom prst="rect">
            <a:avLst/>
          </a:prstGeom>
          <a:solidFill>
            <a:srgbClr val="102126">
              <a:alpha val="9804"/>
            </a:srgbClr>
          </a:solidFill>
        </p:spPr>
      </p:sp>
      <p:sp>
        <p:nvSpPr>
          <p:cNvPr name="AutoShape 10" id="10"/>
          <p:cNvSpPr/>
          <p:nvPr/>
        </p:nvSpPr>
        <p:spPr>
          <a:xfrm rot="0">
            <a:off x="800100" y="6402324"/>
            <a:ext cx="7687723" cy="9525"/>
          </a:xfrm>
          <a:prstGeom prst="rect">
            <a:avLst/>
          </a:prstGeom>
          <a:solidFill>
            <a:srgbClr val="102126">
              <a:alpha val="9804"/>
            </a:srgbClr>
          </a:solidFill>
        </p:spPr>
      </p:sp>
      <p:sp>
        <p:nvSpPr>
          <p:cNvPr name="AutoShape 11" id="11"/>
          <p:cNvSpPr/>
          <p:nvPr/>
        </p:nvSpPr>
        <p:spPr>
          <a:xfrm rot="0">
            <a:off x="800100" y="1944624"/>
            <a:ext cx="9525" cy="4457700"/>
          </a:xfrm>
          <a:prstGeom prst="rect">
            <a:avLst/>
          </a:prstGeom>
          <a:solidFill>
            <a:srgbClr val="102126">
              <a:alpha val="9804"/>
            </a:srgbClr>
          </a:solidFill>
        </p:spPr>
      </p:sp>
      <p:grpSp>
        <p:nvGrpSpPr>
          <p:cNvPr name="Group 12" id="12"/>
          <p:cNvGrpSpPr/>
          <p:nvPr/>
        </p:nvGrpSpPr>
        <p:grpSpPr>
          <a:xfrm rot="0">
            <a:off x="660904" y="2268474"/>
            <a:ext cx="8151539" cy="4559944"/>
            <a:chOff x="0" y="0"/>
            <a:chExt cx="9716897" cy="5435600"/>
          </a:xfrm>
        </p:grpSpPr>
        <p:sp>
          <p:nvSpPr>
            <p:cNvPr name="Freeform 13" id="13"/>
            <p:cNvSpPr/>
            <p:nvPr/>
          </p:nvSpPr>
          <p:spPr>
            <a:xfrm flipH="false" flipV="false" rot="0">
              <a:off x="0" y="0"/>
              <a:ext cx="9716897" cy="5435600"/>
            </a:xfrm>
            <a:custGeom>
              <a:avLst/>
              <a:gdLst/>
              <a:ahLst/>
              <a:cxnLst/>
              <a:rect r="r" b="b" t="t" l="l"/>
              <a:pathLst>
                <a:path h="5435600" w="9716897">
                  <a:moveTo>
                    <a:pt x="0" y="0"/>
                  </a:moveTo>
                  <a:lnTo>
                    <a:pt x="9716897" y="0"/>
                  </a:lnTo>
                  <a:lnTo>
                    <a:pt x="9716897" y="5435600"/>
                  </a:lnTo>
                  <a:lnTo>
                    <a:pt x="0" y="5435600"/>
                  </a:lnTo>
                  <a:lnTo>
                    <a:pt x="0" y="0"/>
                  </a:lnTo>
                  <a:close/>
                </a:path>
              </a:pathLst>
            </a:custGeom>
            <a:blipFill>
              <a:blip r:embed="rId5"/>
              <a:stretch>
                <a:fillRect l="3753" t="0" r="3753" b="0"/>
              </a:stretch>
            </a:blipFill>
          </p:spPr>
        </p:sp>
      </p:grpSp>
      <p:sp>
        <p:nvSpPr>
          <p:cNvPr name="AutoShape 14" id="14"/>
          <p:cNvSpPr/>
          <p:nvPr/>
        </p:nvSpPr>
        <p:spPr>
          <a:xfrm rot="0">
            <a:off x="9040368" y="2653284"/>
            <a:ext cx="38100" cy="1053751"/>
          </a:xfrm>
          <a:prstGeom prst="rect">
            <a:avLst/>
          </a:prstGeom>
          <a:solidFill>
            <a:srgbClr val="0B9185"/>
          </a:solidFill>
        </p:spPr>
      </p:sp>
      <p:sp>
        <p:nvSpPr>
          <p:cNvPr name="TextBox 15" id="15"/>
          <p:cNvSpPr txBox="true"/>
          <p:nvPr/>
        </p:nvSpPr>
        <p:spPr>
          <a:xfrm rot="0">
            <a:off x="9288018" y="2624709"/>
            <a:ext cx="5094732"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72%+</a:t>
            </a:r>
          </a:p>
        </p:txBody>
      </p:sp>
      <p:sp>
        <p:nvSpPr>
          <p:cNvPr name="TextBox 16" id="16"/>
          <p:cNvSpPr txBox="true"/>
          <p:nvPr/>
        </p:nvSpPr>
        <p:spPr>
          <a:xfrm rot="0">
            <a:off x="9288018" y="3043809"/>
            <a:ext cx="5094732" cy="634651"/>
          </a:xfrm>
          <a:prstGeom prst="rect">
            <a:avLst/>
          </a:prstGeom>
        </p:spPr>
        <p:txBody>
          <a:bodyPr anchor="t" rtlCol="false" tIns="0" lIns="0" bIns="0" rIns="0">
            <a:spAutoFit/>
          </a:bodyPr>
          <a:lstStyle/>
          <a:p>
            <a:pPr algn="l">
              <a:lnSpc>
                <a:spcPts val="2311"/>
              </a:lnSpc>
            </a:pPr>
            <a:r>
              <a:rPr lang="en-US" sz="1725">
                <a:solidFill>
                  <a:srgbClr val="42585D"/>
                </a:solidFill>
                <a:latin typeface="Arial"/>
                <a:ea typeface="Arial"/>
                <a:cs typeface="Arial"/>
                <a:sym typeface="Arial"/>
              </a:rPr>
              <a:t>of frames belong to the two dominant dissection phases.</a:t>
            </a:r>
          </a:p>
        </p:txBody>
      </p:sp>
      <p:sp>
        <p:nvSpPr>
          <p:cNvPr name="AutoShape 17" id="17"/>
          <p:cNvSpPr/>
          <p:nvPr/>
        </p:nvSpPr>
        <p:spPr>
          <a:xfrm rot="0">
            <a:off x="9040368" y="3935540"/>
            <a:ext cx="38100" cy="1053751"/>
          </a:xfrm>
          <a:prstGeom prst="rect">
            <a:avLst/>
          </a:prstGeom>
          <a:solidFill>
            <a:srgbClr val="C77C08"/>
          </a:solidFill>
        </p:spPr>
      </p:sp>
      <p:sp>
        <p:nvSpPr>
          <p:cNvPr name="TextBox 18" id="18"/>
          <p:cNvSpPr txBox="true"/>
          <p:nvPr/>
        </p:nvSpPr>
        <p:spPr>
          <a:xfrm rot="0">
            <a:off x="9288018" y="3906964"/>
            <a:ext cx="5094732"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3.6%</a:t>
            </a:r>
          </a:p>
        </p:txBody>
      </p:sp>
      <p:sp>
        <p:nvSpPr>
          <p:cNvPr name="TextBox 19" id="19"/>
          <p:cNvSpPr txBox="true"/>
          <p:nvPr/>
        </p:nvSpPr>
        <p:spPr>
          <a:xfrm rot="0">
            <a:off x="9288018" y="4326065"/>
            <a:ext cx="5094732" cy="634651"/>
          </a:xfrm>
          <a:prstGeom prst="rect">
            <a:avLst/>
          </a:prstGeom>
        </p:spPr>
        <p:txBody>
          <a:bodyPr anchor="t" rtlCol="false" tIns="0" lIns="0" bIns="0" rIns="0">
            <a:spAutoFit/>
          </a:bodyPr>
          <a:lstStyle/>
          <a:p>
            <a:pPr algn="l">
              <a:lnSpc>
                <a:spcPts val="2311"/>
              </a:lnSpc>
            </a:pPr>
            <a:r>
              <a:rPr lang="en-US" sz="1725">
                <a:solidFill>
                  <a:srgbClr val="42585D"/>
                </a:solidFill>
                <a:latin typeface="Arial"/>
                <a:ea typeface="Arial"/>
                <a:cs typeface="Arial"/>
                <a:sym typeface="Arial"/>
              </a:rPr>
              <a:t>of frames represent gallbladder retraction, the rarest class.</a:t>
            </a:r>
          </a:p>
        </p:txBody>
      </p:sp>
      <p:sp>
        <p:nvSpPr>
          <p:cNvPr name="AutoShape 20" id="20"/>
          <p:cNvSpPr/>
          <p:nvPr/>
        </p:nvSpPr>
        <p:spPr>
          <a:xfrm rot="0">
            <a:off x="9040368" y="5217890"/>
            <a:ext cx="38100" cy="1053751"/>
          </a:xfrm>
          <a:prstGeom prst="rect">
            <a:avLst/>
          </a:prstGeom>
          <a:solidFill>
            <a:srgbClr val="CF4660"/>
          </a:solidFill>
        </p:spPr>
      </p:sp>
      <p:sp>
        <p:nvSpPr>
          <p:cNvPr name="TextBox 21" id="21"/>
          <p:cNvSpPr txBox="true"/>
          <p:nvPr/>
        </p:nvSpPr>
        <p:spPr>
          <a:xfrm rot="0">
            <a:off x="9288018" y="5189315"/>
            <a:ext cx="5094732"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Verified</a:t>
            </a:r>
          </a:p>
        </p:txBody>
      </p:sp>
      <p:sp>
        <p:nvSpPr>
          <p:cNvPr name="TextBox 22" id="22"/>
          <p:cNvSpPr txBox="true"/>
          <p:nvPr/>
        </p:nvSpPr>
        <p:spPr>
          <a:xfrm rot="0">
            <a:off x="9288018" y="5608415"/>
            <a:ext cx="5094732" cy="634651"/>
          </a:xfrm>
          <a:prstGeom prst="rect">
            <a:avLst/>
          </a:prstGeom>
        </p:spPr>
        <p:txBody>
          <a:bodyPr anchor="t" rtlCol="false" tIns="0" lIns="0" bIns="0" rIns="0">
            <a:spAutoFit/>
          </a:bodyPr>
          <a:lstStyle/>
          <a:p>
            <a:pPr algn="l">
              <a:lnSpc>
                <a:spcPts val="2311"/>
              </a:lnSpc>
            </a:pPr>
            <a:r>
              <a:rPr lang="en-US" sz="1725">
                <a:solidFill>
                  <a:srgbClr val="42585D"/>
                </a:solidFill>
                <a:latin typeface="Arial"/>
                <a:ea typeface="Arial"/>
                <a:cs typeface="Arial"/>
                <a:sym typeface="Arial"/>
              </a:rPr>
              <a:t>missing opening or closing phases reflect partial recordings, not annotation failure.</a:t>
            </a:r>
          </a:p>
        </p:txBody>
      </p:sp>
      <p:sp>
        <p:nvSpPr>
          <p:cNvPr name="AutoShape 23" id="23"/>
          <p:cNvSpPr/>
          <p:nvPr/>
        </p:nvSpPr>
        <p:spPr>
          <a:xfrm rot="0">
            <a:off x="800100" y="8039100"/>
            <a:ext cx="13639800" cy="9525"/>
          </a:xfrm>
          <a:prstGeom prst="rect">
            <a:avLst/>
          </a:prstGeom>
          <a:solidFill>
            <a:srgbClr val="061217">
              <a:alpha val="14902"/>
            </a:srgbClr>
          </a:solidFill>
        </p:spPr>
      </p:sp>
      <p:sp>
        <p:nvSpPr>
          <p:cNvPr name="TextBox 24" id="24"/>
          <p:cNvSpPr txBox="true"/>
          <p:nvPr/>
        </p:nvSpPr>
        <p:spPr>
          <a:xfrm rot="0">
            <a:off x="800100" y="7791450"/>
            <a:ext cx="2184083"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Section 2.5</a:t>
            </a:r>
          </a:p>
        </p:txBody>
      </p:sp>
      <p:sp>
        <p:nvSpPr>
          <p:cNvPr name="TextBox 25" id="25"/>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26" id="26"/>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A CONTROLLED MODEL INTERFACE</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The temporal models share one input–output interface</a:t>
            </a:r>
          </a:p>
        </p:txBody>
      </p:sp>
      <p:sp>
        <p:nvSpPr>
          <p:cNvPr name="TextBox 8" id="8"/>
          <p:cNvSpPr txBox="true"/>
          <p:nvPr/>
        </p:nvSpPr>
        <p:spPr>
          <a:xfrm rot="0">
            <a:off x="800100" y="1877949"/>
            <a:ext cx="1583817"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Video at 1 FPS</a:t>
            </a:r>
          </a:p>
        </p:txBody>
      </p:sp>
      <p:sp>
        <p:nvSpPr>
          <p:cNvPr name="TextBox 9" id="9"/>
          <p:cNvSpPr txBox="true"/>
          <p:nvPr/>
        </p:nvSpPr>
        <p:spPr>
          <a:xfrm rot="0">
            <a:off x="2612517" y="1877949"/>
            <a:ext cx="228600" cy="323850"/>
          </a:xfrm>
          <a:prstGeom prst="rect">
            <a:avLst/>
          </a:prstGeom>
        </p:spPr>
        <p:txBody>
          <a:bodyPr anchor="t" rtlCol="false" tIns="0" lIns="0" bIns="0" rIns="0">
            <a:spAutoFit/>
          </a:bodyPr>
          <a:lstStyle/>
          <a:p>
            <a:pPr algn="l">
              <a:lnSpc>
                <a:spcPts val="2520"/>
              </a:lnSpc>
            </a:pPr>
            <a:r>
              <a:rPr lang="en-US" b="true" sz="1800">
                <a:solidFill>
                  <a:srgbClr val="789198"/>
                </a:solidFill>
                <a:latin typeface="Arial Bold"/>
                <a:ea typeface="Arial Bold"/>
                <a:cs typeface="Arial Bold"/>
                <a:sym typeface="Arial Bold"/>
              </a:rPr>
              <a:t>→</a:t>
            </a:r>
          </a:p>
        </p:txBody>
      </p:sp>
      <p:sp>
        <p:nvSpPr>
          <p:cNvPr name="TextBox 10" id="10"/>
          <p:cNvSpPr txBox="true"/>
          <p:nvPr/>
        </p:nvSpPr>
        <p:spPr>
          <a:xfrm rot="0">
            <a:off x="3069717" y="1877949"/>
            <a:ext cx="104213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ResNet50</a:t>
            </a:r>
          </a:p>
        </p:txBody>
      </p:sp>
      <p:sp>
        <p:nvSpPr>
          <p:cNvPr name="TextBox 11" id="11"/>
          <p:cNvSpPr txBox="true"/>
          <p:nvPr/>
        </p:nvSpPr>
        <p:spPr>
          <a:xfrm rot="0">
            <a:off x="4340447" y="1877949"/>
            <a:ext cx="228600" cy="323850"/>
          </a:xfrm>
          <a:prstGeom prst="rect">
            <a:avLst/>
          </a:prstGeom>
        </p:spPr>
        <p:txBody>
          <a:bodyPr anchor="t" rtlCol="false" tIns="0" lIns="0" bIns="0" rIns="0">
            <a:spAutoFit/>
          </a:bodyPr>
          <a:lstStyle/>
          <a:p>
            <a:pPr algn="l">
              <a:lnSpc>
                <a:spcPts val="2520"/>
              </a:lnSpc>
            </a:pPr>
            <a:r>
              <a:rPr lang="en-US" b="true" sz="1800">
                <a:solidFill>
                  <a:srgbClr val="789198"/>
                </a:solidFill>
                <a:latin typeface="Arial Bold"/>
                <a:ea typeface="Arial Bold"/>
                <a:cs typeface="Arial Bold"/>
                <a:sym typeface="Arial Bold"/>
              </a:rPr>
              <a:t>→</a:t>
            </a:r>
          </a:p>
        </p:txBody>
      </p:sp>
      <p:sp>
        <p:nvSpPr>
          <p:cNvPr name="TextBox 12" id="12"/>
          <p:cNvSpPr txBox="true"/>
          <p:nvPr/>
        </p:nvSpPr>
        <p:spPr>
          <a:xfrm rot="0">
            <a:off x="4797647" y="1877949"/>
            <a:ext cx="1861661" cy="323850"/>
          </a:xfrm>
          <a:prstGeom prst="rect">
            <a:avLst/>
          </a:prstGeom>
        </p:spPr>
        <p:txBody>
          <a:bodyPr anchor="t" rtlCol="false" tIns="0" lIns="0" bIns="0" rIns="0">
            <a:spAutoFit/>
          </a:bodyPr>
          <a:lstStyle/>
          <a:p>
            <a:pPr algn="l">
              <a:lnSpc>
                <a:spcPts val="2520"/>
              </a:lnSpc>
            </a:pPr>
            <a:r>
              <a:rPr lang="en-US" b="true" sz="1800">
                <a:solidFill>
                  <a:srgbClr val="0B9185"/>
                </a:solidFill>
                <a:latin typeface="Arial Bold"/>
                <a:ea typeface="Arial Bold"/>
                <a:cs typeface="Arial Bold"/>
                <a:sym typeface="Arial Bold"/>
              </a:rPr>
              <a:t>T × 2048 features</a:t>
            </a:r>
          </a:p>
        </p:txBody>
      </p:sp>
      <p:sp>
        <p:nvSpPr>
          <p:cNvPr name="TextBox 13" id="13"/>
          <p:cNvSpPr txBox="true"/>
          <p:nvPr/>
        </p:nvSpPr>
        <p:spPr>
          <a:xfrm rot="0">
            <a:off x="6887908" y="1877949"/>
            <a:ext cx="228600" cy="323850"/>
          </a:xfrm>
          <a:prstGeom prst="rect">
            <a:avLst/>
          </a:prstGeom>
        </p:spPr>
        <p:txBody>
          <a:bodyPr anchor="t" rtlCol="false" tIns="0" lIns="0" bIns="0" rIns="0">
            <a:spAutoFit/>
          </a:bodyPr>
          <a:lstStyle/>
          <a:p>
            <a:pPr algn="l">
              <a:lnSpc>
                <a:spcPts val="2520"/>
              </a:lnSpc>
            </a:pPr>
            <a:r>
              <a:rPr lang="en-US" b="true" sz="1800">
                <a:solidFill>
                  <a:srgbClr val="789198"/>
                </a:solidFill>
                <a:latin typeface="Arial Bold"/>
                <a:ea typeface="Arial Bold"/>
                <a:cs typeface="Arial Bold"/>
                <a:sym typeface="Arial Bold"/>
              </a:rPr>
              <a:t>→</a:t>
            </a:r>
          </a:p>
        </p:txBody>
      </p:sp>
      <p:sp>
        <p:nvSpPr>
          <p:cNvPr name="TextBox 14" id="14"/>
          <p:cNvSpPr txBox="true"/>
          <p:nvPr/>
        </p:nvSpPr>
        <p:spPr>
          <a:xfrm rot="0">
            <a:off x="7345108" y="1877949"/>
            <a:ext cx="1748695"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Temporal model</a:t>
            </a:r>
          </a:p>
        </p:txBody>
      </p:sp>
      <p:sp>
        <p:nvSpPr>
          <p:cNvPr name="TextBox 15" id="15"/>
          <p:cNvSpPr txBox="true"/>
          <p:nvPr/>
        </p:nvSpPr>
        <p:spPr>
          <a:xfrm rot="0">
            <a:off x="9322403" y="1877949"/>
            <a:ext cx="228600" cy="323850"/>
          </a:xfrm>
          <a:prstGeom prst="rect">
            <a:avLst/>
          </a:prstGeom>
        </p:spPr>
        <p:txBody>
          <a:bodyPr anchor="t" rtlCol="false" tIns="0" lIns="0" bIns="0" rIns="0">
            <a:spAutoFit/>
          </a:bodyPr>
          <a:lstStyle/>
          <a:p>
            <a:pPr algn="l">
              <a:lnSpc>
                <a:spcPts val="2520"/>
              </a:lnSpc>
            </a:pPr>
            <a:r>
              <a:rPr lang="en-US" b="true" sz="1800">
                <a:solidFill>
                  <a:srgbClr val="789198"/>
                </a:solidFill>
                <a:latin typeface="Arial Bold"/>
                <a:ea typeface="Arial Bold"/>
                <a:cs typeface="Arial Bold"/>
                <a:sym typeface="Arial Bold"/>
              </a:rPr>
              <a:t>→</a:t>
            </a:r>
          </a:p>
        </p:txBody>
      </p:sp>
      <p:sp>
        <p:nvSpPr>
          <p:cNvPr name="TextBox 16" id="16"/>
          <p:cNvSpPr txBox="true"/>
          <p:nvPr/>
        </p:nvSpPr>
        <p:spPr>
          <a:xfrm rot="0">
            <a:off x="9779603" y="1877949"/>
            <a:ext cx="1200436" cy="323850"/>
          </a:xfrm>
          <a:prstGeom prst="rect">
            <a:avLst/>
          </a:prstGeom>
        </p:spPr>
        <p:txBody>
          <a:bodyPr anchor="t" rtlCol="false" tIns="0" lIns="0" bIns="0" rIns="0">
            <a:spAutoFit/>
          </a:bodyPr>
          <a:lstStyle/>
          <a:p>
            <a:pPr algn="l">
              <a:lnSpc>
                <a:spcPts val="2520"/>
              </a:lnSpc>
            </a:pPr>
            <a:r>
              <a:rPr lang="en-US" b="true" sz="1800">
                <a:solidFill>
                  <a:srgbClr val="C77C08"/>
                </a:solidFill>
                <a:latin typeface="Arial Bold"/>
                <a:ea typeface="Arial Bold"/>
                <a:cs typeface="Arial Bold"/>
                <a:sym typeface="Arial Bold"/>
              </a:rPr>
              <a:t>T × 7 logits</a:t>
            </a:r>
          </a:p>
        </p:txBody>
      </p:sp>
      <p:sp>
        <p:nvSpPr>
          <p:cNvPr name="AutoShape 17" id="17"/>
          <p:cNvSpPr/>
          <p:nvPr/>
        </p:nvSpPr>
        <p:spPr>
          <a:xfrm rot="0">
            <a:off x="800100" y="2849499"/>
            <a:ext cx="47625" cy="581025"/>
          </a:xfrm>
          <a:prstGeom prst="rect">
            <a:avLst/>
          </a:prstGeom>
          <a:solidFill>
            <a:srgbClr val="0B9185"/>
          </a:solidFill>
        </p:spPr>
      </p:sp>
      <p:sp>
        <p:nvSpPr>
          <p:cNvPr name="TextBox 18" id="18"/>
          <p:cNvSpPr txBox="true"/>
          <p:nvPr/>
        </p:nvSpPr>
        <p:spPr>
          <a:xfrm rot="0">
            <a:off x="1019175" y="2801874"/>
            <a:ext cx="7468648" cy="352425"/>
          </a:xfrm>
          <a:prstGeom prst="rect">
            <a:avLst/>
          </a:prstGeom>
        </p:spPr>
        <p:txBody>
          <a:bodyPr anchor="t" rtlCol="false" tIns="0" lIns="0" bIns="0" rIns="0">
            <a:spAutoFit/>
          </a:bodyPr>
          <a:lstStyle/>
          <a:p>
            <a:pPr algn="l">
              <a:lnSpc>
                <a:spcPts val="2940"/>
              </a:lnSpc>
            </a:pPr>
            <a:r>
              <a:rPr lang="en-US" b="true" sz="2100">
                <a:solidFill>
                  <a:srgbClr val="102126"/>
                </a:solidFill>
                <a:latin typeface="Arial Bold"/>
                <a:ea typeface="Arial Bold"/>
                <a:cs typeface="Arial Bold"/>
                <a:sym typeface="Arial Bold"/>
              </a:rPr>
              <a:t>teammates</a:t>
            </a:r>
          </a:p>
        </p:txBody>
      </p:sp>
      <p:sp>
        <p:nvSpPr>
          <p:cNvPr name="TextBox 19" id="19"/>
          <p:cNvSpPr txBox="true"/>
          <p:nvPr/>
        </p:nvSpPr>
        <p:spPr>
          <a:xfrm rot="0">
            <a:off x="1019175" y="3154299"/>
            <a:ext cx="7468648" cy="276225"/>
          </a:xfrm>
          <a:prstGeom prst="rect">
            <a:avLst/>
          </a:prstGeom>
        </p:spPr>
        <p:txBody>
          <a:bodyPr anchor="t" rtlCol="false" tIns="0" lIns="0" bIns="0" rIns="0">
            <a:spAutoFit/>
          </a:bodyPr>
          <a:lstStyle/>
          <a:p>
            <a:pPr algn="l">
              <a:lnSpc>
                <a:spcPts val="1950"/>
              </a:lnSpc>
            </a:pPr>
            <a:r>
              <a:rPr lang="en-US" sz="1500">
                <a:solidFill>
                  <a:srgbClr val="53696E"/>
                </a:solidFill>
                <a:latin typeface="Arial"/>
                <a:ea typeface="Arial"/>
                <a:cs typeface="Arial"/>
                <a:sym typeface="Arial"/>
              </a:rPr>
              <a:t>Frozen ImageNet ResNet50 · frames cached as JPEG</a:t>
            </a:r>
          </a:p>
        </p:txBody>
      </p:sp>
      <p:sp>
        <p:nvSpPr>
          <p:cNvPr name="AutoShape 20" id="20"/>
          <p:cNvSpPr/>
          <p:nvPr/>
        </p:nvSpPr>
        <p:spPr>
          <a:xfrm rot="0">
            <a:off x="800100" y="3640074"/>
            <a:ext cx="47625" cy="581025"/>
          </a:xfrm>
          <a:prstGeom prst="rect">
            <a:avLst/>
          </a:prstGeom>
          <a:solidFill>
            <a:srgbClr val="147F98"/>
          </a:solidFill>
        </p:spPr>
      </p:sp>
      <p:sp>
        <p:nvSpPr>
          <p:cNvPr name="TextBox 21" id="21"/>
          <p:cNvSpPr txBox="true"/>
          <p:nvPr/>
        </p:nvSpPr>
        <p:spPr>
          <a:xfrm rot="0">
            <a:off x="1019175" y="3592449"/>
            <a:ext cx="7468648" cy="352425"/>
          </a:xfrm>
          <a:prstGeom prst="rect">
            <a:avLst/>
          </a:prstGeom>
        </p:spPr>
        <p:txBody>
          <a:bodyPr anchor="t" rtlCol="false" tIns="0" lIns="0" bIns="0" rIns="0">
            <a:spAutoFit/>
          </a:bodyPr>
          <a:lstStyle/>
          <a:p>
            <a:pPr algn="l">
              <a:lnSpc>
                <a:spcPts val="2940"/>
              </a:lnSpc>
            </a:pPr>
            <a:r>
              <a:rPr lang="en-US" b="true" sz="2100">
                <a:solidFill>
                  <a:srgbClr val="102126"/>
                </a:solidFill>
                <a:latin typeface="Arial Bold"/>
                <a:ea typeface="Arial Bold"/>
                <a:cs typeface="Arial Bold"/>
                <a:sym typeface="Arial Bold"/>
              </a:rPr>
              <a:t>original</a:t>
            </a:r>
          </a:p>
        </p:txBody>
      </p:sp>
      <p:sp>
        <p:nvSpPr>
          <p:cNvPr name="TextBox 22" id="22"/>
          <p:cNvSpPr txBox="true"/>
          <p:nvPr/>
        </p:nvSpPr>
        <p:spPr>
          <a:xfrm rot="0">
            <a:off x="1019175" y="3944874"/>
            <a:ext cx="7468648" cy="276225"/>
          </a:xfrm>
          <a:prstGeom prst="rect">
            <a:avLst/>
          </a:prstGeom>
        </p:spPr>
        <p:txBody>
          <a:bodyPr anchor="t" rtlCol="false" tIns="0" lIns="0" bIns="0" rIns="0">
            <a:spAutoFit/>
          </a:bodyPr>
          <a:lstStyle/>
          <a:p>
            <a:pPr algn="l">
              <a:lnSpc>
                <a:spcPts val="1950"/>
              </a:lnSpc>
            </a:pPr>
            <a:r>
              <a:rPr lang="en-US" sz="1500">
                <a:solidFill>
                  <a:srgbClr val="53696E"/>
                </a:solidFill>
                <a:latin typeface="Arial"/>
                <a:ea typeface="Arial"/>
                <a:cs typeface="Arial"/>
                <a:sym typeface="Arial"/>
              </a:rPr>
              <a:t>Frozen ImageNet ResNet50 · direct video decoding</a:t>
            </a:r>
          </a:p>
        </p:txBody>
      </p:sp>
      <p:sp>
        <p:nvSpPr>
          <p:cNvPr name="AutoShape 23" id="23"/>
          <p:cNvSpPr/>
          <p:nvPr/>
        </p:nvSpPr>
        <p:spPr>
          <a:xfrm rot="0">
            <a:off x="800100" y="4430649"/>
            <a:ext cx="47625" cy="581025"/>
          </a:xfrm>
          <a:prstGeom prst="rect">
            <a:avLst/>
          </a:prstGeom>
          <a:solidFill>
            <a:srgbClr val="C77C08"/>
          </a:solidFill>
        </p:spPr>
      </p:sp>
      <p:sp>
        <p:nvSpPr>
          <p:cNvPr name="TextBox 24" id="24"/>
          <p:cNvSpPr txBox="true"/>
          <p:nvPr/>
        </p:nvSpPr>
        <p:spPr>
          <a:xfrm rot="0">
            <a:off x="1019175" y="4383024"/>
            <a:ext cx="7468648" cy="352425"/>
          </a:xfrm>
          <a:prstGeom prst="rect">
            <a:avLst/>
          </a:prstGeom>
        </p:spPr>
        <p:txBody>
          <a:bodyPr anchor="t" rtlCol="false" tIns="0" lIns="0" bIns="0" rIns="0">
            <a:spAutoFit/>
          </a:bodyPr>
          <a:lstStyle/>
          <a:p>
            <a:pPr algn="l">
              <a:lnSpc>
                <a:spcPts val="2940"/>
              </a:lnSpc>
            </a:pPr>
            <a:r>
              <a:rPr lang="en-US" b="true" sz="2100">
                <a:solidFill>
                  <a:srgbClr val="102126"/>
                </a:solidFill>
                <a:latin typeface="Arial Bold"/>
                <a:ea typeface="Arial Bold"/>
                <a:cs typeface="Arial Bold"/>
                <a:sym typeface="Arial Bold"/>
              </a:rPr>
              <a:t>finetuned</a:t>
            </a:r>
          </a:p>
        </p:txBody>
      </p:sp>
      <p:sp>
        <p:nvSpPr>
          <p:cNvPr name="TextBox 25" id="25"/>
          <p:cNvSpPr txBox="true"/>
          <p:nvPr/>
        </p:nvSpPr>
        <p:spPr>
          <a:xfrm rot="0">
            <a:off x="1019175" y="4735449"/>
            <a:ext cx="7468648" cy="276225"/>
          </a:xfrm>
          <a:prstGeom prst="rect">
            <a:avLst/>
          </a:prstGeom>
        </p:spPr>
        <p:txBody>
          <a:bodyPr anchor="t" rtlCol="false" tIns="0" lIns="0" bIns="0" rIns="0">
            <a:spAutoFit/>
          </a:bodyPr>
          <a:lstStyle/>
          <a:p>
            <a:pPr algn="l">
              <a:lnSpc>
                <a:spcPts val="1950"/>
              </a:lnSpc>
            </a:pPr>
            <a:r>
              <a:rPr lang="en-US" sz="1500">
                <a:solidFill>
                  <a:srgbClr val="53696E"/>
                </a:solidFill>
                <a:latin typeface="Arial"/>
                <a:ea typeface="Arial"/>
                <a:cs typeface="Arial"/>
                <a:sym typeface="Arial"/>
              </a:rPr>
              <a:t>Layer 3 + layer 4 adapted to the laparoscopic domain</a:t>
            </a:r>
          </a:p>
        </p:txBody>
      </p:sp>
      <p:grpSp>
        <p:nvGrpSpPr>
          <p:cNvPr name="Group 26" id="26"/>
          <p:cNvGrpSpPr/>
          <p:nvPr/>
        </p:nvGrpSpPr>
        <p:grpSpPr>
          <a:xfrm rot="0">
            <a:off x="800100" y="5278374"/>
            <a:ext cx="4476750" cy="2047875"/>
            <a:chOff x="0" y="0"/>
            <a:chExt cx="5969000" cy="2730500"/>
          </a:xfrm>
        </p:grpSpPr>
        <p:sp>
          <p:nvSpPr>
            <p:cNvPr name="Freeform 27" id="27"/>
            <p:cNvSpPr/>
            <p:nvPr/>
          </p:nvSpPr>
          <p:spPr>
            <a:xfrm flipH="false" flipV="false" rot="0">
              <a:off x="0" y="0"/>
              <a:ext cx="5969000" cy="2730500"/>
            </a:xfrm>
            <a:custGeom>
              <a:avLst/>
              <a:gdLst/>
              <a:ahLst/>
              <a:cxnLst/>
              <a:rect r="r" b="b" t="t" l="l"/>
              <a:pathLst>
                <a:path h="2730500" w="5969000">
                  <a:moveTo>
                    <a:pt x="203200" y="0"/>
                  </a:moveTo>
                  <a:lnTo>
                    <a:pt x="5765800" y="0"/>
                  </a:lnTo>
                  <a:cubicBezTo>
                    <a:pt x="5878068" y="0"/>
                    <a:pt x="5969000" y="90932"/>
                    <a:pt x="5969000" y="203200"/>
                  </a:cubicBezTo>
                  <a:lnTo>
                    <a:pt x="5969000" y="2527300"/>
                  </a:lnTo>
                  <a:cubicBezTo>
                    <a:pt x="5969000" y="2639568"/>
                    <a:pt x="5878068" y="2730500"/>
                    <a:pt x="5765800" y="2730500"/>
                  </a:cubicBezTo>
                  <a:lnTo>
                    <a:pt x="203200" y="2730500"/>
                  </a:lnTo>
                  <a:cubicBezTo>
                    <a:pt x="90932" y="2730500"/>
                    <a:pt x="0" y="2639568"/>
                    <a:pt x="0" y="2527300"/>
                  </a:cubicBezTo>
                  <a:lnTo>
                    <a:pt x="0" y="203200"/>
                  </a:lnTo>
                  <a:cubicBezTo>
                    <a:pt x="0" y="90932"/>
                    <a:pt x="90932" y="0"/>
                    <a:pt x="203200" y="0"/>
                  </a:cubicBezTo>
                  <a:close/>
                </a:path>
              </a:pathLst>
            </a:custGeom>
            <a:solidFill>
              <a:srgbClr val="FFFFFF"/>
            </a:solidFill>
          </p:spPr>
        </p:sp>
      </p:grpSp>
      <p:sp>
        <p:nvSpPr>
          <p:cNvPr name="AutoShape 28" id="28"/>
          <p:cNvSpPr/>
          <p:nvPr/>
        </p:nvSpPr>
        <p:spPr>
          <a:xfrm rot="0">
            <a:off x="800100" y="5278374"/>
            <a:ext cx="4476750" cy="9525"/>
          </a:xfrm>
          <a:prstGeom prst="rect">
            <a:avLst/>
          </a:prstGeom>
          <a:solidFill>
            <a:srgbClr val="102126">
              <a:alpha val="9804"/>
            </a:srgbClr>
          </a:solidFill>
        </p:spPr>
      </p:sp>
      <p:sp>
        <p:nvSpPr>
          <p:cNvPr name="AutoShape 29" id="29"/>
          <p:cNvSpPr/>
          <p:nvPr/>
        </p:nvSpPr>
        <p:spPr>
          <a:xfrm rot="0">
            <a:off x="5267325" y="5287899"/>
            <a:ext cx="9525" cy="2028825"/>
          </a:xfrm>
          <a:prstGeom prst="rect">
            <a:avLst/>
          </a:prstGeom>
          <a:solidFill>
            <a:srgbClr val="102126">
              <a:alpha val="9804"/>
            </a:srgbClr>
          </a:solidFill>
        </p:spPr>
      </p:sp>
      <p:sp>
        <p:nvSpPr>
          <p:cNvPr name="AutoShape 30" id="30"/>
          <p:cNvSpPr/>
          <p:nvPr/>
        </p:nvSpPr>
        <p:spPr>
          <a:xfrm rot="0">
            <a:off x="800100" y="7316724"/>
            <a:ext cx="4476750" cy="9525"/>
          </a:xfrm>
          <a:prstGeom prst="rect">
            <a:avLst/>
          </a:prstGeom>
          <a:solidFill>
            <a:srgbClr val="102126">
              <a:alpha val="9804"/>
            </a:srgbClr>
          </a:solidFill>
        </p:spPr>
      </p:sp>
      <p:sp>
        <p:nvSpPr>
          <p:cNvPr name="AutoShape 31" id="31"/>
          <p:cNvSpPr/>
          <p:nvPr/>
        </p:nvSpPr>
        <p:spPr>
          <a:xfrm rot="0">
            <a:off x="800100" y="5287899"/>
            <a:ext cx="9525" cy="2028825"/>
          </a:xfrm>
          <a:prstGeom prst="rect">
            <a:avLst/>
          </a:prstGeom>
          <a:solidFill>
            <a:srgbClr val="102126">
              <a:alpha val="9804"/>
            </a:srgbClr>
          </a:solidFill>
        </p:spPr>
      </p:sp>
      <p:grpSp>
        <p:nvGrpSpPr>
          <p:cNvPr name="Group 32" id="32"/>
          <p:cNvGrpSpPr/>
          <p:nvPr/>
        </p:nvGrpSpPr>
        <p:grpSpPr>
          <a:xfrm rot="0">
            <a:off x="1000125" y="5478399"/>
            <a:ext cx="4076700" cy="1647825"/>
            <a:chOff x="0" y="0"/>
            <a:chExt cx="5435600" cy="2197100"/>
          </a:xfrm>
        </p:grpSpPr>
        <p:sp>
          <p:nvSpPr>
            <p:cNvPr name="Freeform 33" id="33"/>
            <p:cNvSpPr/>
            <p:nvPr/>
          </p:nvSpPr>
          <p:spPr>
            <a:xfrm flipH="false" flipV="false" rot="0">
              <a:off x="0" y="0"/>
              <a:ext cx="5435600" cy="2197100"/>
            </a:xfrm>
            <a:custGeom>
              <a:avLst/>
              <a:gdLst/>
              <a:ahLst/>
              <a:cxnLst/>
              <a:rect r="r" b="b" t="t" l="l"/>
              <a:pathLst>
                <a:path h="2197100" w="5435600">
                  <a:moveTo>
                    <a:pt x="0" y="0"/>
                  </a:moveTo>
                  <a:lnTo>
                    <a:pt x="5435600" y="0"/>
                  </a:lnTo>
                  <a:lnTo>
                    <a:pt x="5435600" y="2197100"/>
                  </a:lnTo>
                  <a:lnTo>
                    <a:pt x="0" y="2197100"/>
                  </a:lnTo>
                  <a:lnTo>
                    <a:pt x="0" y="0"/>
                  </a:lnTo>
                  <a:close/>
                </a:path>
              </a:pathLst>
            </a:custGeom>
            <a:blipFill>
              <a:blip r:embed="rId5"/>
              <a:stretch>
                <a:fillRect l="11857" t="0" r="11858" b="0"/>
              </a:stretch>
            </a:blipFill>
          </p:spPr>
        </p:sp>
      </p:grpSp>
      <p:grpSp>
        <p:nvGrpSpPr>
          <p:cNvPr name="Group 34" id="34"/>
          <p:cNvGrpSpPr/>
          <p:nvPr/>
        </p:nvGrpSpPr>
        <p:grpSpPr>
          <a:xfrm rot="0">
            <a:off x="9097423" y="2373249"/>
            <a:ext cx="5342382" cy="4286250"/>
            <a:chOff x="0" y="0"/>
            <a:chExt cx="7123176" cy="5715000"/>
          </a:xfrm>
        </p:grpSpPr>
        <p:sp>
          <p:nvSpPr>
            <p:cNvPr name="Freeform 35" id="35"/>
            <p:cNvSpPr/>
            <p:nvPr/>
          </p:nvSpPr>
          <p:spPr>
            <a:xfrm flipH="false" flipV="false" rot="0">
              <a:off x="0" y="0"/>
              <a:ext cx="7123176" cy="5715000"/>
            </a:xfrm>
            <a:custGeom>
              <a:avLst/>
              <a:gdLst/>
              <a:ahLst/>
              <a:cxnLst/>
              <a:rect r="r" b="b" t="t" l="l"/>
              <a:pathLst>
                <a:path h="5715000" w="7123176">
                  <a:moveTo>
                    <a:pt x="203200" y="0"/>
                  </a:moveTo>
                  <a:lnTo>
                    <a:pt x="6919976" y="0"/>
                  </a:lnTo>
                  <a:cubicBezTo>
                    <a:pt x="7032244" y="0"/>
                    <a:pt x="7123176" y="90932"/>
                    <a:pt x="7123176" y="203200"/>
                  </a:cubicBezTo>
                  <a:lnTo>
                    <a:pt x="7123176" y="5511800"/>
                  </a:lnTo>
                  <a:cubicBezTo>
                    <a:pt x="7123176" y="5624068"/>
                    <a:pt x="7032244" y="5715000"/>
                    <a:pt x="6919976" y="5715000"/>
                  </a:cubicBezTo>
                  <a:lnTo>
                    <a:pt x="203200" y="5715000"/>
                  </a:lnTo>
                  <a:cubicBezTo>
                    <a:pt x="90932" y="5715000"/>
                    <a:pt x="0" y="5624068"/>
                    <a:pt x="0" y="5511800"/>
                  </a:cubicBezTo>
                  <a:lnTo>
                    <a:pt x="0" y="203200"/>
                  </a:lnTo>
                  <a:cubicBezTo>
                    <a:pt x="0" y="90932"/>
                    <a:pt x="90932" y="0"/>
                    <a:pt x="203200" y="0"/>
                  </a:cubicBezTo>
                  <a:close/>
                </a:path>
              </a:pathLst>
            </a:custGeom>
            <a:solidFill>
              <a:srgbClr val="FFFFFF"/>
            </a:solidFill>
          </p:spPr>
        </p:sp>
      </p:grpSp>
      <p:sp>
        <p:nvSpPr>
          <p:cNvPr name="AutoShape 36" id="36"/>
          <p:cNvSpPr/>
          <p:nvPr/>
        </p:nvSpPr>
        <p:spPr>
          <a:xfrm rot="0">
            <a:off x="9097423" y="2373249"/>
            <a:ext cx="5342382" cy="9525"/>
          </a:xfrm>
          <a:prstGeom prst="rect">
            <a:avLst/>
          </a:prstGeom>
          <a:solidFill>
            <a:srgbClr val="102126">
              <a:alpha val="9804"/>
            </a:srgbClr>
          </a:solidFill>
        </p:spPr>
      </p:sp>
      <p:sp>
        <p:nvSpPr>
          <p:cNvPr name="AutoShape 37" id="37"/>
          <p:cNvSpPr/>
          <p:nvPr/>
        </p:nvSpPr>
        <p:spPr>
          <a:xfrm rot="0">
            <a:off x="14430280" y="2382774"/>
            <a:ext cx="9525" cy="4267200"/>
          </a:xfrm>
          <a:prstGeom prst="rect">
            <a:avLst/>
          </a:prstGeom>
          <a:solidFill>
            <a:srgbClr val="102126">
              <a:alpha val="9804"/>
            </a:srgbClr>
          </a:solidFill>
        </p:spPr>
      </p:sp>
      <p:sp>
        <p:nvSpPr>
          <p:cNvPr name="AutoShape 38" id="38"/>
          <p:cNvSpPr/>
          <p:nvPr/>
        </p:nvSpPr>
        <p:spPr>
          <a:xfrm rot="0">
            <a:off x="9097423" y="6649974"/>
            <a:ext cx="5342382" cy="9525"/>
          </a:xfrm>
          <a:prstGeom prst="rect">
            <a:avLst/>
          </a:prstGeom>
          <a:solidFill>
            <a:srgbClr val="102126">
              <a:alpha val="9804"/>
            </a:srgbClr>
          </a:solidFill>
        </p:spPr>
      </p:sp>
      <p:sp>
        <p:nvSpPr>
          <p:cNvPr name="AutoShape 39" id="39"/>
          <p:cNvSpPr/>
          <p:nvPr/>
        </p:nvSpPr>
        <p:spPr>
          <a:xfrm rot="0">
            <a:off x="9097423" y="2382774"/>
            <a:ext cx="9525" cy="4267200"/>
          </a:xfrm>
          <a:prstGeom prst="rect">
            <a:avLst/>
          </a:prstGeom>
          <a:solidFill>
            <a:srgbClr val="102126">
              <a:alpha val="9804"/>
            </a:srgbClr>
          </a:solidFill>
        </p:spPr>
      </p:sp>
      <p:grpSp>
        <p:nvGrpSpPr>
          <p:cNvPr name="Group 40" id="40"/>
          <p:cNvGrpSpPr/>
          <p:nvPr/>
        </p:nvGrpSpPr>
        <p:grpSpPr>
          <a:xfrm rot="0">
            <a:off x="9297448" y="2573274"/>
            <a:ext cx="4942332" cy="3886200"/>
            <a:chOff x="0" y="0"/>
            <a:chExt cx="6589776" cy="5181600"/>
          </a:xfrm>
        </p:grpSpPr>
        <p:sp>
          <p:nvSpPr>
            <p:cNvPr name="Freeform 41" id="41"/>
            <p:cNvSpPr/>
            <p:nvPr/>
          </p:nvSpPr>
          <p:spPr>
            <a:xfrm flipH="false" flipV="false" rot="0">
              <a:off x="0" y="0"/>
              <a:ext cx="6589776" cy="5181600"/>
            </a:xfrm>
            <a:custGeom>
              <a:avLst/>
              <a:gdLst/>
              <a:ahLst/>
              <a:cxnLst/>
              <a:rect r="r" b="b" t="t" l="l"/>
              <a:pathLst>
                <a:path h="5181600" w="6589776">
                  <a:moveTo>
                    <a:pt x="0" y="0"/>
                  </a:moveTo>
                  <a:lnTo>
                    <a:pt x="6589776" y="0"/>
                  </a:lnTo>
                  <a:lnTo>
                    <a:pt x="6589776" y="5181600"/>
                  </a:lnTo>
                  <a:lnTo>
                    <a:pt x="0" y="5181600"/>
                  </a:lnTo>
                  <a:lnTo>
                    <a:pt x="0" y="0"/>
                  </a:lnTo>
                  <a:close/>
                </a:path>
              </a:pathLst>
            </a:custGeom>
            <a:blipFill>
              <a:blip r:embed="rId6"/>
              <a:stretch>
                <a:fillRect l="0" t="14144" r="0" b="14144"/>
              </a:stretch>
            </a:blipFill>
          </p:spPr>
        </p:sp>
      </p:grpSp>
      <p:sp>
        <p:nvSpPr>
          <p:cNvPr name="TextBox 42" id="42"/>
          <p:cNvSpPr txBox="true"/>
          <p:nvPr/>
        </p:nvSpPr>
        <p:spPr>
          <a:xfrm rot="0">
            <a:off x="9097423" y="6792849"/>
            <a:ext cx="5342382" cy="552450"/>
          </a:xfrm>
          <a:prstGeom prst="rect">
            <a:avLst/>
          </a:prstGeom>
        </p:spPr>
        <p:txBody>
          <a:bodyPr anchor="t" rtlCol="false" tIns="0" lIns="0" bIns="0" rIns="0">
            <a:spAutoFit/>
          </a:bodyPr>
          <a:lstStyle/>
          <a:p>
            <a:pPr algn="l">
              <a:lnSpc>
                <a:spcPts val="2025"/>
              </a:lnSpc>
            </a:pPr>
            <a:r>
              <a:rPr lang="en-US" b="true" sz="1500">
                <a:solidFill>
                  <a:srgbClr val="102126"/>
                </a:solidFill>
                <a:latin typeface="Arial Bold"/>
                <a:ea typeface="Arial Bold"/>
                <a:cs typeface="Arial Bold"/>
                <a:sym typeface="Arial Bold"/>
              </a:rPr>
              <a:t>Controlled comparison:</a:t>
            </a:r>
            <a:r>
              <a:rPr lang="en-US" sz="1500">
                <a:solidFill>
                  <a:srgbClr val="42585D"/>
                </a:solidFill>
                <a:latin typeface="Arial"/>
                <a:ea typeface="Arial"/>
                <a:cs typeface="Arial"/>
                <a:sym typeface="Arial"/>
              </a:rPr>
              <a:t> features change the spatial representation; architectures change temporal reasoning.</a:t>
            </a:r>
          </a:p>
        </p:txBody>
      </p:sp>
      <p:sp>
        <p:nvSpPr>
          <p:cNvPr name="AutoShape 43" id="43"/>
          <p:cNvSpPr/>
          <p:nvPr/>
        </p:nvSpPr>
        <p:spPr>
          <a:xfrm rot="0">
            <a:off x="800100" y="8039100"/>
            <a:ext cx="13639800" cy="9525"/>
          </a:xfrm>
          <a:prstGeom prst="rect">
            <a:avLst/>
          </a:prstGeom>
          <a:solidFill>
            <a:srgbClr val="061217">
              <a:alpha val="14902"/>
            </a:srgbClr>
          </a:solidFill>
        </p:spPr>
      </p:sp>
      <p:sp>
        <p:nvSpPr>
          <p:cNvPr name="TextBox 44" id="44"/>
          <p:cNvSpPr txBox="true"/>
          <p:nvPr/>
        </p:nvSpPr>
        <p:spPr>
          <a:xfrm rot="0">
            <a:off x="800100" y="7791450"/>
            <a:ext cx="462181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Figures: He et al., CVPR 2016, Fig. 2 · Zhang et al., IJCARS 2024, Fig. 1</a:t>
            </a:r>
          </a:p>
        </p:txBody>
      </p:sp>
      <p:sp>
        <p:nvSpPr>
          <p:cNvPr name="TextBox 45" id="45"/>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46" id="46"/>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05</a:t>
            </a:r>
          </a:p>
        </p:txBody>
      </p:sp>
      <p:grpSp>
        <p:nvGrpSpPr>
          <p:cNvPr name="Group 47" id="47"/>
          <p:cNvGrpSpPr/>
          <p:nvPr/>
        </p:nvGrpSpPr>
        <p:grpSpPr>
          <a:xfrm rot="0">
            <a:off x="0" y="0"/>
            <a:ext cx="15240000" cy="8572500"/>
            <a:chOff x="0" y="0"/>
            <a:chExt cx="20320000" cy="11430000"/>
          </a:xfrm>
        </p:grpSpPr>
        <p:sp>
          <p:nvSpPr>
            <p:cNvPr name="Freeform 48" id="48"/>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sp>
        <p:nvSpPr>
          <p:cNvPr name="TextBox 4" id="4"/>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RECURRENT MEMORY VERSUS SELF-ATTENTION</a:t>
            </a:r>
          </a:p>
        </p:txBody>
      </p:sp>
      <p:sp>
        <p:nvSpPr>
          <p:cNvPr name="TextBox 5" id="5"/>
          <p:cNvSpPr txBox="true"/>
          <p:nvPr/>
        </p:nvSpPr>
        <p:spPr>
          <a:xfrm rot="0">
            <a:off x="800100" y="1114425"/>
            <a:ext cx="12763500" cy="1031653"/>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Memory and attention see the surgical timeline differently</a:t>
            </a:r>
          </a:p>
        </p:txBody>
      </p:sp>
      <p:sp>
        <p:nvSpPr>
          <p:cNvPr name="TextBox 6" id="6"/>
          <p:cNvSpPr txBox="true"/>
          <p:nvPr/>
        </p:nvSpPr>
        <p:spPr>
          <a:xfrm rot="0">
            <a:off x="800100" y="2431828"/>
            <a:ext cx="7755160" cy="295275"/>
          </a:xfrm>
          <a:prstGeom prst="rect">
            <a:avLst/>
          </a:prstGeom>
        </p:spPr>
        <p:txBody>
          <a:bodyPr anchor="t" rtlCol="false" tIns="0" lIns="0" bIns="0" rIns="0">
            <a:spAutoFit/>
          </a:bodyPr>
          <a:lstStyle/>
          <a:p>
            <a:pPr algn="l">
              <a:lnSpc>
                <a:spcPts val="2025"/>
              </a:lnSpc>
            </a:pPr>
            <a:r>
              <a:rPr lang="en-US" b="true" sz="1500">
                <a:solidFill>
                  <a:srgbClr val="102126"/>
                </a:solidFill>
                <a:latin typeface="Arial Bold"/>
                <a:ea typeface="Arial Bold"/>
                <a:cs typeface="Arial Bold"/>
                <a:sym typeface="Arial Bold"/>
              </a:rPr>
              <a:t>Shared recurrent projection:</a:t>
            </a:r>
            <a:r>
              <a:rPr lang="en-US" sz="1500">
                <a:solidFill>
                  <a:srgbClr val="42585D"/>
                </a:solidFill>
                <a:latin typeface="Arial"/>
                <a:ea typeface="Arial"/>
                <a:cs typeface="Arial"/>
                <a:sym typeface="Arial"/>
              </a:rPr>
              <a:t> 2048 → 256 → LayerNorm → GELU → dropout</a:t>
            </a:r>
          </a:p>
        </p:txBody>
      </p:sp>
      <p:sp>
        <p:nvSpPr>
          <p:cNvPr name="AutoShape 7" id="7"/>
          <p:cNvSpPr/>
          <p:nvPr/>
        </p:nvSpPr>
        <p:spPr>
          <a:xfrm rot="0">
            <a:off x="800100" y="3603403"/>
            <a:ext cx="7755160" cy="9525"/>
          </a:xfrm>
          <a:prstGeom prst="rect">
            <a:avLst/>
          </a:prstGeom>
          <a:solidFill>
            <a:srgbClr val="061217">
              <a:alpha val="12941"/>
            </a:srgbClr>
          </a:solidFill>
        </p:spPr>
      </p:sp>
      <p:sp>
        <p:nvSpPr>
          <p:cNvPr name="TextBox 8" id="8"/>
          <p:cNvSpPr txBox="true"/>
          <p:nvPr/>
        </p:nvSpPr>
        <p:spPr>
          <a:xfrm rot="0">
            <a:off x="800100" y="2850928"/>
            <a:ext cx="1714500" cy="342900"/>
          </a:xfrm>
          <a:prstGeom prst="rect">
            <a:avLst/>
          </a:prstGeom>
        </p:spPr>
        <p:txBody>
          <a:bodyPr anchor="t" rtlCol="false" tIns="0" lIns="0" bIns="0" rIns="0">
            <a:spAutoFit/>
          </a:bodyPr>
          <a:lstStyle/>
          <a:p>
            <a:pPr algn="l">
              <a:lnSpc>
                <a:spcPts val="2625"/>
              </a:lnSpc>
            </a:pPr>
            <a:r>
              <a:rPr lang="en-US" b="true" sz="1875">
                <a:solidFill>
                  <a:srgbClr val="102126"/>
                </a:solidFill>
                <a:latin typeface="Arial Bold"/>
                <a:ea typeface="Arial Bold"/>
                <a:cs typeface="Arial Bold"/>
                <a:sym typeface="Arial Bold"/>
              </a:rPr>
              <a:t>GRU</a:t>
            </a:r>
          </a:p>
        </p:txBody>
      </p:sp>
      <p:sp>
        <p:nvSpPr>
          <p:cNvPr name="TextBox 9" id="9"/>
          <p:cNvSpPr txBox="true"/>
          <p:nvPr/>
        </p:nvSpPr>
        <p:spPr>
          <a:xfrm rot="0">
            <a:off x="2705100" y="2889028"/>
            <a:ext cx="5850160" cy="552450"/>
          </a:xfrm>
          <a:prstGeom prst="rect">
            <a:avLst/>
          </a:prstGeom>
        </p:spPr>
        <p:txBody>
          <a:bodyPr anchor="t" rtlCol="false" tIns="0" lIns="0" bIns="0" rIns="0">
            <a:spAutoFit/>
          </a:bodyPr>
          <a:lstStyle/>
          <a:p>
            <a:pPr algn="l">
              <a:lnSpc>
                <a:spcPts val="2310"/>
              </a:lnSpc>
            </a:pPr>
            <a:r>
              <a:rPr lang="en-US" b="true" sz="1650">
                <a:solidFill>
                  <a:srgbClr val="53696E"/>
                </a:solidFill>
                <a:latin typeface="Arial Bold"/>
                <a:ea typeface="Arial Bold"/>
                <a:cs typeface="Arial Bold"/>
                <a:sym typeface="Arial Bold"/>
              </a:rPr>
              <a:t>Past only.</a:t>
            </a:r>
            <a:r>
              <a:rPr lang="en-US" sz="1650">
                <a:solidFill>
                  <a:srgbClr val="53696E"/>
                </a:solidFill>
                <a:latin typeface="Arial"/>
                <a:ea typeface="Arial"/>
                <a:cs typeface="Arial"/>
                <a:sym typeface="Arial"/>
              </a:rPr>
              <a:t> Two 256-unit layers compress preceding frames into one hidden state.</a:t>
            </a:r>
          </a:p>
        </p:txBody>
      </p:sp>
      <p:sp>
        <p:nvSpPr>
          <p:cNvPr name="AutoShape 10" id="10"/>
          <p:cNvSpPr/>
          <p:nvPr/>
        </p:nvSpPr>
        <p:spPr>
          <a:xfrm rot="0">
            <a:off x="800100" y="4498753"/>
            <a:ext cx="7755160" cy="9525"/>
          </a:xfrm>
          <a:prstGeom prst="rect">
            <a:avLst/>
          </a:prstGeom>
          <a:solidFill>
            <a:srgbClr val="061217">
              <a:alpha val="12941"/>
            </a:srgbClr>
          </a:solidFill>
        </p:spPr>
      </p:sp>
      <p:sp>
        <p:nvSpPr>
          <p:cNvPr name="TextBox 11" id="11"/>
          <p:cNvSpPr txBox="true"/>
          <p:nvPr/>
        </p:nvSpPr>
        <p:spPr>
          <a:xfrm rot="0">
            <a:off x="800100" y="3746278"/>
            <a:ext cx="1714500" cy="342900"/>
          </a:xfrm>
          <a:prstGeom prst="rect">
            <a:avLst/>
          </a:prstGeom>
        </p:spPr>
        <p:txBody>
          <a:bodyPr anchor="t" rtlCol="false" tIns="0" lIns="0" bIns="0" rIns="0">
            <a:spAutoFit/>
          </a:bodyPr>
          <a:lstStyle/>
          <a:p>
            <a:pPr algn="l">
              <a:lnSpc>
                <a:spcPts val="2625"/>
              </a:lnSpc>
            </a:pPr>
            <a:r>
              <a:rPr lang="en-US" b="true" sz="1875">
                <a:solidFill>
                  <a:srgbClr val="102126"/>
                </a:solidFill>
                <a:latin typeface="Arial Bold"/>
                <a:ea typeface="Arial Bold"/>
                <a:cs typeface="Arial Bold"/>
                <a:sym typeface="Arial Bold"/>
              </a:rPr>
              <a:t>BiGRU</a:t>
            </a:r>
          </a:p>
        </p:txBody>
      </p:sp>
      <p:sp>
        <p:nvSpPr>
          <p:cNvPr name="TextBox 12" id="12"/>
          <p:cNvSpPr txBox="true"/>
          <p:nvPr/>
        </p:nvSpPr>
        <p:spPr>
          <a:xfrm rot="0">
            <a:off x="2705100" y="3784378"/>
            <a:ext cx="5850160" cy="552450"/>
          </a:xfrm>
          <a:prstGeom prst="rect">
            <a:avLst/>
          </a:prstGeom>
        </p:spPr>
        <p:txBody>
          <a:bodyPr anchor="t" rtlCol="false" tIns="0" lIns="0" bIns="0" rIns="0">
            <a:spAutoFit/>
          </a:bodyPr>
          <a:lstStyle/>
          <a:p>
            <a:pPr algn="l">
              <a:lnSpc>
                <a:spcPts val="2310"/>
              </a:lnSpc>
            </a:pPr>
            <a:r>
              <a:rPr lang="en-US" b="true" sz="1650">
                <a:solidFill>
                  <a:srgbClr val="53696E"/>
                </a:solidFill>
                <a:latin typeface="Arial Bold"/>
                <a:ea typeface="Arial Bold"/>
                <a:cs typeface="Arial Bold"/>
                <a:sym typeface="Arial Bold"/>
              </a:rPr>
              <a:t>Past + future.</a:t>
            </a:r>
            <a:r>
              <a:rPr lang="en-US" sz="1650">
                <a:solidFill>
                  <a:srgbClr val="53696E"/>
                </a:solidFill>
                <a:latin typeface="Arial"/>
                <a:ea typeface="Arial"/>
                <a:cs typeface="Arial"/>
                <a:sym typeface="Arial"/>
              </a:rPr>
              <a:t> 128 units per direction; 256 dimensions after concatenation.</a:t>
            </a:r>
          </a:p>
        </p:txBody>
      </p:sp>
      <p:sp>
        <p:nvSpPr>
          <p:cNvPr name="AutoShape 13" id="13"/>
          <p:cNvSpPr/>
          <p:nvPr/>
        </p:nvSpPr>
        <p:spPr>
          <a:xfrm rot="0">
            <a:off x="800100" y="5394103"/>
            <a:ext cx="7755160" cy="9525"/>
          </a:xfrm>
          <a:prstGeom prst="rect">
            <a:avLst/>
          </a:prstGeom>
          <a:solidFill>
            <a:srgbClr val="061217">
              <a:alpha val="12941"/>
            </a:srgbClr>
          </a:solidFill>
        </p:spPr>
      </p:sp>
      <p:sp>
        <p:nvSpPr>
          <p:cNvPr name="TextBox 14" id="14"/>
          <p:cNvSpPr txBox="true"/>
          <p:nvPr/>
        </p:nvSpPr>
        <p:spPr>
          <a:xfrm rot="0">
            <a:off x="800100" y="4641628"/>
            <a:ext cx="1714500" cy="342900"/>
          </a:xfrm>
          <a:prstGeom prst="rect">
            <a:avLst/>
          </a:prstGeom>
        </p:spPr>
        <p:txBody>
          <a:bodyPr anchor="t" rtlCol="false" tIns="0" lIns="0" bIns="0" rIns="0">
            <a:spAutoFit/>
          </a:bodyPr>
          <a:lstStyle/>
          <a:p>
            <a:pPr algn="l">
              <a:lnSpc>
                <a:spcPts val="2625"/>
              </a:lnSpc>
            </a:pPr>
            <a:r>
              <a:rPr lang="en-US" b="true" sz="1875">
                <a:solidFill>
                  <a:srgbClr val="102126"/>
                </a:solidFill>
                <a:latin typeface="Arial Bold"/>
                <a:ea typeface="Arial Bold"/>
                <a:cs typeface="Arial Bold"/>
                <a:sym typeface="Arial Bold"/>
              </a:rPr>
              <a:t>MS-CBiGRU</a:t>
            </a:r>
          </a:p>
        </p:txBody>
      </p:sp>
      <p:sp>
        <p:nvSpPr>
          <p:cNvPr name="TextBox 15" id="15"/>
          <p:cNvSpPr txBox="true"/>
          <p:nvPr/>
        </p:nvSpPr>
        <p:spPr>
          <a:xfrm rot="0">
            <a:off x="2705100" y="4679728"/>
            <a:ext cx="5850160" cy="552450"/>
          </a:xfrm>
          <a:prstGeom prst="rect">
            <a:avLst/>
          </a:prstGeom>
        </p:spPr>
        <p:txBody>
          <a:bodyPr anchor="t" rtlCol="false" tIns="0" lIns="0" bIns="0" rIns="0">
            <a:spAutoFit/>
          </a:bodyPr>
          <a:lstStyle/>
          <a:p>
            <a:pPr algn="l">
              <a:lnSpc>
                <a:spcPts val="2310"/>
              </a:lnSpc>
            </a:pPr>
            <a:r>
              <a:rPr lang="en-US" b="true" sz="1650">
                <a:solidFill>
                  <a:srgbClr val="53696E"/>
                </a:solidFill>
                <a:latin typeface="Arial Bold"/>
                <a:ea typeface="Arial Bold"/>
                <a:cs typeface="Arial Bold"/>
                <a:sym typeface="Arial Bold"/>
              </a:rPr>
              <a:t>Local + global.</a:t>
            </a:r>
            <a:r>
              <a:rPr lang="en-US" sz="1650">
                <a:solidFill>
                  <a:srgbClr val="53696E"/>
                </a:solidFill>
                <a:latin typeface="Arial"/>
                <a:ea typeface="Arial"/>
                <a:cs typeface="Arial"/>
                <a:sym typeface="Arial"/>
              </a:rPr>
              <a:t> Dilated CNN spans 3 / 5 / 9 / 17 s before bidirectional recurrence.</a:t>
            </a:r>
          </a:p>
        </p:txBody>
      </p:sp>
      <p:grpSp>
        <p:nvGrpSpPr>
          <p:cNvPr name="Group 16" id="16"/>
          <p:cNvGrpSpPr/>
          <p:nvPr/>
        </p:nvGrpSpPr>
        <p:grpSpPr>
          <a:xfrm rot="0">
            <a:off x="9050560" y="2469928"/>
            <a:ext cx="5389245" cy="3238500"/>
            <a:chOff x="0" y="0"/>
            <a:chExt cx="7185660" cy="4318000"/>
          </a:xfrm>
        </p:grpSpPr>
        <p:sp>
          <p:nvSpPr>
            <p:cNvPr name="Freeform 17" id="17"/>
            <p:cNvSpPr/>
            <p:nvPr/>
          </p:nvSpPr>
          <p:spPr>
            <a:xfrm flipH="false" flipV="false" rot="0">
              <a:off x="0" y="0"/>
              <a:ext cx="7185660" cy="4318000"/>
            </a:xfrm>
            <a:custGeom>
              <a:avLst/>
              <a:gdLst/>
              <a:ahLst/>
              <a:cxnLst/>
              <a:rect r="r" b="b" t="t" l="l"/>
              <a:pathLst>
                <a:path h="4318000" w="7185660">
                  <a:moveTo>
                    <a:pt x="203200" y="0"/>
                  </a:moveTo>
                  <a:lnTo>
                    <a:pt x="6982460" y="0"/>
                  </a:lnTo>
                  <a:cubicBezTo>
                    <a:pt x="7094728" y="0"/>
                    <a:pt x="7185660" y="90932"/>
                    <a:pt x="7185660" y="203200"/>
                  </a:cubicBezTo>
                  <a:lnTo>
                    <a:pt x="7185660" y="4114800"/>
                  </a:lnTo>
                  <a:cubicBezTo>
                    <a:pt x="7185660" y="4227068"/>
                    <a:pt x="7094728" y="4318000"/>
                    <a:pt x="6982460" y="4318000"/>
                  </a:cubicBezTo>
                  <a:lnTo>
                    <a:pt x="203200" y="4318000"/>
                  </a:lnTo>
                  <a:cubicBezTo>
                    <a:pt x="90932" y="4318000"/>
                    <a:pt x="0" y="4227068"/>
                    <a:pt x="0" y="4114800"/>
                  </a:cubicBezTo>
                  <a:lnTo>
                    <a:pt x="0" y="203200"/>
                  </a:lnTo>
                  <a:cubicBezTo>
                    <a:pt x="0" y="90932"/>
                    <a:pt x="90932" y="0"/>
                    <a:pt x="203200" y="0"/>
                  </a:cubicBezTo>
                  <a:close/>
                </a:path>
              </a:pathLst>
            </a:custGeom>
            <a:solidFill>
              <a:srgbClr val="FFFFFF"/>
            </a:solidFill>
          </p:spPr>
        </p:sp>
      </p:grpSp>
      <p:sp>
        <p:nvSpPr>
          <p:cNvPr name="AutoShape 18" id="18"/>
          <p:cNvSpPr/>
          <p:nvPr/>
        </p:nvSpPr>
        <p:spPr>
          <a:xfrm rot="0">
            <a:off x="9050560" y="2469928"/>
            <a:ext cx="5389245" cy="9525"/>
          </a:xfrm>
          <a:prstGeom prst="rect">
            <a:avLst/>
          </a:prstGeom>
          <a:solidFill>
            <a:srgbClr val="102126">
              <a:alpha val="9804"/>
            </a:srgbClr>
          </a:solidFill>
        </p:spPr>
      </p:sp>
      <p:sp>
        <p:nvSpPr>
          <p:cNvPr name="AutoShape 19" id="19"/>
          <p:cNvSpPr/>
          <p:nvPr/>
        </p:nvSpPr>
        <p:spPr>
          <a:xfrm rot="0">
            <a:off x="14430280" y="2479453"/>
            <a:ext cx="9525" cy="3219450"/>
          </a:xfrm>
          <a:prstGeom prst="rect">
            <a:avLst/>
          </a:prstGeom>
          <a:solidFill>
            <a:srgbClr val="102126">
              <a:alpha val="9804"/>
            </a:srgbClr>
          </a:solidFill>
        </p:spPr>
      </p:sp>
      <p:sp>
        <p:nvSpPr>
          <p:cNvPr name="AutoShape 20" id="20"/>
          <p:cNvSpPr/>
          <p:nvPr/>
        </p:nvSpPr>
        <p:spPr>
          <a:xfrm rot="0">
            <a:off x="9050560" y="5698903"/>
            <a:ext cx="5389245" cy="9525"/>
          </a:xfrm>
          <a:prstGeom prst="rect">
            <a:avLst/>
          </a:prstGeom>
          <a:solidFill>
            <a:srgbClr val="102126">
              <a:alpha val="9804"/>
            </a:srgbClr>
          </a:solidFill>
        </p:spPr>
      </p:sp>
      <p:sp>
        <p:nvSpPr>
          <p:cNvPr name="AutoShape 21" id="21"/>
          <p:cNvSpPr/>
          <p:nvPr/>
        </p:nvSpPr>
        <p:spPr>
          <a:xfrm rot="0">
            <a:off x="9050560" y="2479453"/>
            <a:ext cx="9525" cy="3219450"/>
          </a:xfrm>
          <a:prstGeom prst="rect">
            <a:avLst/>
          </a:prstGeom>
          <a:solidFill>
            <a:srgbClr val="102126">
              <a:alpha val="9804"/>
            </a:srgbClr>
          </a:solidFill>
        </p:spPr>
      </p:sp>
      <p:grpSp>
        <p:nvGrpSpPr>
          <p:cNvPr name="Group 22" id="22"/>
          <p:cNvGrpSpPr/>
          <p:nvPr/>
        </p:nvGrpSpPr>
        <p:grpSpPr>
          <a:xfrm rot="0">
            <a:off x="9250585" y="2669953"/>
            <a:ext cx="4989195" cy="2838450"/>
            <a:chOff x="0" y="0"/>
            <a:chExt cx="6652260" cy="3784600"/>
          </a:xfrm>
        </p:grpSpPr>
        <p:sp>
          <p:nvSpPr>
            <p:cNvPr name="Freeform 23" id="23"/>
            <p:cNvSpPr/>
            <p:nvPr/>
          </p:nvSpPr>
          <p:spPr>
            <a:xfrm flipH="false" flipV="false" rot="0">
              <a:off x="0" y="0"/>
              <a:ext cx="6652260" cy="3784600"/>
            </a:xfrm>
            <a:custGeom>
              <a:avLst/>
              <a:gdLst/>
              <a:ahLst/>
              <a:cxnLst/>
              <a:rect r="r" b="b" t="t" l="l"/>
              <a:pathLst>
                <a:path h="3784600" w="6652260">
                  <a:moveTo>
                    <a:pt x="0" y="0"/>
                  </a:moveTo>
                  <a:lnTo>
                    <a:pt x="6652260" y="0"/>
                  </a:lnTo>
                  <a:lnTo>
                    <a:pt x="6652260" y="3784600"/>
                  </a:lnTo>
                  <a:lnTo>
                    <a:pt x="0" y="3784600"/>
                  </a:lnTo>
                  <a:lnTo>
                    <a:pt x="0" y="0"/>
                  </a:lnTo>
                  <a:close/>
                </a:path>
              </a:pathLst>
            </a:custGeom>
            <a:blipFill>
              <a:blip r:embed="rId4"/>
              <a:stretch>
                <a:fillRect l="0" t="934" r="0" b="934"/>
              </a:stretch>
            </a:blipFill>
          </p:spPr>
        </p:sp>
      </p:grpSp>
      <p:sp>
        <p:nvSpPr>
          <p:cNvPr name="AutoShape 24" id="24"/>
          <p:cNvSpPr/>
          <p:nvPr/>
        </p:nvSpPr>
        <p:spPr>
          <a:xfrm rot="0">
            <a:off x="9050560" y="5917978"/>
            <a:ext cx="38100" cy="1053751"/>
          </a:xfrm>
          <a:prstGeom prst="rect">
            <a:avLst/>
          </a:prstGeom>
          <a:solidFill>
            <a:srgbClr val="C77C08"/>
          </a:solidFill>
        </p:spPr>
      </p:sp>
      <p:sp>
        <p:nvSpPr>
          <p:cNvPr name="TextBox 25" id="25"/>
          <p:cNvSpPr txBox="true"/>
          <p:nvPr/>
        </p:nvSpPr>
        <p:spPr>
          <a:xfrm rot="0">
            <a:off x="9298210" y="5889403"/>
            <a:ext cx="514159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3 layers · 8 heads</a:t>
            </a:r>
          </a:p>
        </p:txBody>
      </p:sp>
      <p:sp>
        <p:nvSpPr>
          <p:cNvPr name="TextBox 26" id="26"/>
          <p:cNvSpPr txBox="true"/>
          <p:nvPr/>
        </p:nvSpPr>
        <p:spPr>
          <a:xfrm rot="0">
            <a:off x="9298210" y="6308503"/>
            <a:ext cx="5141595" cy="634651"/>
          </a:xfrm>
          <a:prstGeom prst="rect">
            <a:avLst/>
          </a:prstGeom>
        </p:spPr>
        <p:txBody>
          <a:bodyPr anchor="t" rtlCol="false" tIns="0" lIns="0" bIns="0" rIns="0">
            <a:spAutoFit/>
          </a:bodyPr>
          <a:lstStyle/>
          <a:p>
            <a:pPr algn="l">
              <a:lnSpc>
                <a:spcPts val="2311"/>
              </a:lnSpc>
            </a:pPr>
            <a:r>
              <a:rPr lang="en-US" sz="1725">
                <a:solidFill>
                  <a:srgbClr val="42585D"/>
                </a:solidFill>
                <a:latin typeface="Arial"/>
                <a:ea typeface="Arial"/>
                <a:cs typeface="Arial"/>
                <a:sym typeface="Arial"/>
              </a:rPr>
              <a:t>Positional encoding inside overlapping 64 s windows; overlap logits are averaged at inference.</a:t>
            </a:r>
          </a:p>
        </p:txBody>
      </p:sp>
      <p:sp>
        <p:nvSpPr>
          <p:cNvPr name="AutoShape 27" id="27"/>
          <p:cNvSpPr/>
          <p:nvPr/>
        </p:nvSpPr>
        <p:spPr>
          <a:xfrm rot="0">
            <a:off x="800100" y="8039100"/>
            <a:ext cx="13639800" cy="9525"/>
          </a:xfrm>
          <a:prstGeom prst="rect">
            <a:avLst/>
          </a:prstGeom>
          <a:solidFill>
            <a:srgbClr val="061217">
              <a:alpha val="14902"/>
            </a:srgbClr>
          </a:solidFill>
        </p:spPr>
      </p:sp>
      <p:sp>
        <p:nvSpPr>
          <p:cNvPr name="TextBox 28" id="28"/>
          <p:cNvSpPr txBox="true"/>
          <p:nvPr/>
        </p:nvSpPr>
        <p:spPr>
          <a:xfrm rot="0">
            <a:off x="800100" y="7791450"/>
            <a:ext cx="6191821"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Attention figure: Vaswani et al., NeurIPS 2017, Fig. 2 · Recurrent specifications: project notebooks</a:t>
            </a:r>
          </a:p>
        </p:txBody>
      </p:sp>
      <p:sp>
        <p:nvSpPr>
          <p:cNvPr name="TextBox 29" id="29"/>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30" id="30"/>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ARCHITECTURE DEEP DIVE</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MS-TCN sees the whole video and refines it four times</a:t>
            </a:r>
          </a:p>
        </p:txBody>
      </p:sp>
      <p:grpSp>
        <p:nvGrpSpPr>
          <p:cNvPr name="Group 8" id="8"/>
          <p:cNvGrpSpPr/>
          <p:nvPr/>
        </p:nvGrpSpPr>
        <p:grpSpPr>
          <a:xfrm rot="0">
            <a:off x="800100" y="1935099"/>
            <a:ext cx="7755160" cy="5381625"/>
            <a:chOff x="0" y="0"/>
            <a:chExt cx="10340213" cy="7175500"/>
          </a:xfrm>
        </p:grpSpPr>
        <p:sp>
          <p:nvSpPr>
            <p:cNvPr name="Freeform 9" id="9"/>
            <p:cNvSpPr/>
            <p:nvPr/>
          </p:nvSpPr>
          <p:spPr>
            <a:xfrm flipH="false" flipV="false" rot="0">
              <a:off x="0" y="0"/>
              <a:ext cx="10340213" cy="7175500"/>
            </a:xfrm>
            <a:custGeom>
              <a:avLst/>
              <a:gdLst/>
              <a:ahLst/>
              <a:cxnLst/>
              <a:rect r="r" b="b" t="t" l="l"/>
              <a:pathLst>
                <a:path h="7175500" w="10340213">
                  <a:moveTo>
                    <a:pt x="203200" y="0"/>
                  </a:moveTo>
                  <a:lnTo>
                    <a:pt x="10137013" y="0"/>
                  </a:lnTo>
                  <a:cubicBezTo>
                    <a:pt x="10249281" y="0"/>
                    <a:pt x="10340213" y="90932"/>
                    <a:pt x="10340213" y="203200"/>
                  </a:cubicBezTo>
                  <a:lnTo>
                    <a:pt x="10340213" y="6972300"/>
                  </a:lnTo>
                  <a:cubicBezTo>
                    <a:pt x="10340213" y="7084568"/>
                    <a:pt x="10249281" y="7175500"/>
                    <a:pt x="10137013" y="7175500"/>
                  </a:cubicBezTo>
                  <a:lnTo>
                    <a:pt x="203200" y="7175500"/>
                  </a:lnTo>
                  <a:cubicBezTo>
                    <a:pt x="90932" y="7175500"/>
                    <a:pt x="0" y="7084568"/>
                    <a:pt x="0" y="6972300"/>
                  </a:cubicBezTo>
                  <a:lnTo>
                    <a:pt x="0" y="203200"/>
                  </a:lnTo>
                  <a:cubicBezTo>
                    <a:pt x="0" y="90932"/>
                    <a:pt x="90932" y="0"/>
                    <a:pt x="203200" y="0"/>
                  </a:cubicBezTo>
                  <a:close/>
                </a:path>
              </a:pathLst>
            </a:custGeom>
            <a:solidFill>
              <a:srgbClr val="FFFFFF"/>
            </a:solidFill>
          </p:spPr>
        </p:sp>
      </p:grpSp>
      <p:sp>
        <p:nvSpPr>
          <p:cNvPr name="AutoShape 10" id="10"/>
          <p:cNvSpPr/>
          <p:nvPr/>
        </p:nvSpPr>
        <p:spPr>
          <a:xfrm rot="0">
            <a:off x="800100" y="1935099"/>
            <a:ext cx="7755160" cy="9525"/>
          </a:xfrm>
          <a:prstGeom prst="rect">
            <a:avLst/>
          </a:prstGeom>
          <a:solidFill>
            <a:srgbClr val="102126">
              <a:alpha val="9804"/>
            </a:srgbClr>
          </a:solidFill>
        </p:spPr>
      </p:sp>
      <p:sp>
        <p:nvSpPr>
          <p:cNvPr name="AutoShape 11" id="11"/>
          <p:cNvSpPr/>
          <p:nvPr/>
        </p:nvSpPr>
        <p:spPr>
          <a:xfrm rot="0">
            <a:off x="8545735" y="1944624"/>
            <a:ext cx="9525" cy="5362575"/>
          </a:xfrm>
          <a:prstGeom prst="rect">
            <a:avLst/>
          </a:prstGeom>
          <a:solidFill>
            <a:srgbClr val="102126">
              <a:alpha val="9804"/>
            </a:srgbClr>
          </a:solidFill>
        </p:spPr>
      </p:sp>
      <p:sp>
        <p:nvSpPr>
          <p:cNvPr name="AutoShape 12" id="12"/>
          <p:cNvSpPr/>
          <p:nvPr/>
        </p:nvSpPr>
        <p:spPr>
          <a:xfrm rot="0">
            <a:off x="800100" y="7307199"/>
            <a:ext cx="7755160" cy="9525"/>
          </a:xfrm>
          <a:prstGeom prst="rect">
            <a:avLst/>
          </a:prstGeom>
          <a:solidFill>
            <a:srgbClr val="102126">
              <a:alpha val="9804"/>
            </a:srgbClr>
          </a:solidFill>
        </p:spPr>
      </p:sp>
      <p:sp>
        <p:nvSpPr>
          <p:cNvPr name="AutoShape 13" id="13"/>
          <p:cNvSpPr/>
          <p:nvPr/>
        </p:nvSpPr>
        <p:spPr>
          <a:xfrm rot="0">
            <a:off x="800100" y="1944624"/>
            <a:ext cx="9525" cy="5362575"/>
          </a:xfrm>
          <a:prstGeom prst="rect">
            <a:avLst/>
          </a:prstGeom>
          <a:solidFill>
            <a:srgbClr val="102126">
              <a:alpha val="9804"/>
            </a:srgbClr>
          </a:solidFill>
        </p:spPr>
      </p:sp>
      <p:grpSp>
        <p:nvGrpSpPr>
          <p:cNvPr name="Group 14" id="14"/>
          <p:cNvGrpSpPr/>
          <p:nvPr/>
        </p:nvGrpSpPr>
        <p:grpSpPr>
          <a:xfrm rot="0">
            <a:off x="1000125" y="2135124"/>
            <a:ext cx="7355110" cy="4981575"/>
            <a:chOff x="0" y="0"/>
            <a:chExt cx="9806813" cy="6642100"/>
          </a:xfrm>
        </p:grpSpPr>
        <p:sp>
          <p:nvSpPr>
            <p:cNvPr name="Freeform 15" id="15"/>
            <p:cNvSpPr/>
            <p:nvPr/>
          </p:nvSpPr>
          <p:spPr>
            <a:xfrm flipH="false" flipV="false" rot="0">
              <a:off x="0" y="0"/>
              <a:ext cx="9806813" cy="6642100"/>
            </a:xfrm>
            <a:custGeom>
              <a:avLst/>
              <a:gdLst/>
              <a:ahLst/>
              <a:cxnLst/>
              <a:rect r="r" b="b" t="t" l="l"/>
              <a:pathLst>
                <a:path h="6642100" w="9806813">
                  <a:moveTo>
                    <a:pt x="0" y="0"/>
                  </a:moveTo>
                  <a:lnTo>
                    <a:pt x="9806813" y="0"/>
                  </a:lnTo>
                  <a:lnTo>
                    <a:pt x="9806813" y="6642100"/>
                  </a:lnTo>
                  <a:lnTo>
                    <a:pt x="0" y="6642100"/>
                  </a:lnTo>
                  <a:lnTo>
                    <a:pt x="0" y="0"/>
                  </a:lnTo>
                  <a:close/>
                </a:path>
              </a:pathLst>
            </a:custGeom>
            <a:blipFill>
              <a:blip r:embed="rId5"/>
              <a:stretch>
                <a:fillRect l="20634" t="0" r="20634" b="0"/>
              </a:stretch>
            </a:blipFill>
          </p:spPr>
        </p:sp>
      </p:grpSp>
      <p:sp>
        <p:nvSpPr>
          <p:cNvPr name="AutoShape 16" id="16"/>
          <p:cNvSpPr/>
          <p:nvPr/>
        </p:nvSpPr>
        <p:spPr>
          <a:xfrm rot="0">
            <a:off x="9050560" y="2825686"/>
            <a:ext cx="38100" cy="721995"/>
          </a:xfrm>
          <a:prstGeom prst="rect">
            <a:avLst/>
          </a:prstGeom>
          <a:solidFill>
            <a:srgbClr val="0B9185"/>
          </a:solidFill>
        </p:spPr>
      </p:sp>
      <p:sp>
        <p:nvSpPr>
          <p:cNvPr name="TextBox 17" id="17"/>
          <p:cNvSpPr txBox="true"/>
          <p:nvPr/>
        </p:nvSpPr>
        <p:spPr>
          <a:xfrm rot="0">
            <a:off x="9298210" y="2797112"/>
            <a:ext cx="514159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Full sequence</a:t>
            </a:r>
          </a:p>
        </p:txBody>
      </p:sp>
      <p:sp>
        <p:nvSpPr>
          <p:cNvPr name="TextBox 18" id="18"/>
          <p:cNvSpPr txBox="true"/>
          <p:nvPr/>
        </p:nvSpPr>
        <p:spPr>
          <a:xfrm rot="0">
            <a:off x="9298210" y="3225736"/>
            <a:ext cx="5141595" cy="293370"/>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2048 input channels are projected to 64 temporal channels.</a:t>
            </a:r>
          </a:p>
        </p:txBody>
      </p:sp>
      <p:sp>
        <p:nvSpPr>
          <p:cNvPr name="AutoShape 19" id="19"/>
          <p:cNvSpPr/>
          <p:nvPr/>
        </p:nvSpPr>
        <p:spPr>
          <a:xfrm rot="0">
            <a:off x="9050560" y="3699986"/>
            <a:ext cx="38100" cy="721995"/>
          </a:xfrm>
          <a:prstGeom prst="rect">
            <a:avLst/>
          </a:prstGeom>
          <a:solidFill>
            <a:srgbClr val="C77C08"/>
          </a:solidFill>
        </p:spPr>
      </p:sp>
      <p:sp>
        <p:nvSpPr>
          <p:cNvPr name="TextBox 20" id="20"/>
          <p:cNvSpPr txBox="true"/>
          <p:nvPr/>
        </p:nvSpPr>
        <p:spPr>
          <a:xfrm rot="0">
            <a:off x="9298210" y="3671411"/>
            <a:ext cx="514159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2,047 / 4,095 s</a:t>
            </a:r>
          </a:p>
        </p:txBody>
      </p:sp>
      <p:sp>
        <p:nvSpPr>
          <p:cNvPr name="TextBox 21" id="21"/>
          <p:cNvSpPr txBox="true"/>
          <p:nvPr/>
        </p:nvSpPr>
        <p:spPr>
          <a:xfrm rot="0">
            <a:off x="9298210" y="4100036"/>
            <a:ext cx="5141595" cy="293370"/>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Nominal context from 10 / 11 exponentially dilated layers.</a:t>
            </a:r>
          </a:p>
        </p:txBody>
      </p:sp>
      <p:sp>
        <p:nvSpPr>
          <p:cNvPr name="AutoShape 22" id="22"/>
          <p:cNvSpPr/>
          <p:nvPr/>
        </p:nvSpPr>
        <p:spPr>
          <a:xfrm rot="0">
            <a:off x="9050560" y="4574381"/>
            <a:ext cx="38100" cy="721995"/>
          </a:xfrm>
          <a:prstGeom prst="rect">
            <a:avLst/>
          </a:prstGeom>
          <a:solidFill>
            <a:srgbClr val="CF4660"/>
          </a:solidFill>
        </p:spPr>
      </p:sp>
      <p:sp>
        <p:nvSpPr>
          <p:cNvPr name="TextBox 23" id="23"/>
          <p:cNvSpPr txBox="true"/>
          <p:nvPr/>
        </p:nvSpPr>
        <p:spPr>
          <a:xfrm rot="0">
            <a:off x="9298210" y="4545806"/>
            <a:ext cx="514159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4 supervised stages</a:t>
            </a:r>
          </a:p>
        </p:txBody>
      </p:sp>
      <p:sp>
        <p:nvSpPr>
          <p:cNvPr name="TextBox 24" id="24"/>
          <p:cNvSpPr txBox="true"/>
          <p:nvPr/>
        </p:nvSpPr>
        <p:spPr>
          <a:xfrm rot="0">
            <a:off x="9298210" y="4974431"/>
            <a:ext cx="5141595" cy="293370"/>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Initial prediction followed by three probability refinements.</a:t>
            </a:r>
          </a:p>
        </p:txBody>
      </p:sp>
      <p:sp>
        <p:nvSpPr>
          <p:cNvPr name="AutoShape 25" id="25"/>
          <p:cNvSpPr/>
          <p:nvPr/>
        </p:nvSpPr>
        <p:spPr>
          <a:xfrm rot="0">
            <a:off x="9050560" y="5448776"/>
            <a:ext cx="38100" cy="977170"/>
          </a:xfrm>
          <a:prstGeom prst="rect">
            <a:avLst/>
          </a:prstGeom>
          <a:solidFill>
            <a:srgbClr val="0B9185"/>
          </a:solidFill>
        </p:spPr>
      </p:sp>
      <p:sp>
        <p:nvSpPr>
          <p:cNvPr name="TextBox 26" id="26"/>
          <p:cNvSpPr txBox="true"/>
          <p:nvPr/>
        </p:nvSpPr>
        <p:spPr>
          <a:xfrm rot="0">
            <a:off x="9298210" y="5420201"/>
            <a:ext cx="514159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Phase + tools</a:t>
            </a:r>
          </a:p>
        </p:txBody>
      </p:sp>
      <p:sp>
        <p:nvSpPr>
          <p:cNvPr name="TextBox 27" id="27"/>
          <p:cNvSpPr txBox="true"/>
          <p:nvPr/>
        </p:nvSpPr>
        <p:spPr>
          <a:xfrm rot="0">
            <a:off x="9298210" y="5848826"/>
            <a:ext cx="5141595" cy="548545"/>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Auxiliary instrument labels improve the shared representation.</a:t>
            </a:r>
          </a:p>
        </p:txBody>
      </p:sp>
      <p:sp>
        <p:nvSpPr>
          <p:cNvPr name="AutoShape 28" id="28"/>
          <p:cNvSpPr/>
          <p:nvPr/>
        </p:nvSpPr>
        <p:spPr>
          <a:xfrm rot="0">
            <a:off x="800100" y="8039100"/>
            <a:ext cx="13639800" cy="9525"/>
          </a:xfrm>
          <a:prstGeom prst="rect">
            <a:avLst/>
          </a:prstGeom>
          <a:solidFill>
            <a:srgbClr val="061217">
              <a:alpha val="14902"/>
            </a:srgbClr>
          </a:solidFill>
        </p:spPr>
      </p:sp>
      <p:sp>
        <p:nvSpPr>
          <p:cNvPr name="TextBox 29" id="29"/>
          <p:cNvSpPr txBox="true"/>
          <p:nvPr/>
        </p:nvSpPr>
        <p:spPr>
          <a:xfrm rot="0">
            <a:off x="800100" y="7791450"/>
            <a:ext cx="3597497"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Architecture figure: Abu Farha &amp; Gall, CVPR 2019, Fig. 1</a:t>
            </a:r>
          </a:p>
        </p:txBody>
      </p:sp>
      <p:sp>
        <p:nvSpPr>
          <p:cNvPr name="TextBox 30" id="30"/>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31" id="31"/>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ARCHITECTURE DEEP DIVE</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SF-TMN fuses frame and segment context</a:t>
            </a:r>
          </a:p>
        </p:txBody>
      </p:sp>
      <p:grpSp>
        <p:nvGrpSpPr>
          <p:cNvPr name="Group 8" id="8"/>
          <p:cNvGrpSpPr/>
          <p:nvPr/>
        </p:nvGrpSpPr>
        <p:grpSpPr>
          <a:xfrm rot="0">
            <a:off x="800100" y="1935099"/>
            <a:ext cx="7920895" cy="5715000"/>
            <a:chOff x="0" y="0"/>
            <a:chExt cx="10561193" cy="7620000"/>
          </a:xfrm>
        </p:grpSpPr>
        <p:sp>
          <p:nvSpPr>
            <p:cNvPr name="Freeform 9" id="9"/>
            <p:cNvSpPr/>
            <p:nvPr/>
          </p:nvSpPr>
          <p:spPr>
            <a:xfrm flipH="false" flipV="false" rot="0">
              <a:off x="0" y="0"/>
              <a:ext cx="10561193" cy="7620000"/>
            </a:xfrm>
            <a:custGeom>
              <a:avLst/>
              <a:gdLst/>
              <a:ahLst/>
              <a:cxnLst/>
              <a:rect r="r" b="b" t="t" l="l"/>
              <a:pathLst>
                <a:path h="7620000" w="10561193">
                  <a:moveTo>
                    <a:pt x="203200" y="0"/>
                  </a:moveTo>
                  <a:lnTo>
                    <a:pt x="10357993" y="0"/>
                  </a:lnTo>
                  <a:cubicBezTo>
                    <a:pt x="10470262" y="0"/>
                    <a:pt x="10561193" y="90932"/>
                    <a:pt x="10561193" y="203200"/>
                  </a:cubicBezTo>
                  <a:lnTo>
                    <a:pt x="10561193" y="7416800"/>
                  </a:lnTo>
                  <a:cubicBezTo>
                    <a:pt x="10561193" y="7529068"/>
                    <a:pt x="10470262" y="7620000"/>
                    <a:pt x="10357993" y="7620000"/>
                  </a:cubicBezTo>
                  <a:lnTo>
                    <a:pt x="203200" y="7620000"/>
                  </a:lnTo>
                  <a:cubicBezTo>
                    <a:pt x="90932" y="7620000"/>
                    <a:pt x="0" y="7529068"/>
                    <a:pt x="0" y="7416800"/>
                  </a:cubicBezTo>
                  <a:lnTo>
                    <a:pt x="0" y="203200"/>
                  </a:lnTo>
                  <a:cubicBezTo>
                    <a:pt x="0" y="90932"/>
                    <a:pt x="90932" y="0"/>
                    <a:pt x="203200" y="0"/>
                  </a:cubicBezTo>
                  <a:close/>
                </a:path>
              </a:pathLst>
            </a:custGeom>
            <a:solidFill>
              <a:srgbClr val="FFFFFF"/>
            </a:solidFill>
          </p:spPr>
        </p:sp>
      </p:grpSp>
      <p:sp>
        <p:nvSpPr>
          <p:cNvPr name="AutoShape 10" id="10"/>
          <p:cNvSpPr/>
          <p:nvPr/>
        </p:nvSpPr>
        <p:spPr>
          <a:xfrm rot="0">
            <a:off x="800100" y="1935099"/>
            <a:ext cx="7920895" cy="9525"/>
          </a:xfrm>
          <a:prstGeom prst="rect">
            <a:avLst/>
          </a:prstGeom>
          <a:solidFill>
            <a:srgbClr val="102126">
              <a:alpha val="9804"/>
            </a:srgbClr>
          </a:solidFill>
        </p:spPr>
      </p:sp>
      <p:sp>
        <p:nvSpPr>
          <p:cNvPr name="AutoShape 11" id="11"/>
          <p:cNvSpPr/>
          <p:nvPr/>
        </p:nvSpPr>
        <p:spPr>
          <a:xfrm rot="0">
            <a:off x="8711470" y="1944624"/>
            <a:ext cx="9525" cy="5695950"/>
          </a:xfrm>
          <a:prstGeom prst="rect">
            <a:avLst/>
          </a:prstGeom>
          <a:solidFill>
            <a:srgbClr val="102126">
              <a:alpha val="9804"/>
            </a:srgbClr>
          </a:solidFill>
        </p:spPr>
      </p:sp>
      <p:sp>
        <p:nvSpPr>
          <p:cNvPr name="AutoShape 12" id="12"/>
          <p:cNvSpPr/>
          <p:nvPr/>
        </p:nvSpPr>
        <p:spPr>
          <a:xfrm rot="0">
            <a:off x="800100" y="7640574"/>
            <a:ext cx="7920895" cy="9525"/>
          </a:xfrm>
          <a:prstGeom prst="rect">
            <a:avLst/>
          </a:prstGeom>
          <a:solidFill>
            <a:srgbClr val="102126">
              <a:alpha val="9804"/>
            </a:srgbClr>
          </a:solidFill>
        </p:spPr>
      </p:sp>
      <p:sp>
        <p:nvSpPr>
          <p:cNvPr name="AutoShape 13" id="13"/>
          <p:cNvSpPr/>
          <p:nvPr/>
        </p:nvSpPr>
        <p:spPr>
          <a:xfrm rot="0">
            <a:off x="800100" y="1944624"/>
            <a:ext cx="9525" cy="5695950"/>
          </a:xfrm>
          <a:prstGeom prst="rect">
            <a:avLst/>
          </a:prstGeom>
          <a:solidFill>
            <a:srgbClr val="102126">
              <a:alpha val="9804"/>
            </a:srgbClr>
          </a:solidFill>
        </p:spPr>
      </p:sp>
      <p:grpSp>
        <p:nvGrpSpPr>
          <p:cNvPr name="Group 14" id="14"/>
          <p:cNvGrpSpPr/>
          <p:nvPr/>
        </p:nvGrpSpPr>
        <p:grpSpPr>
          <a:xfrm rot="0">
            <a:off x="923925" y="2058924"/>
            <a:ext cx="7673245" cy="5381625"/>
            <a:chOff x="0" y="0"/>
            <a:chExt cx="10230993" cy="7175500"/>
          </a:xfrm>
        </p:grpSpPr>
        <p:sp>
          <p:nvSpPr>
            <p:cNvPr name="Freeform 15" id="15"/>
            <p:cNvSpPr/>
            <p:nvPr/>
          </p:nvSpPr>
          <p:spPr>
            <a:xfrm flipH="false" flipV="false" rot="0">
              <a:off x="0" y="0"/>
              <a:ext cx="10230993" cy="7175500"/>
            </a:xfrm>
            <a:custGeom>
              <a:avLst/>
              <a:gdLst/>
              <a:ahLst/>
              <a:cxnLst/>
              <a:rect r="r" b="b" t="t" l="l"/>
              <a:pathLst>
                <a:path h="7175500" w="10230993">
                  <a:moveTo>
                    <a:pt x="0" y="0"/>
                  </a:moveTo>
                  <a:lnTo>
                    <a:pt x="10230993" y="0"/>
                  </a:lnTo>
                  <a:lnTo>
                    <a:pt x="10230993" y="7175500"/>
                  </a:lnTo>
                  <a:lnTo>
                    <a:pt x="0" y="7175500"/>
                  </a:lnTo>
                  <a:lnTo>
                    <a:pt x="0" y="0"/>
                  </a:lnTo>
                  <a:close/>
                </a:path>
              </a:pathLst>
            </a:custGeom>
            <a:blipFill>
              <a:blip r:embed="rId5"/>
              <a:stretch>
                <a:fillRect l="0" t="-1051" r="0" b="-1051"/>
              </a:stretch>
            </a:blipFill>
          </p:spPr>
        </p:sp>
      </p:grpSp>
      <p:sp>
        <p:nvSpPr>
          <p:cNvPr name="AutoShape 16" id="16"/>
          <p:cNvSpPr/>
          <p:nvPr/>
        </p:nvSpPr>
        <p:spPr>
          <a:xfrm rot="0">
            <a:off x="9159145" y="2864834"/>
            <a:ext cx="38100" cy="977170"/>
          </a:xfrm>
          <a:prstGeom prst="rect">
            <a:avLst/>
          </a:prstGeom>
          <a:solidFill>
            <a:srgbClr val="0B9185"/>
          </a:solidFill>
        </p:spPr>
      </p:sp>
      <p:sp>
        <p:nvSpPr>
          <p:cNvPr name="TextBox 17" id="17"/>
          <p:cNvSpPr txBox="true"/>
          <p:nvPr/>
        </p:nvSpPr>
        <p:spPr>
          <a:xfrm rot="0">
            <a:off x="9406795" y="2836259"/>
            <a:ext cx="503310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Slow · T positions</a:t>
            </a:r>
          </a:p>
        </p:txBody>
      </p:sp>
      <p:sp>
        <p:nvSpPr>
          <p:cNvPr name="TextBox 18" id="18"/>
          <p:cNvSpPr txBox="true"/>
          <p:nvPr/>
        </p:nvSpPr>
        <p:spPr>
          <a:xfrm rot="0">
            <a:off x="9406795" y="3264884"/>
            <a:ext cx="5033105" cy="548545"/>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One prediction position per second preserves phase boundaries.</a:t>
            </a:r>
          </a:p>
        </p:txBody>
      </p:sp>
      <p:sp>
        <p:nvSpPr>
          <p:cNvPr name="AutoShape 19" id="19"/>
          <p:cNvSpPr/>
          <p:nvPr/>
        </p:nvSpPr>
        <p:spPr>
          <a:xfrm rot="0">
            <a:off x="9159145" y="3994404"/>
            <a:ext cx="38100" cy="721995"/>
          </a:xfrm>
          <a:prstGeom prst="rect">
            <a:avLst/>
          </a:prstGeom>
          <a:solidFill>
            <a:srgbClr val="C77C08"/>
          </a:solidFill>
        </p:spPr>
      </p:sp>
      <p:sp>
        <p:nvSpPr>
          <p:cNvPr name="TextBox 20" id="20"/>
          <p:cNvSpPr txBox="true"/>
          <p:nvPr/>
        </p:nvSpPr>
        <p:spPr>
          <a:xfrm rot="0">
            <a:off x="9406795" y="3965829"/>
            <a:ext cx="503310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Fast · ≈ T / 32</a:t>
            </a:r>
          </a:p>
        </p:txBody>
      </p:sp>
      <p:sp>
        <p:nvSpPr>
          <p:cNvPr name="TextBox 21" id="21"/>
          <p:cNvSpPr txBox="true"/>
          <p:nvPr/>
        </p:nvSpPr>
        <p:spPr>
          <a:xfrm rot="0">
            <a:off x="9406795" y="4394454"/>
            <a:ext cx="5033105" cy="293370"/>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32-second max pooling captures coarse workflow structure.</a:t>
            </a:r>
          </a:p>
        </p:txBody>
      </p:sp>
      <p:sp>
        <p:nvSpPr>
          <p:cNvPr name="AutoShape 22" id="22"/>
          <p:cNvSpPr/>
          <p:nvPr/>
        </p:nvSpPr>
        <p:spPr>
          <a:xfrm rot="0">
            <a:off x="9159145" y="4868799"/>
            <a:ext cx="38100" cy="721995"/>
          </a:xfrm>
          <a:prstGeom prst="rect">
            <a:avLst/>
          </a:prstGeom>
          <a:solidFill>
            <a:srgbClr val="CF4660"/>
          </a:solidFill>
        </p:spPr>
      </p:sp>
      <p:sp>
        <p:nvSpPr>
          <p:cNvPr name="TextBox 23" id="23"/>
          <p:cNvSpPr txBox="true"/>
          <p:nvPr/>
        </p:nvSpPr>
        <p:spPr>
          <a:xfrm rot="0">
            <a:off x="9406795" y="4840224"/>
            <a:ext cx="503310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ASFormer blocks</a:t>
            </a:r>
          </a:p>
        </p:txBody>
      </p:sp>
      <p:sp>
        <p:nvSpPr>
          <p:cNvPr name="TextBox 24" id="24"/>
          <p:cNvSpPr txBox="true"/>
          <p:nvPr/>
        </p:nvSpPr>
        <p:spPr>
          <a:xfrm rot="0">
            <a:off x="9406795" y="5268849"/>
            <a:ext cx="5033105" cy="293370"/>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Dilated convolution plus local attention at both resolutions.</a:t>
            </a:r>
          </a:p>
        </p:txBody>
      </p:sp>
      <p:sp>
        <p:nvSpPr>
          <p:cNvPr name="AutoShape 25" id="25"/>
          <p:cNvSpPr/>
          <p:nvPr/>
        </p:nvSpPr>
        <p:spPr>
          <a:xfrm rot="0">
            <a:off x="9159145" y="5743099"/>
            <a:ext cx="38100" cy="977170"/>
          </a:xfrm>
          <a:prstGeom prst="rect">
            <a:avLst/>
          </a:prstGeom>
          <a:solidFill>
            <a:srgbClr val="0B9185"/>
          </a:solidFill>
        </p:spPr>
      </p:sp>
      <p:sp>
        <p:nvSpPr>
          <p:cNvPr name="TextBox 26" id="26"/>
          <p:cNvSpPr txBox="true"/>
          <p:nvPr/>
        </p:nvSpPr>
        <p:spPr>
          <a:xfrm rot="0">
            <a:off x="9406795" y="5714524"/>
            <a:ext cx="5033105"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Fusion + 3 refinements</a:t>
            </a:r>
          </a:p>
        </p:txBody>
      </p:sp>
      <p:sp>
        <p:nvSpPr>
          <p:cNvPr name="TextBox 27" id="27"/>
          <p:cNvSpPr txBox="true"/>
          <p:nvPr/>
        </p:nvSpPr>
        <p:spPr>
          <a:xfrm rot="0">
            <a:off x="9406795" y="6143149"/>
            <a:ext cx="5033105" cy="548545"/>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Learned weights combine upsampled fast and slow features.</a:t>
            </a:r>
          </a:p>
        </p:txBody>
      </p:sp>
      <p:sp>
        <p:nvSpPr>
          <p:cNvPr name="AutoShape 28" id="28"/>
          <p:cNvSpPr/>
          <p:nvPr/>
        </p:nvSpPr>
        <p:spPr>
          <a:xfrm rot="0">
            <a:off x="800100" y="8039100"/>
            <a:ext cx="13639800" cy="9525"/>
          </a:xfrm>
          <a:prstGeom prst="rect">
            <a:avLst/>
          </a:prstGeom>
          <a:solidFill>
            <a:srgbClr val="061217">
              <a:alpha val="14902"/>
            </a:srgbClr>
          </a:solidFill>
        </p:spPr>
      </p:sp>
      <p:sp>
        <p:nvSpPr>
          <p:cNvPr name="TextBox 29" id="29"/>
          <p:cNvSpPr txBox="true"/>
          <p:nvPr/>
        </p:nvSpPr>
        <p:spPr>
          <a:xfrm rot="0">
            <a:off x="800100" y="7791450"/>
            <a:ext cx="3375088"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Architecture figure: Zhang et al., IJCARS 2024, Fig. 2</a:t>
            </a:r>
          </a:p>
        </p:txBody>
      </p:sp>
      <p:sp>
        <p:nvSpPr>
          <p:cNvPr name="TextBox 30" id="30"/>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31" id="31"/>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TRAINING OBJECTIVE</a:t>
            </a:r>
          </a:p>
        </p:txBody>
      </p:sp>
      <p:sp>
        <p:nvSpPr>
          <p:cNvPr name="TextBox 7" id="7"/>
          <p:cNvSpPr txBox="true"/>
          <p:nvPr/>
        </p:nvSpPr>
        <p:spPr>
          <a:xfrm rot="0">
            <a:off x="800100" y="1114425"/>
            <a:ext cx="12763500" cy="1031653"/>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The loss must protect rare phases without creating flicker</a:t>
            </a:r>
          </a:p>
        </p:txBody>
      </p:sp>
      <p:sp>
        <p:nvSpPr>
          <p:cNvPr name="AutoShape 8" id="8"/>
          <p:cNvSpPr/>
          <p:nvPr/>
        </p:nvSpPr>
        <p:spPr>
          <a:xfrm rot="0">
            <a:off x="800100" y="2565178"/>
            <a:ext cx="4368736" cy="47625"/>
          </a:xfrm>
          <a:prstGeom prst="rect">
            <a:avLst/>
          </a:prstGeom>
          <a:solidFill>
            <a:srgbClr val="0B9185"/>
          </a:solidFill>
        </p:spPr>
      </p:sp>
      <p:sp>
        <p:nvSpPr>
          <p:cNvPr name="TextBox 9" id="9"/>
          <p:cNvSpPr txBox="true"/>
          <p:nvPr/>
        </p:nvSpPr>
        <p:spPr>
          <a:xfrm rot="0">
            <a:off x="800100" y="2803303"/>
            <a:ext cx="4368736" cy="306610"/>
          </a:xfrm>
          <a:prstGeom prst="rect">
            <a:avLst/>
          </a:prstGeom>
        </p:spPr>
        <p:txBody>
          <a:bodyPr anchor="t" rtlCol="false" tIns="0" lIns="0" bIns="0" rIns="0">
            <a:spAutoFit/>
          </a:bodyPr>
          <a:lstStyle/>
          <a:p>
            <a:pPr algn="l">
              <a:lnSpc>
                <a:spcPts val="2415"/>
              </a:lnSpc>
            </a:pPr>
            <a:r>
              <a:rPr lang="en-US" b="true" sz="2100">
                <a:solidFill>
                  <a:srgbClr val="102126"/>
                </a:solidFill>
                <a:latin typeface="Arial Bold"/>
                <a:ea typeface="Arial Bold"/>
                <a:cs typeface="Arial Bold"/>
                <a:sym typeface="Arial Bold"/>
              </a:rPr>
              <a:t>Weighted CE</a:t>
            </a:r>
          </a:p>
        </p:txBody>
      </p:sp>
      <p:sp>
        <p:nvSpPr>
          <p:cNvPr name="TextBox 10" id="10"/>
          <p:cNvSpPr txBox="true"/>
          <p:nvPr/>
        </p:nvSpPr>
        <p:spPr>
          <a:xfrm rot="0">
            <a:off x="800100" y="3157537"/>
            <a:ext cx="4368736"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Raises the cost of errors on under-represented phases.</a:t>
            </a:r>
          </a:p>
        </p:txBody>
      </p:sp>
      <p:sp>
        <p:nvSpPr>
          <p:cNvPr name="AutoShape 11" id="11"/>
          <p:cNvSpPr/>
          <p:nvPr/>
        </p:nvSpPr>
        <p:spPr>
          <a:xfrm rot="0">
            <a:off x="5435536" y="2565178"/>
            <a:ext cx="4368832" cy="47625"/>
          </a:xfrm>
          <a:prstGeom prst="rect">
            <a:avLst/>
          </a:prstGeom>
          <a:solidFill>
            <a:srgbClr val="C77C08"/>
          </a:solidFill>
        </p:spPr>
      </p:sp>
      <p:sp>
        <p:nvSpPr>
          <p:cNvPr name="TextBox 12" id="12"/>
          <p:cNvSpPr txBox="true"/>
          <p:nvPr/>
        </p:nvSpPr>
        <p:spPr>
          <a:xfrm rot="0">
            <a:off x="5435536" y="2803303"/>
            <a:ext cx="4368832" cy="306610"/>
          </a:xfrm>
          <a:prstGeom prst="rect">
            <a:avLst/>
          </a:prstGeom>
        </p:spPr>
        <p:txBody>
          <a:bodyPr anchor="t" rtlCol="false" tIns="0" lIns="0" bIns="0" rIns="0">
            <a:spAutoFit/>
          </a:bodyPr>
          <a:lstStyle/>
          <a:p>
            <a:pPr algn="l">
              <a:lnSpc>
                <a:spcPts val="2415"/>
              </a:lnSpc>
            </a:pPr>
            <a:r>
              <a:rPr lang="en-US" b="true" sz="2100">
                <a:solidFill>
                  <a:srgbClr val="102126"/>
                </a:solidFill>
                <a:latin typeface="Arial Bold"/>
                <a:ea typeface="Arial Bold"/>
                <a:cs typeface="Arial Bold"/>
                <a:sym typeface="Arial Bold"/>
              </a:rPr>
              <a:t>Focal loss</a:t>
            </a:r>
          </a:p>
        </p:txBody>
      </p:sp>
      <p:sp>
        <p:nvSpPr>
          <p:cNvPr name="TextBox 13" id="13"/>
          <p:cNvSpPr txBox="true"/>
          <p:nvPr/>
        </p:nvSpPr>
        <p:spPr>
          <a:xfrm rot="0">
            <a:off x="5435536" y="3157537"/>
            <a:ext cx="4368832"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Focuses learning on difficult and low-confidence frames.</a:t>
            </a:r>
          </a:p>
        </p:txBody>
      </p:sp>
      <p:sp>
        <p:nvSpPr>
          <p:cNvPr name="AutoShape 14" id="14"/>
          <p:cNvSpPr/>
          <p:nvPr/>
        </p:nvSpPr>
        <p:spPr>
          <a:xfrm rot="0">
            <a:off x="10071068" y="2565178"/>
            <a:ext cx="4368736" cy="47625"/>
          </a:xfrm>
          <a:prstGeom prst="rect">
            <a:avLst/>
          </a:prstGeom>
          <a:solidFill>
            <a:srgbClr val="CF4660"/>
          </a:solidFill>
        </p:spPr>
      </p:sp>
      <p:sp>
        <p:nvSpPr>
          <p:cNvPr name="TextBox 15" id="15"/>
          <p:cNvSpPr txBox="true"/>
          <p:nvPr/>
        </p:nvSpPr>
        <p:spPr>
          <a:xfrm rot="0">
            <a:off x="10071068" y="2803303"/>
            <a:ext cx="4368736" cy="306610"/>
          </a:xfrm>
          <a:prstGeom prst="rect">
            <a:avLst/>
          </a:prstGeom>
        </p:spPr>
        <p:txBody>
          <a:bodyPr anchor="t" rtlCol="false" tIns="0" lIns="0" bIns="0" rIns="0">
            <a:spAutoFit/>
          </a:bodyPr>
          <a:lstStyle/>
          <a:p>
            <a:pPr algn="l">
              <a:lnSpc>
                <a:spcPts val="2415"/>
              </a:lnSpc>
            </a:pPr>
            <a:r>
              <a:rPr lang="en-US" b="true" sz="2100">
                <a:solidFill>
                  <a:srgbClr val="102126"/>
                </a:solidFill>
                <a:latin typeface="Arial Bold"/>
                <a:ea typeface="Arial Bold"/>
                <a:cs typeface="Arial Bold"/>
                <a:sym typeface="Arial Bold"/>
              </a:rPr>
              <a:t>Boundary-aware</a:t>
            </a:r>
          </a:p>
        </p:txBody>
      </p:sp>
      <p:sp>
        <p:nvSpPr>
          <p:cNvPr name="TextBox 16" id="16"/>
          <p:cNvSpPr txBox="true"/>
          <p:nvPr/>
        </p:nvSpPr>
        <p:spPr>
          <a:xfrm rot="0">
            <a:off x="10071068" y="3157537"/>
            <a:ext cx="4368736"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Emphasizes a five-second neighborhood around transitions.</a:t>
            </a:r>
          </a:p>
        </p:txBody>
      </p:sp>
      <p:sp>
        <p:nvSpPr>
          <p:cNvPr name="TextBox 17" id="17"/>
          <p:cNvSpPr txBox="true"/>
          <p:nvPr/>
        </p:nvSpPr>
        <p:spPr>
          <a:xfrm rot="0">
            <a:off x="800100" y="4471416"/>
            <a:ext cx="13639800" cy="400050"/>
          </a:xfrm>
          <a:prstGeom prst="rect">
            <a:avLst/>
          </a:prstGeom>
        </p:spPr>
        <p:txBody>
          <a:bodyPr anchor="t" rtlCol="false" tIns="0" lIns="0" bIns="0" rIns="0">
            <a:spAutoFit/>
          </a:bodyPr>
          <a:lstStyle/>
          <a:p>
            <a:pPr algn="l">
              <a:lnSpc>
                <a:spcPts val="3254"/>
              </a:lnSpc>
            </a:pPr>
            <a:r>
              <a:rPr lang="en-US" b="true" sz="2325" spc="30">
                <a:solidFill>
                  <a:srgbClr val="102126"/>
                </a:solidFill>
                <a:latin typeface="Arial Bold"/>
                <a:ea typeface="Arial Bold"/>
                <a:cs typeface="Arial Bold"/>
                <a:sym typeface="Arial Bold"/>
              </a:rPr>
              <a:t>Total loss</a:t>
            </a:r>
            <a:r>
              <a:rPr lang="en-US" sz="2325" spc="30">
                <a:solidFill>
                  <a:srgbClr val="102126"/>
                </a:solidFill>
                <a:latin typeface="Arial"/>
                <a:ea typeface="Arial"/>
                <a:cs typeface="Arial"/>
                <a:sym typeface="Arial"/>
              </a:rPr>
              <a:t> = phase loss + 0.30 × smoothing loss + 0.40 × instrument loss</a:t>
            </a:r>
          </a:p>
        </p:txBody>
      </p:sp>
      <p:sp>
        <p:nvSpPr>
          <p:cNvPr name="TextBox 18" id="18"/>
          <p:cNvSpPr txBox="true"/>
          <p:nvPr/>
        </p:nvSpPr>
        <p:spPr>
          <a:xfrm rot="0">
            <a:off x="800100" y="5233416"/>
            <a:ext cx="5905500" cy="752761"/>
          </a:xfrm>
          <a:prstGeom prst="rect">
            <a:avLst/>
          </a:prstGeom>
        </p:spPr>
        <p:txBody>
          <a:bodyPr anchor="t" rtlCol="false" tIns="0" lIns="0" bIns="0" rIns="0">
            <a:spAutoFit/>
          </a:bodyPr>
          <a:lstStyle/>
          <a:p>
            <a:pPr algn="l">
              <a:lnSpc>
                <a:spcPts val="2814"/>
              </a:lnSpc>
            </a:pPr>
            <a:r>
              <a:rPr lang="en-US" b="true" sz="2100">
                <a:solidFill>
                  <a:srgbClr val="102126"/>
                </a:solidFill>
                <a:latin typeface="Arial Bold"/>
                <a:ea typeface="Arial Bold"/>
                <a:cs typeface="Arial Bold"/>
                <a:sym typeface="Arial Bold"/>
              </a:rPr>
              <a:t>Feature augmentation:</a:t>
            </a:r>
            <a:r>
              <a:rPr lang="en-US" sz="2100">
                <a:solidFill>
                  <a:srgbClr val="42585D"/>
                </a:solidFill>
                <a:latin typeface="Arial"/>
                <a:ea typeface="Arial"/>
                <a:cs typeface="Arial"/>
                <a:sym typeface="Arial"/>
              </a:rPr>
              <a:t> Gaussian noise and random feature dropout.</a:t>
            </a:r>
          </a:p>
        </p:txBody>
      </p:sp>
      <p:sp>
        <p:nvSpPr>
          <p:cNvPr name="TextBox 19" id="19"/>
          <p:cNvSpPr txBox="true"/>
          <p:nvPr/>
        </p:nvSpPr>
        <p:spPr>
          <a:xfrm rot="0">
            <a:off x="7181850" y="5233416"/>
            <a:ext cx="5905500" cy="752761"/>
          </a:xfrm>
          <a:prstGeom prst="rect">
            <a:avLst/>
          </a:prstGeom>
        </p:spPr>
        <p:txBody>
          <a:bodyPr anchor="t" rtlCol="false" tIns="0" lIns="0" bIns="0" rIns="0">
            <a:spAutoFit/>
          </a:bodyPr>
          <a:lstStyle/>
          <a:p>
            <a:pPr algn="l">
              <a:lnSpc>
                <a:spcPts val="2814"/>
              </a:lnSpc>
            </a:pPr>
            <a:r>
              <a:rPr lang="en-US" b="true" sz="2100">
                <a:solidFill>
                  <a:srgbClr val="102126"/>
                </a:solidFill>
                <a:latin typeface="Arial Bold"/>
                <a:ea typeface="Arial Bold"/>
                <a:cs typeface="Arial Bold"/>
                <a:sym typeface="Arial Bold"/>
              </a:rPr>
              <a:t>Optimization:</a:t>
            </a:r>
            <a:r>
              <a:rPr lang="en-US" sz="2100">
                <a:solidFill>
                  <a:srgbClr val="42585D"/>
                </a:solidFill>
                <a:latin typeface="Arial"/>
                <a:ea typeface="Arial"/>
                <a:cs typeface="Arial"/>
                <a:sym typeface="Arial"/>
              </a:rPr>
              <a:t> early stopping on validation mean segmental F1.</a:t>
            </a:r>
          </a:p>
        </p:txBody>
      </p:sp>
      <p:sp>
        <p:nvSpPr>
          <p:cNvPr name="AutoShape 20" id="20"/>
          <p:cNvSpPr/>
          <p:nvPr/>
        </p:nvSpPr>
        <p:spPr>
          <a:xfrm rot="0">
            <a:off x="800100" y="8039100"/>
            <a:ext cx="13639800" cy="9525"/>
          </a:xfrm>
          <a:prstGeom prst="rect">
            <a:avLst/>
          </a:prstGeom>
          <a:solidFill>
            <a:srgbClr val="061217">
              <a:alpha val="14902"/>
            </a:srgbClr>
          </a:solidFill>
        </p:spPr>
      </p:sp>
      <p:sp>
        <p:nvSpPr>
          <p:cNvPr name="TextBox 21" id="21"/>
          <p:cNvSpPr txBox="true"/>
          <p:nvPr/>
        </p:nvSpPr>
        <p:spPr>
          <a:xfrm rot="0">
            <a:off x="800100" y="7791450"/>
            <a:ext cx="250164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Sections 3.3-3.4</a:t>
            </a:r>
          </a:p>
        </p:txBody>
      </p:sp>
      <p:sp>
        <p:nvSpPr>
          <p:cNvPr name="TextBox 22" id="22"/>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23" id="23"/>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EVALUATION DISCIPLINE</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Every choice is frozen before the test set is opened</a:t>
            </a:r>
          </a:p>
        </p:txBody>
      </p:sp>
      <p:grpSp>
        <p:nvGrpSpPr>
          <p:cNvPr name="Group 8" id="8"/>
          <p:cNvGrpSpPr/>
          <p:nvPr/>
        </p:nvGrpSpPr>
        <p:grpSpPr>
          <a:xfrm rot="0">
            <a:off x="800100" y="2316099"/>
            <a:ext cx="3911536" cy="2476500"/>
            <a:chOff x="0" y="0"/>
            <a:chExt cx="5215382" cy="3302000"/>
          </a:xfrm>
        </p:grpSpPr>
        <p:sp>
          <p:nvSpPr>
            <p:cNvPr name="Freeform 9" id="9"/>
            <p:cNvSpPr/>
            <p:nvPr/>
          </p:nvSpPr>
          <p:spPr>
            <a:xfrm flipH="false" flipV="false" rot="0">
              <a:off x="0" y="0"/>
              <a:ext cx="5215382" cy="3302000"/>
            </a:xfrm>
            <a:custGeom>
              <a:avLst/>
              <a:gdLst/>
              <a:ahLst/>
              <a:cxnLst/>
              <a:rect r="r" b="b" t="t" l="l"/>
              <a:pathLst>
                <a:path h="3302000" w="5215382">
                  <a:moveTo>
                    <a:pt x="228600" y="0"/>
                  </a:moveTo>
                  <a:lnTo>
                    <a:pt x="4986782" y="0"/>
                  </a:lnTo>
                  <a:cubicBezTo>
                    <a:pt x="5113020" y="0"/>
                    <a:pt x="5215382" y="102362"/>
                    <a:pt x="5215382" y="228600"/>
                  </a:cubicBezTo>
                  <a:lnTo>
                    <a:pt x="5215382" y="3073400"/>
                  </a:lnTo>
                  <a:cubicBezTo>
                    <a:pt x="5215382" y="3199638"/>
                    <a:pt x="5113020" y="3302000"/>
                    <a:pt x="4986782" y="3302000"/>
                  </a:cubicBezTo>
                  <a:lnTo>
                    <a:pt x="228600" y="3302000"/>
                  </a:lnTo>
                  <a:cubicBezTo>
                    <a:pt x="102362" y="3302000"/>
                    <a:pt x="0" y="3199638"/>
                    <a:pt x="0" y="3073400"/>
                  </a:cubicBezTo>
                  <a:lnTo>
                    <a:pt x="0" y="228600"/>
                  </a:lnTo>
                  <a:cubicBezTo>
                    <a:pt x="0" y="102362"/>
                    <a:pt x="102362" y="0"/>
                    <a:pt x="228600" y="0"/>
                  </a:cubicBezTo>
                  <a:close/>
                </a:path>
              </a:pathLst>
            </a:custGeom>
            <a:solidFill>
              <a:srgbClr val="061217">
                <a:alpha val="0"/>
              </a:srgbClr>
            </a:solidFill>
          </p:spPr>
        </p:sp>
      </p:grpSp>
      <p:sp>
        <p:nvSpPr>
          <p:cNvPr name="AutoShape 10" id="10"/>
          <p:cNvSpPr/>
          <p:nvPr/>
        </p:nvSpPr>
        <p:spPr>
          <a:xfrm rot="0">
            <a:off x="800100" y="2316099"/>
            <a:ext cx="3911536" cy="9525"/>
          </a:xfrm>
          <a:prstGeom prst="rect">
            <a:avLst/>
          </a:prstGeom>
          <a:solidFill>
            <a:srgbClr val="061217">
              <a:alpha val="15686"/>
            </a:srgbClr>
          </a:solidFill>
        </p:spPr>
      </p:sp>
      <p:sp>
        <p:nvSpPr>
          <p:cNvPr name="AutoShape 11" id="11"/>
          <p:cNvSpPr/>
          <p:nvPr/>
        </p:nvSpPr>
        <p:spPr>
          <a:xfrm rot="0">
            <a:off x="4702112" y="2325624"/>
            <a:ext cx="9525" cy="2457450"/>
          </a:xfrm>
          <a:prstGeom prst="rect">
            <a:avLst/>
          </a:prstGeom>
          <a:solidFill>
            <a:srgbClr val="061217">
              <a:alpha val="15686"/>
            </a:srgbClr>
          </a:solidFill>
        </p:spPr>
      </p:sp>
      <p:sp>
        <p:nvSpPr>
          <p:cNvPr name="AutoShape 12" id="12"/>
          <p:cNvSpPr/>
          <p:nvPr/>
        </p:nvSpPr>
        <p:spPr>
          <a:xfrm rot="0">
            <a:off x="800100" y="4783074"/>
            <a:ext cx="3911536" cy="9525"/>
          </a:xfrm>
          <a:prstGeom prst="rect">
            <a:avLst/>
          </a:prstGeom>
          <a:solidFill>
            <a:srgbClr val="061217">
              <a:alpha val="15686"/>
            </a:srgbClr>
          </a:solidFill>
        </p:spPr>
      </p:sp>
      <p:sp>
        <p:nvSpPr>
          <p:cNvPr name="AutoShape 13" id="13"/>
          <p:cNvSpPr/>
          <p:nvPr/>
        </p:nvSpPr>
        <p:spPr>
          <a:xfrm rot="0">
            <a:off x="800100" y="2325624"/>
            <a:ext cx="9525" cy="2457450"/>
          </a:xfrm>
          <a:prstGeom prst="rect">
            <a:avLst/>
          </a:prstGeom>
          <a:solidFill>
            <a:srgbClr val="061217">
              <a:alpha val="15686"/>
            </a:srgbClr>
          </a:solidFill>
        </p:spPr>
      </p:sp>
      <p:sp>
        <p:nvSpPr>
          <p:cNvPr name="TextBox 14" id="14"/>
          <p:cNvSpPr txBox="true"/>
          <p:nvPr/>
        </p:nvSpPr>
        <p:spPr>
          <a:xfrm rot="0">
            <a:off x="1095375" y="2573274"/>
            <a:ext cx="3320986" cy="228600"/>
          </a:xfrm>
          <a:prstGeom prst="rect">
            <a:avLst/>
          </a:prstGeom>
        </p:spPr>
        <p:txBody>
          <a:bodyPr anchor="t" rtlCol="false" tIns="0" lIns="0" bIns="0" rIns="0">
            <a:spAutoFit/>
          </a:bodyPr>
          <a:lstStyle/>
          <a:p>
            <a:pPr algn="l">
              <a:lnSpc>
                <a:spcPts val="1784"/>
              </a:lnSpc>
            </a:pPr>
            <a:r>
              <a:rPr lang="en-US" b="true" sz="1275" spc="150">
                <a:solidFill>
                  <a:srgbClr val="0B9185"/>
                </a:solidFill>
                <a:latin typeface="Arial Bold"/>
                <a:ea typeface="Arial Bold"/>
                <a:cs typeface="Arial Bold"/>
                <a:sym typeface="Arial Bold"/>
              </a:rPr>
              <a:t>01 · TRAIN</a:t>
            </a:r>
          </a:p>
        </p:txBody>
      </p:sp>
      <p:sp>
        <p:nvSpPr>
          <p:cNvPr name="TextBox 15" id="15"/>
          <p:cNvSpPr txBox="true"/>
          <p:nvPr/>
        </p:nvSpPr>
        <p:spPr>
          <a:xfrm rot="0">
            <a:off x="1095375" y="3068574"/>
            <a:ext cx="3320986" cy="339471"/>
          </a:xfrm>
          <a:prstGeom prst="rect">
            <a:avLst/>
          </a:prstGeom>
        </p:spPr>
        <p:txBody>
          <a:bodyPr anchor="t" rtlCol="false" tIns="0" lIns="0" bIns="0" rIns="0">
            <a:spAutoFit/>
          </a:bodyPr>
          <a:lstStyle/>
          <a:p>
            <a:pPr algn="l">
              <a:lnSpc>
                <a:spcPts val="2673"/>
              </a:lnSpc>
            </a:pPr>
            <a:r>
              <a:rPr lang="en-US" b="true" sz="2325">
                <a:solidFill>
                  <a:srgbClr val="102126"/>
                </a:solidFill>
                <a:latin typeface="Arial Bold"/>
                <a:ea typeface="Arial Bold"/>
                <a:cs typeface="Arial Bold"/>
                <a:sym typeface="Arial Bold"/>
              </a:rPr>
              <a:t>Fit candidates</a:t>
            </a:r>
          </a:p>
        </p:txBody>
      </p:sp>
      <p:sp>
        <p:nvSpPr>
          <p:cNvPr name="TextBox 16" id="16"/>
          <p:cNvSpPr txBox="true"/>
          <p:nvPr/>
        </p:nvSpPr>
        <p:spPr>
          <a:xfrm rot="0">
            <a:off x="1095375" y="3455670"/>
            <a:ext cx="3320986"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Feature source × architecture × loss, seed 42.</a:t>
            </a:r>
          </a:p>
        </p:txBody>
      </p:sp>
      <p:sp>
        <p:nvSpPr>
          <p:cNvPr name="TextBox 17" id="17"/>
          <p:cNvSpPr txBox="true"/>
          <p:nvPr/>
        </p:nvSpPr>
        <p:spPr>
          <a:xfrm rot="0">
            <a:off x="4711636" y="3140012"/>
            <a:ext cx="952500" cy="733425"/>
          </a:xfrm>
          <a:prstGeom prst="rect">
            <a:avLst/>
          </a:prstGeom>
        </p:spPr>
        <p:txBody>
          <a:bodyPr anchor="t" rtlCol="false" tIns="0" lIns="0" bIns="0" rIns="0">
            <a:spAutoFit/>
          </a:bodyPr>
          <a:lstStyle/>
          <a:p>
            <a:pPr algn="ctr">
              <a:lnSpc>
                <a:spcPts val="6090"/>
              </a:lnSpc>
            </a:pPr>
            <a:r>
              <a:rPr lang="en-US" sz="4350">
                <a:solidFill>
                  <a:srgbClr val="648087"/>
                </a:solidFill>
                <a:latin typeface="Arial"/>
                <a:ea typeface="Arial"/>
                <a:cs typeface="Arial"/>
                <a:sym typeface="Arial"/>
              </a:rPr>
              <a:t>→</a:t>
            </a:r>
          </a:p>
        </p:txBody>
      </p:sp>
      <p:grpSp>
        <p:nvGrpSpPr>
          <p:cNvPr name="Group 18" id="18"/>
          <p:cNvGrpSpPr/>
          <p:nvPr/>
        </p:nvGrpSpPr>
        <p:grpSpPr>
          <a:xfrm rot="0">
            <a:off x="5664136" y="2316099"/>
            <a:ext cx="3911632" cy="2476500"/>
            <a:chOff x="0" y="0"/>
            <a:chExt cx="5215509" cy="3302000"/>
          </a:xfrm>
        </p:grpSpPr>
        <p:sp>
          <p:nvSpPr>
            <p:cNvPr name="Freeform 19" id="19"/>
            <p:cNvSpPr/>
            <p:nvPr/>
          </p:nvSpPr>
          <p:spPr>
            <a:xfrm flipH="false" flipV="false" rot="0">
              <a:off x="0" y="0"/>
              <a:ext cx="5215509" cy="3302000"/>
            </a:xfrm>
            <a:custGeom>
              <a:avLst/>
              <a:gdLst/>
              <a:ahLst/>
              <a:cxnLst/>
              <a:rect r="r" b="b" t="t" l="l"/>
              <a:pathLst>
                <a:path h="3302000" w="5215509">
                  <a:moveTo>
                    <a:pt x="228600" y="0"/>
                  </a:moveTo>
                  <a:lnTo>
                    <a:pt x="4986909" y="0"/>
                  </a:lnTo>
                  <a:cubicBezTo>
                    <a:pt x="5113147" y="0"/>
                    <a:pt x="5215509" y="102362"/>
                    <a:pt x="5215509" y="228600"/>
                  </a:cubicBezTo>
                  <a:lnTo>
                    <a:pt x="5215509" y="3073400"/>
                  </a:lnTo>
                  <a:cubicBezTo>
                    <a:pt x="5215509" y="3199638"/>
                    <a:pt x="5113147" y="3302000"/>
                    <a:pt x="4986909" y="3302000"/>
                  </a:cubicBezTo>
                  <a:lnTo>
                    <a:pt x="228600" y="3302000"/>
                  </a:lnTo>
                  <a:cubicBezTo>
                    <a:pt x="102362" y="3302000"/>
                    <a:pt x="0" y="3199638"/>
                    <a:pt x="0" y="3073400"/>
                  </a:cubicBezTo>
                  <a:lnTo>
                    <a:pt x="0" y="228600"/>
                  </a:lnTo>
                  <a:cubicBezTo>
                    <a:pt x="0" y="102362"/>
                    <a:pt x="102362" y="0"/>
                    <a:pt x="228600" y="0"/>
                  </a:cubicBezTo>
                  <a:close/>
                </a:path>
              </a:pathLst>
            </a:custGeom>
            <a:solidFill>
              <a:srgbClr val="061217">
                <a:alpha val="0"/>
              </a:srgbClr>
            </a:solidFill>
          </p:spPr>
        </p:sp>
      </p:grpSp>
      <p:sp>
        <p:nvSpPr>
          <p:cNvPr name="AutoShape 20" id="20"/>
          <p:cNvSpPr/>
          <p:nvPr/>
        </p:nvSpPr>
        <p:spPr>
          <a:xfrm rot="0">
            <a:off x="5664136" y="2316099"/>
            <a:ext cx="3911632" cy="9525"/>
          </a:xfrm>
          <a:prstGeom prst="rect">
            <a:avLst/>
          </a:prstGeom>
          <a:solidFill>
            <a:srgbClr val="061217">
              <a:alpha val="15686"/>
            </a:srgbClr>
          </a:solidFill>
        </p:spPr>
      </p:sp>
      <p:sp>
        <p:nvSpPr>
          <p:cNvPr name="AutoShape 21" id="21"/>
          <p:cNvSpPr/>
          <p:nvPr/>
        </p:nvSpPr>
        <p:spPr>
          <a:xfrm rot="0">
            <a:off x="9566243" y="2325624"/>
            <a:ext cx="9525" cy="2457450"/>
          </a:xfrm>
          <a:prstGeom prst="rect">
            <a:avLst/>
          </a:prstGeom>
          <a:solidFill>
            <a:srgbClr val="061217">
              <a:alpha val="15686"/>
            </a:srgbClr>
          </a:solidFill>
        </p:spPr>
      </p:sp>
      <p:sp>
        <p:nvSpPr>
          <p:cNvPr name="AutoShape 22" id="22"/>
          <p:cNvSpPr/>
          <p:nvPr/>
        </p:nvSpPr>
        <p:spPr>
          <a:xfrm rot="0">
            <a:off x="5664136" y="4783074"/>
            <a:ext cx="3911632" cy="9525"/>
          </a:xfrm>
          <a:prstGeom prst="rect">
            <a:avLst/>
          </a:prstGeom>
          <a:solidFill>
            <a:srgbClr val="061217">
              <a:alpha val="15686"/>
            </a:srgbClr>
          </a:solidFill>
        </p:spPr>
      </p:sp>
      <p:sp>
        <p:nvSpPr>
          <p:cNvPr name="AutoShape 23" id="23"/>
          <p:cNvSpPr/>
          <p:nvPr/>
        </p:nvSpPr>
        <p:spPr>
          <a:xfrm rot="0">
            <a:off x="5664136" y="2325624"/>
            <a:ext cx="9525" cy="2457450"/>
          </a:xfrm>
          <a:prstGeom prst="rect">
            <a:avLst/>
          </a:prstGeom>
          <a:solidFill>
            <a:srgbClr val="061217">
              <a:alpha val="15686"/>
            </a:srgbClr>
          </a:solidFill>
        </p:spPr>
      </p:sp>
      <p:sp>
        <p:nvSpPr>
          <p:cNvPr name="TextBox 24" id="24"/>
          <p:cNvSpPr txBox="true"/>
          <p:nvPr/>
        </p:nvSpPr>
        <p:spPr>
          <a:xfrm rot="0">
            <a:off x="5959412" y="2573274"/>
            <a:ext cx="3321082" cy="228600"/>
          </a:xfrm>
          <a:prstGeom prst="rect">
            <a:avLst/>
          </a:prstGeom>
        </p:spPr>
        <p:txBody>
          <a:bodyPr anchor="t" rtlCol="false" tIns="0" lIns="0" bIns="0" rIns="0">
            <a:spAutoFit/>
          </a:bodyPr>
          <a:lstStyle/>
          <a:p>
            <a:pPr algn="l">
              <a:lnSpc>
                <a:spcPts val="1784"/>
              </a:lnSpc>
            </a:pPr>
            <a:r>
              <a:rPr lang="en-US" b="true" sz="1275" spc="150">
                <a:solidFill>
                  <a:srgbClr val="0B9185"/>
                </a:solidFill>
                <a:latin typeface="Arial Bold"/>
                <a:ea typeface="Arial Bold"/>
                <a:cs typeface="Arial Bold"/>
                <a:sym typeface="Arial Bold"/>
              </a:rPr>
              <a:t>02 · VALIDATE</a:t>
            </a:r>
          </a:p>
        </p:txBody>
      </p:sp>
      <p:sp>
        <p:nvSpPr>
          <p:cNvPr name="TextBox 25" id="25"/>
          <p:cNvSpPr txBox="true"/>
          <p:nvPr/>
        </p:nvSpPr>
        <p:spPr>
          <a:xfrm rot="0">
            <a:off x="5959412" y="3068574"/>
            <a:ext cx="3321082" cy="339471"/>
          </a:xfrm>
          <a:prstGeom prst="rect">
            <a:avLst/>
          </a:prstGeom>
        </p:spPr>
        <p:txBody>
          <a:bodyPr anchor="t" rtlCol="false" tIns="0" lIns="0" bIns="0" rIns="0">
            <a:spAutoFit/>
          </a:bodyPr>
          <a:lstStyle/>
          <a:p>
            <a:pPr algn="l">
              <a:lnSpc>
                <a:spcPts val="2673"/>
              </a:lnSpc>
            </a:pPr>
            <a:r>
              <a:rPr lang="en-US" b="true" sz="2325">
                <a:solidFill>
                  <a:srgbClr val="102126"/>
                </a:solidFill>
                <a:latin typeface="Arial Bold"/>
                <a:ea typeface="Arial Bold"/>
                <a:cs typeface="Arial Bold"/>
                <a:sym typeface="Arial Bold"/>
              </a:rPr>
              <a:t>Select once</a:t>
            </a:r>
          </a:p>
        </p:txBody>
      </p:sp>
      <p:sp>
        <p:nvSpPr>
          <p:cNvPr name="TextBox 26" id="26"/>
          <p:cNvSpPr txBox="true"/>
          <p:nvPr/>
        </p:nvSpPr>
        <p:spPr>
          <a:xfrm rot="0">
            <a:off x="5959412" y="3455670"/>
            <a:ext cx="3321082"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Checkpoint, loss, raw vs Viterbi, tool threshold.</a:t>
            </a:r>
          </a:p>
        </p:txBody>
      </p:sp>
      <p:sp>
        <p:nvSpPr>
          <p:cNvPr name="TextBox 27" id="27"/>
          <p:cNvSpPr txBox="true"/>
          <p:nvPr/>
        </p:nvSpPr>
        <p:spPr>
          <a:xfrm rot="0">
            <a:off x="9575768" y="3140012"/>
            <a:ext cx="952500" cy="733425"/>
          </a:xfrm>
          <a:prstGeom prst="rect">
            <a:avLst/>
          </a:prstGeom>
        </p:spPr>
        <p:txBody>
          <a:bodyPr anchor="t" rtlCol="false" tIns="0" lIns="0" bIns="0" rIns="0">
            <a:spAutoFit/>
          </a:bodyPr>
          <a:lstStyle/>
          <a:p>
            <a:pPr algn="ctr">
              <a:lnSpc>
                <a:spcPts val="6090"/>
              </a:lnSpc>
            </a:pPr>
            <a:r>
              <a:rPr lang="en-US" sz="4350">
                <a:solidFill>
                  <a:srgbClr val="648087"/>
                </a:solidFill>
                <a:latin typeface="Arial"/>
                <a:ea typeface="Arial"/>
                <a:cs typeface="Arial"/>
                <a:sym typeface="Arial"/>
              </a:rPr>
              <a:t>→</a:t>
            </a:r>
          </a:p>
        </p:txBody>
      </p:sp>
      <p:grpSp>
        <p:nvGrpSpPr>
          <p:cNvPr name="Group 28" id="28"/>
          <p:cNvGrpSpPr/>
          <p:nvPr/>
        </p:nvGrpSpPr>
        <p:grpSpPr>
          <a:xfrm rot="0">
            <a:off x="10528268" y="2316099"/>
            <a:ext cx="3911536" cy="2476500"/>
            <a:chOff x="0" y="0"/>
            <a:chExt cx="5215382" cy="3302000"/>
          </a:xfrm>
        </p:grpSpPr>
        <p:sp>
          <p:nvSpPr>
            <p:cNvPr name="Freeform 29" id="29"/>
            <p:cNvSpPr/>
            <p:nvPr/>
          </p:nvSpPr>
          <p:spPr>
            <a:xfrm flipH="false" flipV="false" rot="0">
              <a:off x="0" y="0"/>
              <a:ext cx="5215382" cy="3302000"/>
            </a:xfrm>
            <a:custGeom>
              <a:avLst/>
              <a:gdLst/>
              <a:ahLst/>
              <a:cxnLst/>
              <a:rect r="r" b="b" t="t" l="l"/>
              <a:pathLst>
                <a:path h="3302000" w="5215382">
                  <a:moveTo>
                    <a:pt x="228600" y="0"/>
                  </a:moveTo>
                  <a:lnTo>
                    <a:pt x="4986782" y="0"/>
                  </a:lnTo>
                  <a:cubicBezTo>
                    <a:pt x="5113020" y="0"/>
                    <a:pt x="5215382" y="102362"/>
                    <a:pt x="5215382" y="228600"/>
                  </a:cubicBezTo>
                  <a:lnTo>
                    <a:pt x="5215382" y="3073400"/>
                  </a:lnTo>
                  <a:cubicBezTo>
                    <a:pt x="5215382" y="3199638"/>
                    <a:pt x="5113020" y="3302000"/>
                    <a:pt x="4986782" y="3302000"/>
                  </a:cubicBezTo>
                  <a:lnTo>
                    <a:pt x="228600" y="3302000"/>
                  </a:lnTo>
                  <a:cubicBezTo>
                    <a:pt x="102362" y="3302000"/>
                    <a:pt x="0" y="3199638"/>
                    <a:pt x="0" y="3073400"/>
                  </a:cubicBezTo>
                  <a:lnTo>
                    <a:pt x="0" y="228600"/>
                  </a:lnTo>
                  <a:cubicBezTo>
                    <a:pt x="0" y="102362"/>
                    <a:pt x="102362" y="0"/>
                    <a:pt x="228600" y="0"/>
                  </a:cubicBezTo>
                  <a:close/>
                </a:path>
              </a:pathLst>
            </a:custGeom>
            <a:solidFill>
              <a:srgbClr val="061217">
                <a:alpha val="0"/>
              </a:srgbClr>
            </a:solidFill>
          </p:spPr>
        </p:sp>
      </p:grpSp>
      <p:sp>
        <p:nvSpPr>
          <p:cNvPr name="AutoShape 30" id="30"/>
          <p:cNvSpPr/>
          <p:nvPr/>
        </p:nvSpPr>
        <p:spPr>
          <a:xfrm rot="0">
            <a:off x="10528268" y="2316099"/>
            <a:ext cx="3911536" cy="9525"/>
          </a:xfrm>
          <a:prstGeom prst="rect">
            <a:avLst/>
          </a:prstGeom>
          <a:solidFill>
            <a:srgbClr val="061217">
              <a:alpha val="15686"/>
            </a:srgbClr>
          </a:solidFill>
        </p:spPr>
      </p:sp>
      <p:sp>
        <p:nvSpPr>
          <p:cNvPr name="AutoShape 31" id="31"/>
          <p:cNvSpPr/>
          <p:nvPr/>
        </p:nvSpPr>
        <p:spPr>
          <a:xfrm rot="0">
            <a:off x="14430280" y="2325624"/>
            <a:ext cx="9525" cy="2457450"/>
          </a:xfrm>
          <a:prstGeom prst="rect">
            <a:avLst/>
          </a:prstGeom>
          <a:solidFill>
            <a:srgbClr val="061217">
              <a:alpha val="15686"/>
            </a:srgbClr>
          </a:solidFill>
        </p:spPr>
      </p:sp>
      <p:sp>
        <p:nvSpPr>
          <p:cNvPr name="AutoShape 32" id="32"/>
          <p:cNvSpPr/>
          <p:nvPr/>
        </p:nvSpPr>
        <p:spPr>
          <a:xfrm rot="0">
            <a:off x="10528268" y="4783074"/>
            <a:ext cx="3911536" cy="9525"/>
          </a:xfrm>
          <a:prstGeom prst="rect">
            <a:avLst/>
          </a:prstGeom>
          <a:solidFill>
            <a:srgbClr val="061217">
              <a:alpha val="15686"/>
            </a:srgbClr>
          </a:solidFill>
        </p:spPr>
      </p:sp>
      <p:sp>
        <p:nvSpPr>
          <p:cNvPr name="AutoShape 33" id="33"/>
          <p:cNvSpPr/>
          <p:nvPr/>
        </p:nvSpPr>
        <p:spPr>
          <a:xfrm rot="0">
            <a:off x="10528268" y="2325624"/>
            <a:ext cx="9525" cy="2457450"/>
          </a:xfrm>
          <a:prstGeom prst="rect">
            <a:avLst/>
          </a:prstGeom>
          <a:solidFill>
            <a:srgbClr val="061217">
              <a:alpha val="15686"/>
            </a:srgbClr>
          </a:solidFill>
        </p:spPr>
      </p:sp>
      <p:sp>
        <p:nvSpPr>
          <p:cNvPr name="TextBox 34" id="34"/>
          <p:cNvSpPr txBox="true"/>
          <p:nvPr/>
        </p:nvSpPr>
        <p:spPr>
          <a:xfrm rot="0">
            <a:off x="10823543" y="2573274"/>
            <a:ext cx="3320986" cy="228600"/>
          </a:xfrm>
          <a:prstGeom prst="rect">
            <a:avLst/>
          </a:prstGeom>
        </p:spPr>
        <p:txBody>
          <a:bodyPr anchor="t" rtlCol="false" tIns="0" lIns="0" bIns="0" rIns="0">
            <a:spAutoFit/>
          </a:bodyPr>
          <a:lstStyle/>
          <a:p>
            <a:pPr algn="l">
              <a:lnSpc>
                <a:spcPts val="1784"/>
              </a:lnSpc>
            </a:pPr>
            <a:r>
              <a:rPr lang="en-US" b="true" sz="1275" spc="150">
                <a:solidFill>
                  <a:srgbClr val="0B9185"/>
                </a:solidFill>
                <a:latin typeface="Arial Bold"/>
                <a:ea typeface="Arial Bold"/>
                <a:cs typeface="Arial Bold"/>
                <a:sym typeface="Arial Bold"/>
              </a:rPr>
              <a:t>03 · TEST</a:t>
            </a:r>
          </a:p>
        </p:txBody>
      </p:sp>
      <p:sp>
        <p:nvSpPr>
          <p:cNvPr name="TextBox 35" id="35"/>
          <p:cNvSpPr txBox="true"/>
          <p:nvPr/>
        </p:nvSpPr>
        <p:spPr>
          <a:xfrm rot="0">
            <a:off x="10823543" y="3068574"/>
            <a:ext cx="3320986" cy="339471"/>
          </a:xfrm>
          <a:prstGeom prst="rect">
            <a:avLst/>
          </a:prstGeom>
        </p:spPr>
        <p:txBody>
          <a:bodyPr anchor="t" rtlCol="false" tIns="0" lIns="0" bIns="0" rIns="0">
            <a:spAutoFit/>
          </a:bodyPr>
          <a:lstStyle/>
          <a:p>
            <a:pPr algn="l">
              <a:lnSpc>
                <a:spcPts val="2673"/>
              </a:lnSpc>
            </a:pPr>
            <a:r>
              <a:rPr lang="en-US" b="true" sz="2325">
                <a:solidFill>
                  <a:srgbClr val="102126"/>
                </a:solidFill>
                <a:latin typeface="Arial Bold"/>
                <a:ea typeface="Arial Bold"/>
                <a:cs typeface="Arial Bold"/>
                <a:sym typeface="Arial Bold"/>
              </a:rPr>
              <a:t>Evaluate once</a:t>
            </a:r>
          </a:p>
        </p:txBody>
      </p:sp>
      <p:sp>
        <p:nvSpPr>
          <p:cNvPr name="TextBox 36" id="36"/>
          <p:cNvSpPr txBox="true"/>
          <p:nvPr/>
        </p:nvSpPr>
        <p:spPr>
          <a:xfrm rot="0">
            <a:off x="10823543" y="3455670"/>
            <a:ext cx="3320986" cy="609029"/>
          </a:xfrm>
          <a:prstGeom prst="rect">
            <a:avLst/>
          </a:prstGeom>
        </p:spPr>
        <p:txBody>
          <a:bodyPr anchor="t" rtlCol="false" tIns="0" lIns="0" bIns="0" rIns="0">
            <a:spAutoFit/>
          </a:bodyPr>
          <a:lstStyle/>
          <a:p>
            <a:pPr algn="l">
              <a:lnSpc>
                <a:spcPts val="2211"/>
              </a:lnSpc>
            </a:pPr>
            <a:r>
              <a:rPr lang="en-US" sz="1650">
                <a:solidFill>
                  <a:srgbClr val="42585D"/>
                </a:solidFill>
                <a:latin typeface="Arial"/>
                <a:ea typeface="Arial"/>
                <a:cs typeface="Arial"/>
                <a:sym typeface="Arial"/>
              </a:rPr>
              <a:t>40 unseen videos; no further model selection.</a:t>
            </a:r>
          </a:p>
        </p:txBody>
      </p:sp>
      <p:sp>
        <p:nvSpPr>
          <p:cNvPr name="TextBox 37" id="37"/>
          <p:cNvSpPr txBox="true"/>
          <p:nvPr/>
        </p:nvSpPr>
        <p:spPr>
          <a:xfrm rot="0">
            <a:off x="800100" y="5230749"/>
            <a:ext cx="13639800" cy="395478"/>
          </a:xfrm>
          <a:prstGeom prst="rect">
            <a:avLst/>
          </a:prstGeom>
        </p:spPr>
        <p:txBody>
          <a:bodyPr anchor="t" rtlCol="false" tIns="0" lIns="0" bIns="0" rIns="0">
            <a:spAutoFit/>
          </a:bodyPr>
          <a:lstStyle/>
          <a:p>
            <a:pPr algn="ctr">
              <a:lnSpc>
                <a:spcPts val="2814"/>
              </a:lnSpc>
            </a:pPr>
            <a:r>
              <a:rPr lang="en-US" b="true" sz="2100">
                <a:solidFill>
                  <a:srgbClr val="102126"/>
                </a:solidFill>
                <a:latin typeface="Arial Bold"/>
                <a:ea typeface="Arial Bold"/>
                <a:cs typeface="Arial Bold"/>
                <a:sym typeface="Arial Bold"/>
              </a:rPr>
              <a:t>Primary validation metric:</a:t>
            </a:r>
            <a:r>
              <a:rPr lang="en-US" sz="2100">
                <a:solidFill>
                  <a:srgbClr val="D4E0E1"/>
                </a:solidFill>
                <a:latin typeface="Arial"/>
                <a:ea typeface="Arial"/>
                <a:cs typeface="Arial"/>
                <a:sym typeface="Arial"/>
              </a:rPr>
              <a:t> mean of F1@10, F1@25, and F1@50.</a:t>
            </a:r>
          </a:p>
        </p:txBody>
      </p:sp>
      <p:sp>
        <p:nvSpPr>
          <p:cNvPr name="AutoShape 38" id="38"/>
          <p:cNvSpPr/>
          <p:nvPr/>
        </p:nvSpPr>
        <p:spPr>
          <a:xfrm rot="0">
            <a:off x="800100" y="8039100"/>
            <a:ext cx="13639800" cy="9525"/>
          </a:xfrm>
          <a:prstGeom prst="rect">
            <a:avLst/>
          </a:prstGeom>
          <a:solidFill>
            <a:srgbClr val="061217">
              <a:alpha val="14902"/>
            </a:srgbClr>
          </a:solidFill>
        </p:spPr>
      </p:sp>
      <p:sp>
        <p:nvSpPr>
          <p:cNvPr name="TextBox 39" id="39"/>
          <p:cNvSpPr txBox="true"/>
          <p:nvPr/>
        </p:nvSpPr>
        <p:spPr>
          <a:xfrm rot="0">
            <a:off x="800100" y="7791450"/>
            <a:ext cx="2891028"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Sections 3.4.3 and 4.6</a:t>
            </a:r>
          </a:p>
        </p:txBody>
      </p:sp>
      <p:sp>
        <p:nvSpPr>
          <p:cNvPr name="TextBox 40" id="40"/>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41" id="41"/>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WHAT COUNTS AS A GOOD PREDICTION?</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Temporal metrics expose errors that accuracy can hide</a:t>
            </a:r>
          </a:p>
        </p:txBody>
      </p:sp>
      <p:sp>
        <p:nvSpPr>
          <p:cNvPr name="AutoShape 8" id="8"/>
          <p:cNvSpPr/>
          <p:nvPr/>
        </p:nvSpPr>
        <p:spPr>
          <a:xfrm rot="0">
            <a:off x="800100" y="1944624"/>
            <a:ext cx="6572250" cy="47625"/>
          </a:xfrm>
          <a:prstGeom prst="rect">
            <a:avLst/>
          </a:prstGeom>
          <a:solidFill>
            <a:srgbClr val="C77C08"/>
          </a:solidFill>
        </p:spPr>
      </p:sp>
      <p:sp>
        <p:nvSpPr>
          <p:cNvPr name="TextBox 9" id="9"/>
          <p:cNvSpPr txBox="true"/>
          <p:nvPr/>
        </p:nvSpPr>
        <p:spPr>
          <a:xfrm rot="0">
            <a:off x="800100" y="2220849"/>
            <a:ext cx="6572250" cy="339471"/>
          </a:xfrm>
          <a:prstGeom prst="rect">
            <a:avLst/>
          </a:prstGeom>
        </p:spPr>
        <p:txBody>
          <a:bodyPr anchor="t" rtlCol="false" tIns="0" lIns="0" bIns="0" rIns="0">
            <a:spAutoFit/>
          </a:bodyPr>
          <a:lstStyle/>
          <a:p>
            <a:pPr algn="l">
              <a:lnSpc>
                <a:spcPts val="2673"/>
              </a:lnSpc>
            </a:pPr>
            <a:r>
              <a:rPr lang="en-US" b="true" sz="2325">
                <a:solidFill>
                  <a:srgbClr val="102126"/>
                </a:solidFill>
                <a:latin typeface="Arial Bold"/>
                <a:ea typeface="Arial Bold"/>
                <a:cs typeface="Arial Bold"/>
                <a:sym typeface="Arial Bold"/>
              </a:rPr>
              <a:t>Frame-level view</a:t>
            </a:r>
          </a:p>
        </p:txBody>
      </p:sp>
      <p:sp>
        <p:nvSpPr>
          <p:cNvPr name="TextBox 10" id="10"/>
          <p:cNvSpPr txBox="true"/>
          <p:nvPr/>
        </p:nvSpPr>
        <p:spPr>
          <a:xfrm rot="0">
            <a:off x="800100" y="2607945"/>
            <a:ext cx="6572250" cy="634651"/>
          </a:xfrm>
          <a:prstGeom prst="rect">
            <a:avLst/>
          </a:prstGeom>
        </p:spPr>
        <p:txBody>
          <a:bodyPr anchor="t" rtlCol="false" tIns="0" lIns="0" bIns="0" rIns="0">
            <a:spAutoFit/>
          </a:bodyPr>
          <a:lstStyle/>
          <a:p>
            <a:pPr algn="l">
              <a:lnSpc>
                <a:spcPts val="2311"/>
              </a:lnSpc>
            </a:pPr>
            <a:r>
              <a:rPr lang="en-US" sz="1725">
                <a:solidFill>
                  <a:srgbClr val="42585D"/>
                </a:solidFill>
                <a:latin typeface="Arial"/>
                <a:ea typeface="Arial"/>
                <a:cs typeface="Arial"/>
                <a:sym typeface="Arial"/>
              </a:rPr>
              <a:t>Accuracy, macro precision, macro recall, macro F1, and macro Jaccard.</a:t>
            </a:r>
          </a:p>
        </p:txBody>
      </p:sp>
      <p:sp>
        <p:nvSpPr>
          <p:cNvPr name="TextBox 11" id="11"/>
          <p:cNvSpPr txBox="true"/>
          <p:nvPr/>
        </p:nvSpPr>
        <p:spPr>
          <a:xfrm rot="0">
            <a:off x="800100" y="3509200"/>
            <a:ext cx="1047750" cy="209550"/>
          </a:xfrm>
          <a:prstGeom prst="rect">
            <a:avLst/>
          </a:prstGeom>
        </p:spPr>
        <p:txBody>
          <a:bodyPr anchor="t" rtlCol="false" tIns="0" lIns="0" bIns="0" rIns="0">
            <a:spAutoFit/>
          </a:bodyPr>
          <a:lstStyle/>
          <a:p>
            <a:pPr algn="l">
              <a:lnSpc>
                <a:spcPts val="1679"/>
              </a:lnSpc>
            </a:pPr>
            <a:r>
              <a:rPr lang="en-US" sz="1200">
                <a:solidFill>
                  <a:srgbClr val="60767B"/>
                </a:solidFill>
                <a:latin typeface="Arial"/>
                <a:ea typeface="Arial"/>
                <a:cs typeface="Arial"/>
                <a:sym typeface="Arial"/>
              </a:rPr>
              <a:t>Ground truth</a:t>
            </a:r>
          </a:p>
        </p:txBody>
      </p:sp>
      <p:grpSp>
        <p:nvGrpSpPr>
          <p:cNvPr name="Group 12" id="12"/>
          <p:cNvGrpSpPr/>
          <p:nvPr/>
        </p:nvGrpSpPr>
        <p:grpSpPr>
          <a:xfrm rot="0">
            <a:off x="1990725" y="3490150"/>
            <a:ext cx="2129885" cy="285750"/>
            <a:chOff x="0" y="0"/>
            <a:chExt cx="2839847" cy="381000"/>
          </a:xfrm>
        </p:grpSpPr>
        <p:sp>
          <p:nvSpPr>
            <p:cNvPr name="Freeform 13" id="13"/>
            <p:cNvSpPr/>
            <p:nvPr/>
          </p:nvSpPr>
          <p:spPr>
            <a:xfrm flipH="false" flipV="false" rot="0">
              <a:off x="0" y="0"/>
              <a:ext cx="2839847" cy="381000"/>
            </a:xfrm>
            <a:custGeom>
              <a:avLst/>
              <a:gdLst/>
              <a:ahLst/>
              <a:cxnLst/>
              <a:rect r="r" b="b" t="t" l="l"/>
              <a:pathLst>
                <a:path h="381000" w="2839847">
                  <a:moveTo>
                    <a:pt x="63500" y="0"/>
                  </a:moveTo>
                  <a:lnTo>
                    <a:pt x="2776347" y="0"/>
                  </a:lnTo>
                  <a:cubicBezTo>
                    <a:pt x="2811399" y="0"/>
                    <a:pt x="2839847" y="28448"/>
                    <a:pt x="2839847" y="63500"/>
                  </a:cubicBezTo>
                  <a:lnTo>
                    <a:pt x="2839847" y="317500"/>
                  </a:lnTo>
                  <a:cubicBezTo>
                    <a:pt x="2839847" y="352552"/>
                    <a:pt x="2811399" y="381000"/>
                    <a:pt x="2776347" y="381000"/>
                  </a:cubicBezTo>
                  <a:lnTo>
                    <a:pt x="63500" y="381000"/>
                  </a:lnTo>
                  <a:cubicBezTo>
                    <a:pt x="28448" y="381000"/>
                    <a:pt x="0" y="352552"/>
                    <a:pt x="0" y="317500"/>
                  </a:cubicBezTo>
                  <a:lnTo>
                    <a:pt x="0" y="63500"/>
                  </a:lnTo>
                  <a:cubicBezTo>
                    <a:pt x="0" y="28448"/>
                    <a:pt x="28448" y="0"/>
                    <a:pt x="63500" y="0"/>
                  </a:cubicBezTo>
                  <a:close/>
                </a:path>
              </a:pathLst>
            </a:custGeom>
            <a:solidFill>
              <a:srgbClr val="72D4E9"/>
            </a:solidFill>
          </p:spPr>
        </p:sp>
      </p:grpSp>
      <p:grpSp>
        <p:nvGrpSpPr>
          <p:cNvPr name="Group 14" id="14"/>
          <p:cNvGrpSpPr/>
          <p:nvPr/>
        </p:nvGrpSpPr>
        <p:grpSpPr>
          <a:xfrm rot="0">
            <a:off x="4149185" y="3490150"/>
            <a:ext cx="1064895" cy="285750"/>
            <a:chOff x="0" y="0"/>
            <a:chExt cx="1419860" cy="381000"/>
          </a:xfrm>
        </p:grpSpPr>
        <p:sp>
          <p:nvSpPr>
            <p:cNvPr name="Freeform 15" id="15"/>
            <p:cNvSpPr/>
            <p:nvPr/>
          </p:nvSpPr>
          <p:spPr>
            <a:xfrm flipH="false" flipV="false" rot="0">
              <a:off x="0" y="0"/>
              <a:ext cx="1419860" cy="381000"/>
            </a:xfrm>
            <a:custGeom>
              <a:avLst/>
              <a:gdLst/>
              <a:ahLst/>
              <a:cxnLst/>
              <a:rect r="r" b="b" t="t" l="l"/>
              <a:pathLst>
                <a:path h="381000" w="1419860">
                  <a:moveTo>
                    <a:pt x="63500" y="0"/>
                  </a:moveTo>
                  <a:lnTo>
                    <a:pt x="1356360" y="0"/>
                  </a:lnTo>
                  <a:cubicBezTo>
                    <a:pt x="1391412" y="0"/>
                    <a:pt x="1419860" y="28448"/>
                    <a:pt x="1419860" y="63500"/>
                  </a:cubicBezTo>
                  <a:lnTo>
                    <a:pt x="1419860" y="317500"/>
                  </a:lnTo>
                  <a:cubicBezTo>
                    <a:pt x="1419860" y="352552"/>
                    <a:pt x="1391412" y="381000"/>
                    <a:pt x="1356360" y="381000"/>
                  </a:cubicBezTo>
                  <a:lnTo>
                    <a:pt x="63500" y="381000"/>
                  </a:lnTo>
                  <a:cubicBezTo>
                    <a:pt x="28448" y="381000"/>
                    <a:pt x="0" y="352552"/>
                    <a:pt x="0" y="317500"/>
                  </a:cubicBezTo>
                  <a:lnTo>
                    <a:pt x="0" y="63500"/>
                  </a:lnTo>
                  <a:cubicBezTo>
                    <a:pt x="0" y="28448"/>
                    <a:pt x="28448" y="0"/>
                    <a:pt x="63500" y="0"/>
                  </a:cubicBezTo>
                  <a:close/>
                </a:path>
              </a:pathLst>
            </a:custGeom>
            <a:solidFill>
              <a:srgbClr val="F2C057"/>
            </a:solidFill>
          </p:spPr>
        </p:sp>
      </p:grpSp>
      <p:grpSp>
        <p:nvGrpSpPr>
          <p:cNvPr name="Group 16" id="16"/>
          <p:cNvGrpSpPr/>
          <p:nvPr/>
        </p:nvGrpSpPr>
        <p:grpSpPr>
          <a:xfrm rot="0">
            <a:off x="5242655" y="3490150"/>
            <a:ext cx="2129695" cy="285750"/>
            <a:chOff x="0" y="0"/>
            <a:chExt cx="2839593" cy="381000"/>
          </a:xfrm>
        </p:grpSpPr>
        <p:sp>
          <p:nvSpPr>
            <p:cNvPr name="Freeform 17" id="17"/>
            <p:cNvSpPr/>
            <p:nvPr/>
          </p:nvSpPr>
          <p:spPr>
            <a:xfrm flipH="false" flipV="false" rot="0">
              <a:off x="0" y="0"/>
              <a:ext cx="2839593" cy="381000"/>
            </a:xfrm>
            <a:custGeom>
              <a:avLst/>
              <a:gdLst/>
              <a:ahLst/>
              <a:cxnLst/>
              <a:rect r="r" b="b" t="t" l="l"/>
              <a:pathLst>
                <a:path h="381000" w="2839593">
                  <a:moveTo>
                    <a:pt x="63500" y="0"/>
                  </a:moveTo>
                  <a:lnTo>
                    <a:pt x="2776093" y="0"/>
                  </a:lnTo>
                  <a:cubicBezTo>
                    <a:pt x="2811145" y="0"/>
                    <a:pt x="2839593" y="28448"/>
                    <a:pt x="2839593" y="63500"/>
                  </a:cubicBezTo>
                  <a:lnTo>
                    <a:pt x="2839593" y="317500"/>
                  </a:lnTo>
                  <a:cubicBezTo>
                    <a:pt x="2839593" y="352552"/>
                    <a:pt x="2811145" y="381000"/>
                    <a:pt x="2776093" y="381000"/>
                  </a:cubicBezTo>
                  <a:lnTo>
                    <a:pt x="63500" y="381000"/>
                  </a:lnTo>
                  <a:cubicBezTo>
                    <a:pt x="28448" y="381000"/>
                    <a:pt x="0" y="352552"/>
                    <a:pt x="0" y="317500"/>
                  </a:cubicBezTo>
                  <a:lnTo>
                    <a:pt x="0" y="63500"/>
                  </a:lnTo>
                  <a:cubicBezTo>
                    <a:pt x="0" y="28448"/>
                    <a:pt x="28448" y="0"/>
                    <a:pt x="63500" y="0"/>
                  </a:cubicBezTo>
                  <a:close/>
                </a:path>
              </a:pathLst>
            </a:custGeom>
            <a:solidFill>
              <a:srgbClr val="F18C80"/>
            </a:solidFill>
          </p:spPr>
        </p:sp>
      </p:grpSp>
      <p:sp>
        <p:nvSpPr>
          <p:cNvPr name="TextBox 18" id="18"/>
          <p:cNvSpPr txBox="true"/>
          <p:nvPr/>
        </p:nvSpPr>
        <p:spPr>
          <a:xfrm rot="0">
            <a:off x="800100" y="3909250"/>
            <a:ext cx="1047750" cy="209550"/>
          </a:xfrm>
          <a:prstGeom prst="rect">
            <a:avLst/>
          </a:prstGeom>
        </p:spPr>
        <p:txBody>
          <a:bodyPr anchor="t" rtlCol="false" tIns="0" lIns="0" bIns="0" rIns="0">
            <a:spAutoFit/>
          </a:bodyPr>
          <a:lstStyle/>
          <a:p>
            <a:pPr algn="l">
              <a:lnSpc>
                <a:spcPts val="1679"/>
              </a:lnSpc>
            </a:pPr>
            <a:r>
              <a:rPr lang="en-US" sz="1200">
                <a:solidFill>
                  <a:srgbClr val="60767B"/>
                </a:solidFill>
                <a:latin typeface="Arial"/>
                <a:ea typeface="Arial"/>
                <a:cs typeface="Arial"/>
                <a:sym typeface="Arial"/>
              </a:rPr>
              <a:t>Prediction</a:t>
            </a:r>
          </a:p>
        </p:txBody>
      </p:sp>
      <p:grpSp>
        <p:nvGrpSpPr>
          <p:cNvPr name="Group 19" id="19"/>
          <p:cNvGrpSpPr/>
          <p:nvPr/>
        </p:nvGrpSpPr>
        <p:grpSpPr>
          <a:xfrm rot="0">
            <a:off x="1990725" y="3890200"/>
            <a:ext cx="1790891" cy="285750"/>
            <a:chOff x="0" y="0"/>
            <a:chExt cx="2387854" cy="381000"/>
          </a:xfrm>
        </p:grpSpPr>
        <p:sp>
          <p:nvSpPr>
            <p:cNvPr name="Freeform 20" id="20"/>
            <p:cNvSpPr/>
            <p:nvPr/>
          </p:nvSpPr>
          <p:spPr>
            <a:xfrm flipH="false" flipV="false" rot="0">
              <a:off x="0" y="0"/>
              <a:ext cx="2387854" cy="381000"/>
            </a:xfrm>
            <a:custGeom>
              <a:avLst/>
              <a:gdLst/>
              <a:ahLst/>
              <a:cxnLst/>
              <a:rect r="r" b="b" t="t" l="l"/>
              <a:pathLst>
                <a:path h="381000" w="2387854">
                  <a:moveTo>
                    <a:pt x="63500" y="0"/>
                  </a:moveTo>
                  <a:lnTo>
                    <a:pt x="2324354" y="0"/>
                  </a:lnTo>
                  <a:cubicBezTo>
                    <a:pt x="2359406" y="0"/>
                    <a:pt x="2387854" y="28448"/>
                    <a:pt x="2387854" y="63500"/>
                  </a:cubicBezTo>
                  <a:lnTo>
                    <a:pt x="2387854" y="317500"/>
                  </a:lnTo>
                  <a:cubicBezTo>
                    <a:pt x="2387854" y="352552"/>
                    <a:pt x="2359406" y="381000"/>
                    <a:pt x="2324354" y="381000"/>
                  </a:cubicBezTo>
                  <a:lnTo>
                    <a:pt x="63500" y="381000"/>
                  </a:lnTo>
                  <a:cubicBezTo>
                    <a:pt x="28448" y="381000"/>
                    <a:pt x="0" y="352552"/>
                    <a:pt x="0" y="317500"/>
                  </a:cubicBezTo>
                  <a:lnTo>
                    <a:pt x="0" y="63500"/>
                  </a:lnTo>
                  <a:cubicBezTo>
                    <a:pt x="0" y="28448"/>
                    <a:pt x="28448" y="0"/>
                    <a:pt x="63500" y="0"/>
                  </a:cubicBezTo>
                  <a:close/>
                </a:path>
              </a:pathLst>
            </a:custGeom>
            <a:solidFill>
              <a:srgbClr val="72D4E9"/>
            </a:solidFill>
          </p:spPr>
        </p:sp>
      </p:grpSp>
      <p:grpSp>
        <p:nvGrpSpPr>
          <p:cNvPr name="Group 21" id="21"/>
          <p:cNvGrpSpPr/>
          <p:nvPr/>
        </p:nvGrpSpPr>
        <p:grpSpPr>
          <a:xfrm rot="0">
            <a:off x="3810190" y="3890200"/>
            <a:ext cx="158020" cy="285750"/>
            <a:chOff x="0" y="0"/>
            <a:chExt cx="210693" cy="381000"/>
          </a:xfrm>
        </p:grpSpPr>
        <p:sp>
          <p:nvSpPr>
            <p:cNvPr name="Freeform 22" id="22"/>
            <p:cNvSpPr/>
            <p:nvPr/>
          </p:nvSpPr>
          <p:spPr>
            <a:xfrm flipH="false" flipV="false" rot="0">
              <a:off x="0" y="0"/>
              <a:ext cx="210693" cy="381000"/>
            </a:xfrm>
            <a:custGeom>
              <a:avLst/>
              <a:gdLst/>
              <a:ahLst/>
              <a:cxnLst/>
              <a:rect r="r" b="b" t="t" l="l"/>
              <a:pathLst>
                <a:path h="381000" w="210693">
                  <a:moveTo>
                    <a:pt x="63500" y="0"/>
                  </a:moveTo>
                  <a:lnTo>
                    <a:pt x="147193" y="0"/>
                  </a:lnTo>
                  <a:cubicBezTo>
                    <a:pt x="182245" y="0"/>
                    <a:pt x="210693" y="28448"/>
                    <a:pt x="210693" y="63500"/>
                  </a:cubicBezTo>
                  <a:lnTo>
                    <a:pt x="210693" y="317500"/>
                  </a:lnTo>
                  <a:cubicBezTo>
                    <a:pt x="210693" y="352552"/>
                    <a:pt x="182245" y="381000"/>
                    <a:pt x="147193" y="381000"/>
                  </a:cubicBezTo>
                  <a:lnTo>
                    <a:pt x="63500" y="381000"/>
                  </a:lnTo>
                  <a:cubicBezTo>
                    <a:pt x="28448" y="381000"/>
                    <a:pt x="0" y="352552"/>
                    <a:pt x="0" y="317500"/>
                  </a:cubicBezTo>
                  <a:lnTo>
                    <a:pt x="0" y="63500"/>
                  </a:lnTo>
                  <a:cubicBezTo>
                    <a:pt x="0" y="28448"/>
                    <a:pt x="28448" y="0"/>
                    <a:pt x="63500" y="0"/>
                  </a:cubicBezTo>
                  <a:close/>
                </a:path>
              </a:pathLst>
            </a:custGeom>
            <a:solidFill>
              <a:srgbClr val="FB7185"/>
            </a:solidFill>
          </p:spPr>
        </p:sp>
      </p:grpSp>
      <p:grpSp>
        <p:nvGrpSpPr>
          <p:cNvPr name="Group 23" id="23"/>
          <p:cNvGrpSpPr/>
          <p:nvPr/>
        </p:nvGrpSpPr>
        <p:grpSpPr>
          <a:xfrm rot="0">
            <a:off x="3996785" y="3890200"/>
            <a:ext cx="158020" cy="285750"/>
            <a:chOff x="0" y="0"/>
            <a:chExt cx="210693" cy="381000"/>
          </a:xfrm>
        </p:grpSpPr>
        <p:sp>
          <p:nvSpPr>
            <p:cNvPr name="Freeform 24" id="24"/>
            <p:cNvSpPr/>
            <p:nvPr/>
          </p:nvSpPr>
          <p:spPr>
            <a:xfrm flipH="false" flipV="false" rot="0">
              <a:off x="0" y="0"/>
              <a:ext cx="210693" cy="381000"/>
            </a:xfrm>
            <a:custGeom>
              <a:avLst/>
              <a:gdLst/>
              <a:ahLst/>
              <a:cxnLst/>
              <a:rect r="r" b="b" t="t" l="l"/>
              <a:pathLst>
                <a:path h="381000" w="210693">
                  <a:moveTo>
                    <a:pt x="63500" y="0"/>
                  </a:moveTo>
                  <a:lnTo>
                    <a:pt x="147193" y="0"/>
                  </a:lnTo>
                  <a:cubicBezTo>
                    <a:pt x="182245" y="0"/>
                    <a:pt x="210693" y="28448"/>
                    <a:pt x="210693" y="63500"/>
                  </a:cubicBezTo>
                  <a:lnTo>
                    <a:pt x="210693" y="317500"/>
                  </a:lnTo>
                  <a:cubicBezTo>
                    <a:pt x="210693" y="352552"/>
                    <a:pt x="182245" y="381000"/>
                    <a:pt x="147193" y="381000"/>
                  </a:cubicBezTo>
                  <a:lnTo>
                    <a:pt x="63500" y="381000"/>
                  </a:lnTo>
                  <a:cubicBezTo>
                    <a:pt x="28448" y="381000"/>
                    <a:pt x="0" y="352552"/>
                    <a:pt x="0" y="317500"/>
                  </a:cubicBezTo>
                  <a:lnTo>
                    <a:pt x="0" y="63500"/>
                  </a:lnTo>
                  <a:cubicBezTo>
                    <a:pt x="0" y="28448"/>
                    <a:pt x="28448" y="0"/>
                    <a:pt x="63500" y="0"/>
                  </a:cubicBezTo>
                  <a:close/>
                </a:path>
              </a:pathLst>
            </a:custGeom>
            <a:solidFill>
              <a:srgbClr val="72D4E9"/>
            </a:solidFill>
          </p:spPr>
        </p:sp>
      </p:grpSp>
      <p:grpSp>
        <p:nvGrpSpPr>
          <p:cNvPr name="Group 25" id="25"/>
          <p:cNvGrpSpPr/>
          <p:nvPr/>
        </p:nvGrpSpPr>
        <p:grpSpPr>
          <a:xfrm rot="0">
            <a:off x="4183380" y="3890200"/>
            <a:ext cx="1053370" cy="285750"/>
            <a:chOff x="0" y="0"/>
            <a:chExt cx="1404493" cy="381000"/>
          </a:xfrm>
        </p:grpSpPr>
        <p:sp>
          <p:nvSpPr>
            <p:cNvPr name="Freeform 26" id="26"/>
            <p:cNvSpPr/>
            <p:nvPr/>
          </p:nvSpPr>
          <p:spPr>
            <a:xfrm flipH="false" flipV="false" rot="0">
              <a:off x="0" y="0"/>
              <a:ext cx="1404493" cy="381000"/>
            </a:xfrm>
            <a:custGeom>
              <a:avLst/>
              <a:gdLst/>
              <a:ahLst/>
              <a:cxnLst/>
              <a:rect r="r" b="b" t="t" l="l"/>
              <a:pathLst>
                <a:path h="381000" w="1404493">
                  <a:moveTo>
                    <a:pt x="63500" y="0"/>
                  </a:moveTo>
                  <a:lnTo>
                    <a:pt x="1340993" y="0"/>
                  </a:lnTo>
                  <a:cubicBezTo>
                    <a:pt x="1376045" y="0"/>
                    <a:pt x="1404493" y="28448"/>
                    <a:pt x="1404493" y="63500"/>
                  </a:cubicBezTo>
                  <a:lnTo>
                    <a:pt x="1404493" y="317500"/>
                  </a:lnTo>
                  <a:cubicBezTo>
                    <a:pt x="1404493" y="352552"/>
                    <a:pt x="1376045" y="381000"/>
                    <a:pt x="1340993" y="381000"/>
                  </a:cubicBezTo>
                  <a:lnTo>
                    <a:pt x="63500" y="381000"/>
                  </a:lnTo>
                  <a:cubicBezTo>
                    <a:pt x="28448" y="381000"/>
                    <a:pt x="0" y="352552"/>
                    <a:pt x="0" y="317500"/>
                  </a:cubicBezTo>
                  <a:lnTo>
                    <a:pt x="0" y="63500"/>
                  </a:lnTo>
                  <a:cubicBezTo>
                    <a:pt x="0" y="28448"/>
                    <a:pt x="28448" y="0"/>
                    <a:pt x="63500" y="0"/>
                  </a:cubicBezTo>
                  <a:close/>
                </a:path>
              </a:pathLst>
            </a:custGeom>
            <a:solidFill>
              <a:srgbClr val="F2C057"/>
            </a:solidFill>
          </p:spPr>
        </p:sp>
      </p:grpSp>
      <p:grpSp>
        <p:nvGrpSpPr>
          <p:cNvPr name="Group 27" id="27"/>
          <p:cNvGrpSpPr/>
          <p:nvPr/>
        </p:nvGrpSpPr>
        <p:grpSpPr>
          <a:xfrm rot="0">
            <a:off x="5265420" y="3890200"/>
            <a:ext cx="2106930" cy="285750"/>
            <a:chOff x="0" y="0"/>
            <a:chExt cx="2809240" cy="381000"/>
          </a:xfrm>
        </p:grpSpPr>
        <p:sp>
          <p:nvSpPr>
            <p:cNvPr name="Freeform 28" id="28"/>
            <p:cNvSpPr/>
            <p:nvPr/>
          </p:nvSpPr>
          <p:spPr>
            <a:xfrm flipH="false" flipV="false" rot="0">
              <a:off x="0" y="0"/>
              <a:ext cx="2809240" cy="381000"/>
            </a:xfrm>
            <a:custGeom>
              <a:avLst/>
              <a:gdLst/>
              <a:ahLst/>
              <a:cxnLst/>
              <a:rect r="r" b="b" t="t" l="l"/>
              <a:pathLst>
                <a:path h="381000" w="2809240">
                  <a:moveTo>
                    <a:pt x="63500" y="0"/>
                  </a:moveTo>
                  <a:lnTo>
                    <a:pt x="2745740" y="0"/>
                  </a:lnTo>
                  <a:cubicBezTo>
                    <a:pt x="2780792" y="0"/>
                    <a:pt x="2809240" y="28448"/>
                    <a:pt x="2809240" y="63500"/>
                  </a:cubicBezTo>
                  <a:lnTo>
                    <a:pt x="2809240" y="317500"/>
                  </a:lnTo>
                  <a:cubicBezTo>
                    <a:pt x="2809240" y="352552"/>
                    <a:pt x="2780792" y="381000"/>
                    <a:pt x="2745740" y="381000"/>
                  </a:cubicBezTo>
                  <a:lnTo>
                    <a:pt x="63500" y="381000"/>
                  </a:lnTo>
                  <a:cubicBezTo>
                    <a:pt x="28448" y="381000"/>
                    <a:pt x="0" y="352552"/>
                    <a:pt x="0" y="317500"/>
                  </a:cubicBezTo>
                  <a:lnTo>
                    <a:pt x="0" y="63500"/>
                  </a:lnTo>
                  <a:cubicBezTo>
                    <a:pt x="0" y="28448"/>
                    <a:pt x="28448" y="0"/>
                    <a:pt x="63500" y="0"/>
                  </a:cubicBezTo>
                  <a:close/>
                </a:path>
              </a:pathLst>
            </a:custGeom>
            <a:solidFill>
              <a:srgbClr val="F18C80"/>
            </a:solidFill>
          </p:spPr>
        </p:sp>
      </p:grpSp>
      <p:sp>
        <p:nvSpPr>
          <p:cNvPr name="AutoShape 29" id="29"/>
          <p:cNvSpPr/>
          <p:nvPr/>
        </p:nvSpPr>
        <p:spPr>
          <a:xfrm rot="0">
            <a:off x="7867650" y="1944624"/>
            <a:ext cx="6572250" cy="47625"/>
          </a:xfrm>
          <a:prstGeom prst="rect">
            <a:avLst/>
          </a:prstGeom>
          <a:solidFill>
            <a:srgbClr val="0B9185"/>
          </a:solidFill>
        </p:spPr>
      </p:sp>
      <p:sp>
        <p:nvSpPr>
          <p:cNvPr name="TextBox 30" id="30"/>
          <p:cNvSpPr txBox="true"/>
          <p:nvPr/>
        </p:nvSpPr>
        <p:spPr>
          <a:xfrm rot="0">
            <a:off x="7867650" y="2220849"/>
            <a:ext cx="6572250" cy="339471"/>
          </a:xfrm>
          <a:prstGeom prst="rect">
            <a:avLst/>
          </a:prstGeom>
        </p:spPr>
        <p:txBody>
          <a:bodyPr anchor="t" rtlCol="false" tIns="0" lIns="0" bIns="0" rIns="0">
            <a:spAutoFit/>
          </a:bodyPr>
          <a:lstStyle/>
          <a:p>
            <a:pPr algn="l">
              <a:lnSpc>
                <a:spcPts val="2673"/>
              </a:lnSpc>
            </a:pPr>
            <a:r>
              <a:rPr lang="en-US" b="true" sz="2325">
                <a:solidFill>
                  <a:srgbClr val="102126"/>
                </a:solidFill>
                <a:latin typeface="Arial Bold"/>
                <a:ea typeface="Arial Bold"/>
                <a:cs typeface="Arial Bold"/>
                <a:sym typeface="Arial Bold"/>
              </a:rPr>
              <a:t>Segment-level view</a:t>
            </a:r>
          </a:p>
        </p:txBody>
      </p:sp>
      <p:sp>
        <p:nvSpPr>
          <p:cNvPr name="TextBox 31" id="31"/>
          <p:cNvSpPr txBox="true"/>
          <p:nvPr/>
        </p:nvSpPr>
        <p:spPr>
          <a:xfrm rot="0">
            <a:off x="7867650" y="2607945"/>
            <a:ext cx="6572250" cy="634651"/>
          </a:xfrm>
          <a:prstGeom prst="rect">
            <a:avLst/>
          </a:prstGeom>
        </p:spPr>
        <p:txBody>
          <a:bodyPr anchor="t" rtlCol="false" tIns="0" lIns="0" bIns="0" rIns="0">
            <a:spAutoFit/>
          </a:bodyPr>
          <a:lstStyle/>
          <a:p>
            <a:pPr algn="l">
              <a:lnSpc>
                <a:spcPts val="2311"/>
              </a:lnSpc>
            </a:pPr>
            <a:r>
              <a:rPr lang="en-US" b="true" sz="1725">
                <a:solidFill>
                  <a:srgbClr val="102126"/>
                </a:solidFill>
                <a:latin typeface="Arial Bold"/>
                <a:ea typeface="Arial Bold"/>
                <a:cs typeface="Arial Bold"/>
                <a:sym typeface="Arial Bold"/>
              </a:rPr>
              <a:t>Edit</a:t>
            </a:r>
            <a:r>
              <a:rPr lang="en-US" sz="1725">
                <a:solidFill>
                  <a:srgbClr val="42585D"/>
                </a:solidFill>
                <a:latin typeface="Arial"/>
                <a:ea typeface="Arial"/>
                <a:cs typeface="Arial"/>
                <a:sym typeface="Arial"/>
              </a:rPr>
              <a:t> penalizes extra or missing phases. </a:t>
            </a:r>
            <a:r>
              <a:rPr lang="en-US" b="true" sz="1725">
                <a:solidFill>
                  <a:srgbClr val="102126"/>
                </a:solidFill>
                <a:latin typeface="Arial Bold"/>
                <a:ea typeface="Arial Bold"/>
                <a:cs typeface="Arial Bold"/>
                <a:sym typeface="Arial Bold"/>
              </a:rPr>
              <a:t>F1@k</a:t>
            </a:r>
            <a:r>
              <a:rPr lang="en-US" sz="1725">
                <a:solidFill>
                  <a:srgbClr val="42585D"/>
                </a:solidFill>
                <a:latin typeface="Arial"/>
                <a:ea typeface="Arial"/>
                <a:cs typeface="Arial"/>
                <a:sym typeface="Arial"/>
              </a:rPr>
              <a:t> matches predicted and real intervals by temporal IoU.</a:t>
            </a:r>
          </a:p>
        </p:txBody>
      </p:sp>
      <p:sp>
        <p:nvSpPr>
          <p:cNvPr name="TextBox 32" id="32"/>
          <p:cNvSpPr txBox="true"/>
          <p:nvPr/>
        </p:nvSpPr>
        <p:spPr>
          <a:xfrm rot="0">
            <a:off x="7867650" y="3518725"/>
            <a:ext cx="1394936" cy="581025"/>
          </a:xfrm>
          <a:prstGeom prst="rect">
            <a:avLst/>
          </a:prstGeom>
        </p:spPr>
        <p:txBody>
          <a:bodyPr anchor="t" rtlCol="false" tIns="0" lIns="0" bIns="0" rIns="0">
            <a:spAutoFit/>
          </a:bodyPr>
          <a:lstStyle/>
          <a:p>
            <a:pPr algn="l">
              <a:lnSpc>
                <a:spcPts val="4725"/>
              </a:lnSpc>
            </a:pPr>
            <a:r>
              <a:rPr lang="en-US" b="true" sz="3375">
                <a:solidFill>
                  <a:srgbClr val="102126"/>
                </a:solidFill>
                <a:latin typeface="Arial Bold"/>
                <a:ea typeface="Arial Bold"/>
                <a:cs typeface="Arial Bold"/>
                <a:sym typeface="Arial Bold"/>
              </a:rPr>
              <a:t>F1@10</a:t>
            </a:r>
          </a:p>
        </p:txBody>
      </p:sp>
      <p:sp>
        <p:nvSpPr>
          <p:cNvPr name="TextBox 33" id="33"/>
          <p:cNvSpPr txBox="true"/>
          <p:nvPr/>
        </p:nvSpPr>
        <p:spPr>
          <a:xfrm rot="0">
            <a:off x="7867650" y="4061650"/>
            <a:ext cx="1394936" cy="295275"/>
          </a:xfrm>
          <a:prstGeom prst="rect">
            <a:avLst/>
          </a:prstGeom>
        </p:spPr>
        <p:txBody>
          <a:bodyPr anchor="t" rtlCol="false" tIns="0" lIns="0" bIns="0" rIns="0">
            <a:spAutoFit/>
          </a:bodyPr>
          <a:lstStyle/>
          <a:p>
            <a:pPr algn="l">
              <a:lnSpc>
                <a:spcPts val="2025"/>
              </a:lnSpc>
            </a:pPr>
            <a:r>
              <a:rPr lang="en-US" sz="1500">
                <a:solidFill>
                  <a:srgbClr val="102126"/>
                </a:solidFill>
                <a:latin typeface="Arial"/>
                <a:ea typeface="Arial"/>
                <a:cs typeface="Arial"/>
                <a:sym typeface="Arial"/>
              </a:rPr>
              <a:t>lenient</a:t>
            </a:r>
          </a:p>
        </p:txBody>
      </p:sp>
      <p:sp>
        <p:nvSpPr>
          <p:cNvPr name="TextBox 34" id="34"/>
          <p:cNvSpPr txBox="true"/>
          <p:nvPr/>
        </p:nvSpPr>
        <p:spPr>
          <a:xfrm rot="0">
            <a:off x="9529286" y="3518725"/>
            <a:ext cx="1394936" cy="581025"/>
          </a:xfrm>
          <a:prstGeom prst="rect">
            <a:avLst/>
          </a:prstGeom>
        </p:spPr>
        <p:txBody>
          <a:bodyPr anchor="t" rtlCol="false" tIns="0" lIns="0" bIns="0" rIns="0">
            <a:spAutoFit/>
          </a:bodyPr>
          <a:lstStyle/>
          <a:p>
            <a:pPr algn="l">
              <a:lnSpc>
                <a:spcPts val="4725"/>
              </a:lnSpc>
            </a:pPr>
            <a:r>
              <a:rPr lang="en-US" b="true" sz="3375">
                <a:solidFill>
                  <a:srgbClr val="102126"/>
                </a:solidFill>
                <a:latin typeface="Arial Bold"/>
                <a:ea typeface="Arial Bold"/>
                <a:cs typeface="Arial Bold"/>
                <a:sym typeface="Arial Bold"/>
              </a:rPr>
              <a:t>F1@25</a:t>
            </a:r>
          </a:p>
        </p:txBody>
      </p:sp>
      <p:sp>
        <p:nvSpPr>
          <p:cNvPr name="TextBox 35" id="35"/>
          <p:cNvSpPr txBox="true"/>
          <p:nvPr/>
        </p:nvSpPr>
        <p:spPr>
          <a:xfrm rot="0">
            <a:off x="9529286" y="4061650"/>
            <a:ext cx="1394936" cy="295275"/>
          </a:xfrm>
          <a:prstGeom prst="rect">
            <a:avLst/>
          </a:prstGeom>
        </p:spPr>
        <p:txBody>
          <a:bodyPr anchor="t" rtlCol="false" tIns="0" lIns="0" bIns="0" rIns="0">
            <a:spAutoFit/>
          </a:bodyPr>
          <a:lstStyle/>
          <a:p>
            <a:pPr algn="l">
              <a:lnSpc>
                <a:spcPts val="2025"/>
              </a:lnSpc>
            </a:pPr>
            <a:r>
              <a:rPr lang="en-US" sz="1500">
                <a:solidFill>
                  <a:srgbClr val="102126"/>
                </a:solidFill>
                <a:latin typeface="Arial"/>
                <a:ea typeface="Arial"/>
                <a:cs typeface="Arial"/>
                <a:sym typeface="Arial"/>
              </a:rPr>
              <a:t>balanced</a:t>
            </a:r>
          </a:p>
        </p:txBody>
      </p:sp>
      <p:sp>
        <p:nvSpPr>
          <p:cNvPr name="TextBox 36" id="36"/>
          <p:cNvSpPr txBox="true"/>
          <p:nvPr/>
        </p:nvSpPr>
        <p:spPr>
          <a:xfrm rot="0">
            <a:off x="11191018" y="3518725"/>
            <a:ext cx="1394936" cy="581025"/>
          </a:xfrm>
          <a:prstGeom prst="rect">
            <a:avLst/>
          </a:prstGeom>
        </p:spPr>
        <p:txBody>
          <a:bodyPr anchor="t" rtlCol="false" tIns="0" lIns="0" bIns="0" rIns="0">
            <a:spAutoFit/>
          </a:bodyPr>
          <a:lstStyle/>
          <a:p>
            <a:pPr algn="l">
              <a:lnSpc>
                <a:spcPts val="4725"/>
              </a:lnSpc>
            </a:pPr>
            <a:r>
              <a:rPr lang="en-US" b="true" sz="3375">
                <a:solidFill>
                  <a:srgbClr val="102126"/>
                </a:solidFill>
                <a:latin typeface="Arial Bold"/>
                <a:ea typeface="Arial Bold"/>
                <a:cs typeface="Arial Bold"/>
                <a:sym typeface="Arial Bold"/>
              </a:rPr>
              <a:t>F1@50</a:t>
            </a:r>
          </a:p>
        </p:txBody>
      </p:sp>
      <p:sp>
        <p:nvSpPr>
          <p:cNvPr name="TextBox 37" id="37"/>
          <p:cNvSpPr txBox="true"/>
          <p:nvPr/>
        </p:nvSpPr>
        <p:spPr>
          <a:xfrm rot="0">
            <a:off x="11191018" y="4061650"/>
            <a:ext cx="1394936" cy="295275"/>
          </a:xfrm>
          <a:prstGeom prst="rect">
            <a:avLst/>
          </a:prstGeom>
        </p:spPr>
        <p:txBody>
          <a:bodyPr anchor="t" rtlCol="false" tIns="0" lIns="0" bIns="0" rIns="0">
            <a:spAutoFit/>
          </a:bodyPr>
          <a:lstStyle/>
          <a:p>
            <a:pPr algn="l">
              <a:lnSpc>
                <a:spcPts val="2025"/>
              </a:lnSpc>
            </a:pPr>
            <a:r>
              <a:rPr lang="en-US" sz="1500">
                <a:solidFill>
                  <a:srgbClr val="102126"/>
                </a:solidFill>
                <a:latin typeface="Arial"/>
                <a:ea typeface="Arial"/>
                <a:cs typeface="Arial"/>
                <a:sym typeface="Arial"/>
              </a:rPr>
              <a:t>strict</a:t>
            </a:r>
          </a:p>
        </p:txBody>
      </p:sp>
      <p:sp>
        <p:nvSpPr>
          <p:cNvPr name="TextBox 38" id="38"/>
          <p:cNvSpPr txBox="true"/>
          <p:nvPr/>
        </p:nvSpPr>
        <p:spPr>
          <a:xfrm rot="0">
            <a:off x="800100" y="4737926"/>
            <a:ext cx="13639800" cy="395478"/>
          </a:xfrm>
          <a:prstGeom prst="rect">
            <a:avLst/>
          </a:prstGeom>
        </p:spPr>
        <p:txBody>
          <a:bodyPr anchor="t" rtlCol="false" tIns="0" lIns="0" bIns="0" rIns="0">
            <a:spAutoFit/>
          </a:bodyPr>
          <a:lstStyle/>
          <a:p>
            <a:pPr algn="l">
              <a:lnSpc>
                <a:spcPts val="2814"/>
              </a:lnSpc>
            </a:pPr>
            <a:r>
              <a:rPr lang="en-US" b="true" sz="2100">
                <a:solidFill>
                  <a:srgbClr val="102126"/>
                </a:solidFill>
                <a:latin typeface="Arial Bold"/>
                <a:ea typeface="Arial Bold"/>
                <a:cs typeface="Arial Bold"/>
                <a:sym typeface="Arial Bold"/>
              </a:rPr>
              <a:t>Viterbi is optional:</a:t>
            </a:r>
            <a:r>
              <a:rPr lang="en-US" sz="2100">
                <a:solidFill>
                  <a:srgbClr val="42585D"/>
                </a:solidFill>
                <a:latin typeface="Arial"/>
                <a:ea typeface="Arial"/>
                <a:cs typeface="Arial"/>
                <a:sym typeface="Arial"/>
              </a:rPr>
              <a:t> validation keeps it only when it improves the temporal sequence.</a:t>
            </a:r>
          </a:p>
        </p:txBody>
      </p:sp>
      <p:sp>
        <p:nvSpPr>
          <p:cNvPr name="AutoShape 39" id="39"/>
          <p:cNvSpPr/>
          <p:nvPr/>
        </p:nvSpPr>
        <p:spPr>
          <a:xfrm rot="0">
            <a:off x="800100" y="8039100"/>
            <a:ext cx="13639800" cy="9525"/>
          </a:xfrm>
          <a:prstGeom prst="rect">
            <a:avLst/>
          </a:prstGeom>
          <a:solidFill>
            <a:srgbClr val="061217">
              <a:alpha val="14902"/>
            </a:srgbClr>
          </a:solidFill>
        </p:spPr>
      </p:sp>
      <p:sp>
        <p:nvSpPr>
          <p:cNvPr name="TextBox 40" id="40"/>
          <p:cNvSpPr txBox="true"/>
          <p:nvPr/>
        </p:nvSpPr>
        <p:spPr>
          <a:xfrm rot="0">
            <a:off x="800100" y="7791450"/>
            <a:ext cx="2096548"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Chapter 4</a:t>
            </a:r>
          </a:p>
        </p:txBody>
      </p:sp>
      <p:sp>
        <p:nvSpPr>
          <p:cNvPr name="TextBox 41" id="41"/>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42" id="42"/>
          <p:cNvSpPr txBox="true"/>
          <p:nvPr/>
        </p:nvSpPr>
        <p:spPr>
          <a:xfrm rot="0">
            <a:off x="14291500" y="8153400"/>
            <a:ext cx="148400"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270558" y="92011"/>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THE CENTRAL FINDING</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The accuracy winner is not the temporal winner</a:t>
            </a:r>
          </a:p>
        </p:txBody>
      </p:sp>
      <p:sp>
        <p:nvSpPr>
          <p:cNvPr name="TextBox 8" id="8"/>
          <p:cNvSpPr txBox="true"/>
          <p:nvPr/>
        </p:nvSpPr>
        <p:spPr>
          <a:xfrm rot="0">
            <a:off x="1676400" y="1901762"/>
            <a:ext cx="338709" cy="209550"/>
          </a:xfrm>
          <a:prstGeom prst="rect">
            <a:avLst/>
          </a:prstGeom>
        </p:spPr>
        <p:txBody>
          <a:bodyPr anchor="t" rtlCol="false" tIns="0" lIns="0" bIns="0" rIns="0">
            <a:spAutoFit/>
          </a:bodyPr>
          <a:lstStyle/>
          <a:p>
            <a:pPr algn="l">
              <a:lnSpc>
                <a:spcPts val="1679"/>
              </a:lnSpc>
            </a:pPr>
            <a:r>
              <a:rPr lang="en-US" b="true" sz="1200">
                <a:solidFill>
                  <a:srgbClr val="64748B"/>
                </a:solidFill>
                <a:latin typeface="Arial Bold"/>
                <a:ea typeface="Arial Bold"/>
                <a:cs typeface="Arial Bold"/>
                <a:sym typeface="Arial Bold"/>
              </a:rPr>
              <a:t>GRU</a:t>
            </a:r>
          </a:p>
        </p:txBody>
      </p:sp>
      <p:sp>
        <p:nvSpPr>
          <p:cNvPr name="TextBox 9" id="9"/>
          <p:cNvSpPr txBox="true"/>
          <p:nvPr/>
        </p:nvSpPr>
        <p:spPr>
          <a:xfrm rot="0">
            <a:off x="2205609" y="1901762"/>
            <a:ext cx="491109" cy="209550"/>
          </a:xfrm>
          <a:prstGeom prst="rect">
            <a:avLst/>
          </a:prstGeom>
        </p:spPr>
        <p:txBody>
          <a:bodyPr anchor="t" rtlCol="false" tIns="0" lIns="0" bIns="0" rIns="0">
            <a:spAutoFit/>
          </a:bodyPr>
          <a:lstStyle/>
          <a:p>
            <a:pPr algn="l">
              <a:lnSpc>
                <a:spcPts val="1679"/>
              </a:lnSpc>
            </a:pPr>
            <a:r>
              <a:rPr lang="en-US" b="true" sz="1200">
                <a:solidFill>
                  <a:srgbClr val="2563EB"/>
                </a:solidFill>
                <a:latin typeface="Arial Bold"/>
                <a:ea typeface="Arial Bold"/>
                <a:cs typeface="Arial Bold"/>
                <a:sym typeface="Arial Bold"/>
              </a:rPr>
              <a:t>BiGRU</a:t>
            </a:r>
          </a:p>
        </p:txBody>
      </p:sp>
      <p:sp>
        <p:nvSpPr>
          <p:cNvPr name="TextBox 10" id="10"/>
          <p:cNvSpPr txBox="true"/>
          <p:nvPr/>
        </p:nvSpPr>
        <p:spPr>
          <a:xfrm rot="0">
            <a:off x="2887313" y="1901762"/>
            <a:ext cx="880491" cy="209550"/>
          </a:xfrm>
          <a:prstGeom prst="rect">
            <a:avLst/>
          </a:prstGeom>
        </p:spPr>
        <p:txBody>
          <a:bodyPr anchor="t" rtlCol="false" tIns="0" lIns="0" bIns="0" rIns="0">
            <a:spAutoFit/>
          </a:bodyPr>
          <a:lstStyle/>
          <a:p>
            <a:pPr algn="l">
              <a:lnSpc>
                <a:spcPts val="1679"/>
              </a:lnSpc>
            </a:pPr>
            <a:r>
              <a:rPr lang="en-US" b="true" sz="1200">
                <a:solidFill>
                  <a:srgbClr val="087F98"/>
                </a:solidFill>
                <a:latin typeface="Arial Bold"/>
                <a:ea typeface="Arial Bold"/>
                <a:cs typeface="Arial Bold"/>
                <a:sym typeface="Arial Bold"/>
              </a:rPr>
              <a:t>MS-CBiGRU</a:t>
            </a:r>
          </a:p>
        </p:txBody>
      </p:sp>
      <p:sp>
        <p:nvSpPr>
          <p:cNvPr name="TextBox 11" id="11"/>
          <p:cNvSpPr txBox="true"/>
          <p:nvPr/>
        </p:nvSpPr>
        <p:spPr>
          <a:xfrm rot="0">
            <a:off x="3958209" y="1901762"/>
            <a:ext cx="889444" cy="209550"/>
          </a:xfrm>
          <a:prstGeom prst="rect">
            <a:avLst/>
          </a:prstGeom>
        </p:spPr>
        <p:txBody>
          <a:bodyPr anchor="t" rtlCol="false" tIns="0" lIns="0" bIns="0" rIns="0">
            <a:spAutoFit/>
          </a:bodyPr>
          <a:lstStyle/>
          <a:p>
            <a:pPr algn="l">
              <a:lnSpc>
                <a:spcPts val="1679"/>
              </a:lnSpc>
            </a:pPr>
            <a:r>
              <a:rPr lang="en-US" b="true" sz="1200">
                <a:solidFill>
                  <a:srgbClr val="CF4660"/>
                </a:solidFill>
                <a:latin typeface="Arial Bold"/>
                <a:ea typeface="Arial Bold"/>
                <a:cs typeface="Arial Bold"/>
                <a:sym typeface="Arial Bold"/>
              </a:rPr>
              <a:t>Transformer</a:t>
            </a:r>
          </a:p>
        </p:txBody>
      </p:sp>
      <p:sp>
        <p:nvSpPr>
          <p:cNvPr name="TextBox 12" id="12"/>
          <p:cNvSpPr txBox="true"/>
          <p:nvPr/>
        </p:nvSpPr>
        <p:spPr>
          <a:xfrm rot="0">
            <a:off x="5038154" y="1901762"/>
            <a:ext cx="575691" cy="209550"/>
          </a:xfrm>
          <a:prstGeom prst="rect">
            <a:avLst/>
          </a:prstGeom>
        </p:spPr>
        <p:txBody>
          <a:bodyPr anchor="t" rtlCol="false" tIns="0" lIns="0" bIns="0" rIns="0">
            <a:spAutoFit/>
          </a:bodyPr>
          <a:lstStyle/>
          <a:p>
            <a:pPr algn="l">
              <a:lnSpc>
                <a:spcPts val="1679"/>
              </a:lnSpc>
            </a:pPr>
            <a:r>
              <a:rPr lang="en-US" b="true" sz="1200">
                <a:solidFill>
                  <a:srgbClr val="0B9185"/>
                </a:solidFill>
                <a:latin typeface="Arial Bold"/>
                <a:ea typeface="Arial Bold"/>
                <a:cs typeface="Arial Bold"/>
                <a:sym typeface="Arial Bold"/>
              </a:rPr>
              <a:t>SF-TMN</a:t>
            </a:r>
          </a:p>
        </p:txBody>
      </p:sp>
      <p:sp>
        <p:nvSpPr>
          <p:cNvPr name="TextBox 13" id="13"/>
          <p:cNvSpPr txBox="true"/>
          <p:nvPr/>
        </p:nvSpPr>
        <p:spPr>
          <a:xfrm rot="0">
            <a:off x="5804344" y="1901762"/>
            <a:ext cx="905923" cy="209550"/>
          </a:xfrm>
          <a:prstGeom prst="rect">
            <a:avLst/>
          </a:prstGeom>
        </p:spPr>
        <p:txBody>
          <a:bodyPr anchor="t" rtlCol="false" tIns="0" lIns="0" bIns="0" rIns="0">
            <a:spAutoFit/>
          </a:bodyPr>
          <a:lstStyle/>
          <a:p>
            <a:pPr algn="l">
              <a:lnSpc>
                <a:spcPts val="1679"/>
              </a:lnSpc>
            </a:pPr>
            <a:r>
              <a:rPr lang="en-US" b="true" sz="1200">
                <a:solidFill>
                  <a:srgbClr val="B96F00"/>
                </a:solidFill>
                <a:latin typeface="Arial Bold"/>
                <a:ea typeface="Arial Bold"/>
                <a:cs typeface="Arial Bold"/>
                <a:sym typeface="Arial Bold"/>
              </a:rPr>
              <a:t>MS-TCN-10L</a:t>
            </a:r>
          </a:p>
        </p:txBody>
      </p:sp>
      <p:sp>
        <p:nvSpPr>
          <p:cNvPr name="TextBox 14" id="14"/>
          <p:cNvSpPr txBox="true"/>
          <p:nvPr/>
        </p:nvSpPr>
        <p:spPr>
          <a:xfrm rot="0">
            <a:off x="6900672" y="1901762"/>
            <a:ext cx="897541" cy="209550"/>
          </a:xfrm>
          <a:prstGeom prst="rect">
            <a:avLst/>
          </a:prstGeom>
        </p:spPr>
        <p:txBody>
          <a:bodyPr anchor="t" rtlCol="false" tIns="0" lIns="0" bIns="0" rIns="0">
            <a:spAutoFit/>
          </a:bodyPr>
          <a:lstStyle/>
          <a:p>
            <a:pPr algn="l">
              <a:lnSpc>
                <a:spcPts val="1679"/>
              </a:lnSpc>
            </a:pPr>
            <a:r>
              <a:rPr lang="en-US" b="true" sz="1200">
                <a:solidFill>
                  <a:srgbClr val="7252BD"/>
                </a:solidFill>
                <a:latin typeface="Arial Bold"/>
                <a:ea typeface="Arial Bold"/>
                <a:cs typeface="Arial Bold"/>
                <a:sym typeface="Arial Bold"/>
              </a:rPr>
              <a:t>MS-TCN-11L</a:t>
            </a:r>
          </a:p>
        </p:txBody>
      </p:sp>
      <p:sp>
        <p:nvSpPr>
          <p:cNvPr name="TextBox 15" id="15"/>
          <p:cNvSpPr txBox="true"/>
          <p:nvPr/>
        </p:nvSpPr>
        <p:spPr>
          <a:xfrm rot="0">
            <a:off x="11550682" y="1896999"/>
            <a:ext cx="2717768" cy="219075"/>
          </a:xfrm>
          <a:prstGeom prst="rect">
            <a:avLst/>
          </a:prstGeom>
        </p:spPr>
        <p:txBody>
          <a:bodyPr anchor="t" rtlCol="false" tIns="0" lIns="0" bIns="0" rIns="0">
            <a:spAutoFit/>
          </a:bodyPr>
          <a:lstStyle/>
          <a:p>
            <a:pPr algn="l">
              <a:lnSpc>
                <a:spcPts val="1679"/>
              </a:lnSpc>
            </a:pPr>
            <a:r>
              <a:rPr lang="en-US" b="true" sz="1200">
                <a:solidFill>
                  <a:srgbClr val="53696E"/>
                </a:solidFill>
                <a:latin typeface="Arial Bold"/>
                <a:ea typeface="Arial Bold"/>
                <a:cs typeface="Arial Bold"/>
                <a:sym typeface="Arial Bold"/>
              </a:rPr>
              <a:t>○ original   ■ finetuned   ◆ teammates</a:t>
            </a:r>
          </a:p>
        </p:txBody>
      </p:sp>
      <p:sp>
        <p:nvSpPr>
          <p:cNvPr name="Freeform 16" id="16"/>
          <p:cNvSpPr/>
          <p:nvPr/>
        </p:nvSpPr>
        <p:spPr>
          <a:xfrm flipH="false" flipV="false" rot="0">
            <a:off x="800100" y="2116074"/>
            <a:ext cx="13639800" cy="4524375"/>
          </a:xfrm>
          <a:custGeom>
            <a:avLst/>
            <a:gdLst/>
            <a:ahLst/>
            <a:cxnLst/>
            <a:rect r="r" b="b" t="t" l="l"/>
            <a:pathLst>
              <a:path h="4524375" w="13639800">
                <a:moveTo>
                  <a:pt x="0" y="0"/>
                </a:moveTo>
                <a:lnTo>
                  <a:pt x="13639800" y="0"/>
                </a:lnTo>
                <a:lnTo>
                  <a:pt x="13639800" y="4524375"/>
                </a:lnTo>
                <a:lnTo>
                  <a:pt x="0" y="45243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7" id="17"/>
          <p:cNvSpPr/>
          <p:nvPr/>
        </p:nvSpPr>
        <p:spPr>
          <a:xfrm rot="0">
            <a:off x="800100" y="8039100"/>
            <a:ext cx="13639800" cy="9525"/>
          </a:xfrm>
          <a:prstGeom prst="rect">
            <a:avLst/>
          </a:prstGeom>
          <a:solidFill>
            <a:srgbClr val="061217">
              <a:alpha val="14902"/>
            </a:srgbClr>
          </a:solidFill>
        </p:spPr>
      </p:sp>
      <p:sp>
        <p:nvSpPr>
          <p:cNvPr name="TextBox 18" id="18"/>
          <p:cNvSpPr txBox="true"/>
          <p:nvPr/>
        </p:nvSpPr>
        <p:spPr>
          <a:xfrm rot="0">
            <a:off x="800100" y="7791450"/>
            <a:ext cx="2364105"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Tables 5.1-5.2</a:t>
            </a:r>
          </a:p>
        </p:txBody>
      </p:sp>
      <p:sp>
        <p:nvSpPr>
          <p:cNvPr name="TextBox 19" id="19"/>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20" id="20"/>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PRIMARY METRIC RANKING</a:t>
            </a:r>
          </a:p>
        </p:txBody>
      </p:sp>
      <p:sp>
        <p:nvSpPr>
          <p:cNvPr name="TextBox 7" id="7"/>
          <p:cNvSpPr txBox="true"/>
          <p:nvPr/>
        </p:nvSpPr>
        <p:spPr>
          <a:xfrm rot="0">
            <a:off x="800100" y="1114425"/>
            <a:ext cx="12763500" cy="1031653"/>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Full-sequence and multi-scale models dominate temporal quality</a:t>
            </a:r>
          </a:p>
        </p:txBody>
      </p:sp>
      <p:sp>
        <p:nvSpPr>
          <p:cNvPr name="TextBox 8" id="8"/>
          <p:cNvSpPr txBox="true"/>
          <p:nvPr/>
        </p:nvSpPr>
        <p:spPr>
          <a:xfrm rot="0">
            <a:off x="800100" y="24889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SF-TMN · original</a:t>
            </a:r>
          </a:p>
        </p:txBody>
      </p:sp>
      <p:sp>
        <p:nvSpPr>
          <p:cNvPr name="TextBox 9" id="9"/>
          <p:cNvSpPr txBox="true"/>
          <p:nvPr/>
        </p:nvSpPr>
        <p:spPr>
          <a:xfrm rot="0">
            <a:off x="13487400" y="24604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88.36</a:t>
            </a:r>
          </a:p>
        </p:txBody>
      </p:sp>
      <p:sp>
        <p:nvSpPr>
          <p:cNvPr name="TextBox 10" id="10"/>
          <p:cNvSpPr txBox="true"/>
          <p:nvPr/>
        </p:nvSpPr>
        <p:spPr>
          <a:xfrm rot="0">
            <a:off x="800100" y="30223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MS-TCN-MT-10L · finetuned</a:t>
            </a:r>
          </a:p>
        </p:txBody>
      </p:sp>
      <p:sp>
        <p:nvSpPr>
          <p:cNvPr name="TextBox 11" id="11"/>
          <p:cNvSpPr txBox="true"/>
          <p:nvPr/>
        </p:nvSpPr>
        <p:spPr>
          <a:xfrm rot="0">
            <a:off x="13487400" y="29938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86.69</a:t>
            </a:r>
          </a:p>
        </p:txBody>
      </p:sp>
      <p:sp>
        <p:nvSpPr>
          <p:cNvPr name="TextBox 12" id="12"/>
          <p:cNvSpPr txBox="true"/>
          <p:nvPr/>
        </p:nvSpPr>
        <p:spPr>
          <a:xfrm rot="0">
            <a:off x="800100" y="35557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SF-TMN · finetuned</a:t>
            </a:r>
          </a:p>
        </p:txBody>
      </p:sp>
      <p:sp>
        <p:nvSpPr>
          <p:cNvPr name="TextBox 13" id="13"/>
          <p:cNvSpPr txBox="true"/>
          <p:nvPr/>
        </p:nvSpPr>
        <p:spPr>
          <a:xfrm rot="0">
            <a:off x="13487400" y="35272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85.70</a:t>
            </a:r>
          </a:p>
        </p:txBody>
      </p:sp>
      <p:sp>
        <p:nvSpPr>
          <p:cNvPr name="TextBox 14" id="14"/>
          <p:cNvSpPr txBox="true"/>
          <p:nvPr/>
        </p:nvSpPr>
        <p:spPr>
          <a:xfrm rot="0">
            <a:off x="800100" y="40891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MS-CBiGRU · original</a:t>
            </a:r>
          </a:p>
        </p:txBody>
      </p:sp>
      <p:sp>
        <p:nvSpPr>
          <p:cNvPr name="TextBox 15" id="15"/>
          <p:cNvSpPr txBox="true"/>
          <p:nvPr/>
        </p:nvSpPr>
        <p:spPr>
          <a:xfrm rot="0">
            <a:off x="13487400" y="40606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85.67</a:t>
            </a:r>
          </a:p>
        </p:txBody>
      </p:sp>
      <p:sp>
        <p:nvSpPr>
          <p:cNvPr name="TextBox 16" id="16"/>
          <p:cNvSpPr txBox="true"/>
          <p:nvPr/>
        </p:nvSpPr>
        <p:spPr>
          <a:xfrm rot="0">
            <a:off x="800100" y="46225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MS-TCN-MT-11L · original</a:t>
            </a:r>
          </a:p>
        </p:txBody>
      </p:sp>
      <p:sp>
        <p:nvSpPr>
          <p:cNvPr name="TextBox 17" id="17"/>
          <p:cNvSpPr txBox="true"/>
          <p:nvPr/>
        </p:nvSpPr>
        <p:spPr>
          <a:xfrm rot="0">
            <a:off x="13487400" y="45940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84.21</a:t>
            </a:r>
          </a:p>
        </p:txBody>
      </p:sp>
      <p:sp>
        <p:nvSpPr>
          <p:cNvPr name="TextBox 18" id="18"/>
          <p:cNvSpPr txBox="true"/>
          <p:nvPr/>
        </p:nvSpPr>
        <p:spPr>
          <a:xfrm rot="0">
            <a:off x="800100" y="5155978"/>
            <a:ext cx="3143250" cy="276225"/>
          </a:xfrm>
          <a:prstGeom prst="rect">
            <a:avLst/>
          </a:prstGeom>
        </p:spPr>
        <p:txBody>
          <a:bodyPr anchor="t" rtlCol="false" tIns="0" lIns="0" bIns="0" rIns="0">
            <a:spAutoFit/>
          </a:bodyPr>
          <a:lstStyle/>
          <a:p>
            <a:pPr algn="l">
              <a:lnSpc>
                <a:spcPts val="2204"/>
              </a:lnSpc>
            </a:pPr>
            <a:r>
              <a:rPr lang="en-US" b="true" sz="1575">
                <a:solidFill>
                  <a:srgbClr val="2C4248"/>
                </a:solidFill>
                <a:latin typeface="Arial Bold"/>
                <a:ea typeface="Arial Bold"/>
                <a:cs typeface="Arial Bold"/>
                <a:sym typeface="Arial Bold"/>
              </a:rPr>
              <a:t>Transformer · finetuned</a:t>
            </a:r>
          </a:p>
        </p:txBody>
      </p:sp>
      <p:sp>
        <p:nvSpPr>
          <p:cNvPr name="TextBox 19" id="19"/>
          <p:cNvSpPr txBox="true"/>
          <p:nvPr/>
        </p:nvSpPr>
        <p:spPr>
          <a:xfrm rot="0">
            <a:off x="13487400" y="5127403"/>
            <a:ext cx="952500" cy="323850"/>
          </a:xfrm>
          <a:prstGeom prst="rect">
            <a:avLst/>
          </a:prstGeom>
        </p:spPr>
        <p:txBody>
          <a:bodyPr anchor="t" rtlCol="false" tIns="0" lIns="0" bIns="0" rIns="0">
            <a:spAutoFit/>
          </a:bodyPr>
          <a:lstStyle/>
          <a:p>
            <a:pPr algn="l">
              <a:lnSpc>
                <a:spcPts val="2520"/>
              </a:lnSpc>
            </a:pPr>
            <a:r>
              <a:rPr lang="en-US" b="true" sz="1800">
                <a:solidFill>
                  <a:srgbClr val="102126"/>
                </a:solidFill>
                <a:latin typeface="Arial Bold"/>
                <a:ea typeface="Arial Bold"/>
                <a:cs typeface="Arial Bold"/>
                <a:sym typeface="Arial Bold"/>
              </a:rPr>
              <a:t>50.72</a:t>
            </a:r>
          </a:p>
        </p:txBody>
      </p:sp>
      <p:sp>
        <p:nvSpPr>
          <p:cNvPr name="TextBox 20" id="20"/>
          <p:cNvSpPr txBox="true"/>
          <p:nvPr/>
        </p:nvSpPr>
        <p:spPr>
          <a:xfrm rot="0">
            <a:off x="4152900" y="5613178"/>
            <a:ext cx="10287000" cy="209550"/>
          </a:xfrm>
          <a:prstGeom prst="rect">
            <a:avLst/>
          </a:prstGeom>
        </p:spPr>
        <p:txBody>
          <a:bodyPr anchor="t" rtlCol="false" tIns="0" lIns="0" bIns="0" rIns="0">
            <a:spAutoFit/>
          </a:bodyPr>
          <a:lstStyle/>
          <a:p>
            <a:pPr algn="l">
              <a:lnSpc>
                <a:spcPts val="1679"/>
              </a:lnSpc>
            </a:pPr>
            <a:r>
              <a:rPr lang="en-US" sz="1200">
                <a:solidFill>
                  <a:srgbClr val="6B8085"/>
                </a:solidFill>
                <a:latin typeface="Arial"/>
                <a:ea typeface="Arial"/>
                <a:cs typeface="Arial"/>
                <a:sym typeface="Arial"/>
              </a:rPr>
              <a:t>Mean segmental F1 (%) · higher is better</a:t>
            </a:r>
          </a:p>
        </p:txBody>
      </p:sp>
      <p:grpSp>
        <p:nvGrpSpPr>
          <p:cNvPr name="Group 21" id="21"/>
          <p:cNvGrpSpPr/>
          <p:nvPr/>
        </p:nvGrpSpPr>
        <p:grpSpPr>
          <a:xfrm rot="0">
            <a:off x="4152900" y="2488978"/>
            <a:ext cx="9124950" cy="323850"/>
            <a:chOff x="0" y="0"/>
            <a:chExt cx="12166600" cy="431800"/>
          </a:xfrm>
        </p:grpSpPr>
        <p:sp>
          <p:nvSpPr>
            <p:cNvPr name="Freeform 22" id="22"/>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23" id="23"/>
          <p:cNvGrpSpPr/>
          <p:nvPr/>
        </p:nvGrpSpPr>
        <p:grpSpPr>
          <a:xfrm rot="0">
            <a:off x="4152900" y="2488978"/>
            <a:ext cx="8062722" cy="323850"/>
            <a:chOff x="0" y="0"/>
            <a:chExt cx="10750296" cy="431800"/>
          </a:xfrm>
        </p:grpSpPr>
        <p:sp>
          <p:nvSpPr>
            <p:cNvPr name="Freeform 24" id="24"/>
            <p:cNvSpPr/>
            <p:nvPr/>
          </p:nvSpPr>
          <p:spPr>
            <a:xfrm flipH="false" flipV="false" rot="0">
              <a:off x="0" y="0"/>
              <a:ext cx="10750296" cy="431800"/>
            </a:xfrm>
            <a:custGeom>
              <a:avLst/>
              <a:gdLst/>
              <a:ahLst/>
              <a:cxnLst/>
              <a:rect r="r" b="b" t="t" l="l"/>
              <a:pathLst>
                <a:path h="431800" w="10750296">
                  <a:moveTo>
                    <a:pt x="101600" y="0"/>
                  </a:moveTo>
                  <a:lnTo>
                    <a:pt x="10648696" y="0"/>
                  </a:lnTo>
                  <a:cubicBezTo>
                    <a:pt x="10704830" y="0"/>
                    <a:pt x="10750296" y="45466"/>
                    <a:pt x="10750296" y="101600"/>
                  </a:cubicBezTo>
                  <a:lnTo>
                    <a:pt x="10750296" y="330200"/>
                  </a:lnTo>
                  <a:cubicBezTo>
                    <a:pt x="10750296" y="386334"/>
                    <a:pt x="10704830" y="431800"/>
                    <a:pt x="10648696"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0CAE9C">
                    <a:alpha val="100000"/>
                  </a:srgbClr>
                </a:gs>
                <a:gs pos="100000">
                  <a:srgbClr val="0B9185">
                    <a:alpha val="100000"/>
                  </a:srgbClr>
                </a:gs>
              </a:gsLst>
              <a:lin ang="0"/>
            </a:gradFill>
          </p:spPr>
        </p:sp>
      </p:grpSp>
      <p:grpSp>
        <p:nvGrpSpPr>
          <p:cNvPr name="Group 25" id="25"/>
          <p:cNvGrpSpPr/>
          <p:nvPr/>
        </p:nvGrpSpPr>
        <p:grpSpPr>
          <a:xfrm rot="0">
            <a:off x="4152900" y="3022378"/>
            <a:ext cx="9124950" cy="323850"/>
            <a:chOff x="0" y="0"/>
            <a:chExt cx="12166600" cy="431800"/>
          </a:xfrm>
        </p:grpSpPr>
        <p:sp>
          <p:nvSpPr>
            <p:cNvPr name="Freeform 26" id="26"/>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27" id="27"/>
          <p:cNvGrpSpPr/>
          <p:nvPr/>
        </p:nvGrpSpPr>
        <p:grpSpPr>
          <a:xfrm rot="0">
            <a:off x="4152900" y="3022378"/>
            <a:ext cx="7910322" cy="323850"/>
            <a:chOff x="0" y="0"/>
            <a:chExt cx="10547096" cy="431800"/>
          </a:xfrm>
        </p:grpSpPr>
        <p:sp>
          <p:nvSpPr>
            <p:cNvPr name="Freeform 28" id="28"/>
            <p:cNvSpPr/>
            <p:nvPr/>
          </p:nvSpPr>
          <p:spPr>
            <a:xfrm flipH="false" flipV="false" rot="0">
              <a:off x="0" y="0"/>
              <a:ext cx="10547096" cy="431800"/>
            </a:xfrm>
            <a:custGeom>
              <a:avLst/>
              <a:gdLst/>
              <a:ahLst/>
              <a:cxnLst/>
              <a:rect r="r" b="b" t="t" l="l"/>
              <a:pathLst>
                <a:path h="431800" w="10547096">
                  <a:moveTo>
                    <a:pt x="101600" y="0"/>
                  </a:moveTo>
                  <a:lnTo>
                    <a:pt x="10445496" y="0"/>
                  </a:lnTo>
                  <a:cubicBezTo>
                    <a:pt x="10501630" y="0"/>
                    <a:pt x="10547096" y="45466"/>
                    <a:pt x="10547096" y="101600"/>
                  </a:cubicBezTo>
                  <a:lnTo>
                    <a:pt x="10547096" y="330200"/>
                  </a:lnTo>
                  <a:cubicBezTo>
                    <a:pt x="10547096" y="386334"/>
                    <a:pt x="10501630" y="431800"/>
                    <a:pt x="10445496"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0CAE9C">
                    <a:alpha val="100000"/>
                  </a:srgbClr>
                </a:gs>
                <a:gs pos="100000">
                  <a:srgbClr val="0B9185">
                    <a:alpha val="100000"/>
                  </a:srgbClr>
                </a:gs>
              </a:gsLst>
              <a:lin ang="0"/>
            </a:gradFill>
          </p:spPr>
        </p:sp>
      </p:grpSp>
      <p:grpSp>
        <p:nvGrpSpPr>
          <p:cNvPr name="Group 29" id="29"/>
          <p:cNvGrpSpPr/>
          <p:nvPr/>
        </p:nvGrpSpPr>
        <p:grpSpPr>
          <a:xfrm rot="0">
            <a:off x="4152900" y="3555778"/>
            <a:ext cx="9124950" cy="323850"/>
            <a:chOff x="0" y="0"/>
            <a:chExt cx="12166600" cy="431800"/>
          </a:xfrm>
        </p:grpSpPr>
        <p:sp>
          <p:nvSpPr>
            <p:cNvPr name="Freeform 30" id="30"/>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31" id="31"/>
          <p:cNvGrpSpPr/>
          <p:nvPr/>
        </p:nvGrpSpPr>
        <p:grpSpPr>
          <a:xfrm rot="0">
            <a:off x="4152900" y="3555778"/>
            <a:ext cx="7820025" cy="323850"/>
            <a:chOff x="0" y="0"/>
            <a:chExt cx="10426700" cy="431800"/>
          </a:xfrm>
        </p:grpSpPr>
        <p:sp>
          <p:nvSpPr>
            <p:cNvPr name="Freeform 32" id="32"/>
            <p:cNvSpPr/>
            <p:nvPr/>
          </p:nvSpPr>
          <p:spPr>
            <a:xfrm flipH="false" flipV="false" rot="0">
              <a:off x="0" y="0"/>
              <a:ext cx="10426700" cy="431800"/>
            </a:xfrm>
            <a:custGeom>
              <a:avLst/>
              <a:gdLst/>
              <a:ahLst/>
              <a:cxnLst/>
              <a:rect r="r" b="b" t="t" l="l"/>
              <a:pathLst>
                <a:path h="431800" w="10426700">
                  <a:moveTo>
                    <a:pt x="101600" y="0"/>
                  </a:moveTo>
                  <a:lnTo>
                    <a:pt x="10325100" y="0"/>
                  </a:lnTo>
                  <a:cubicBezTo>
                    <a:pt x="10381234" y="0"/>
                    <a:pt x="10426700" y="45466"/>
                    <a:pt x="10426700" y="101600"/>
                  </a:cubicBezTo>
                  <a:lnTo>
                    <a:pt x="10426700" y="330200"/>
                  </a:lnTo>
                  <a:cubicBezTo>
                    <a:pt x="10426700" y="386334"/>
                    <a:pt x="10381234" y="431800"/>
                    <a:pt x="10325100"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0CAE9C">
                    <a:alpha val="100000"/>
                  </a:srgbClr>
                </a:gs>
                <a:gs pos="100000">
                  <a:srgbClr val="0B9185">
                    <a:alpha val="100000"/>
                  </a:srgbClr>
                </a:gs>
              </a:gsLst>
              <a:lin ang="0"/>
            </a:gradFill>
          </p:spPr>
        </p:sp>
      </p:grpSp>
      <p:grpSp>
        <p:nvGrpSpPr>
          <p:cNvPr name="Group 33" id="33"/>
          <p:cNvGrpSpPr/>
          <p:nvPr/>
        </p:nvGrpSpPr>
        <p:grpSpPr>
          <a:xfrm rot="0">
            <a:off x="4152900" y="4089178"/>
            <a:ext cx="9124950" cy="323850"/>
            <a:chOff x="0" y="0"/>
            <a:chExt cx="12166600" cy="431800"/>
          </a:xfrm>
        </p:grpSpPr>
        <p:sp>
          <p:nvSpPr>
            <p:cNvPr name="Freeform 34" id="34"/>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35" id="35"/>
          <p:cNvGrpSpPr/>
          <p:nvPr/>
        </p:nvGrpSpPr>
        <p:grpSpPr>
          <a:xfrm rot="0">
            <a:off x="4152900" y="4089178"/>
            <a:ext cx="7817168" cy="323850"/>
            <a:chOff x="0" y="0"/>
            <a:chExt cx="10422890" cy="431800"/>
          </a:xfrm>
        </p:grpSpPr>
        <p:sp>
          <p:nvSpPr>
            <p:cNvPr name="Freeform 36" id="36"/>
            <p:cNvSpPr/>
            <p:nvPr/>
          </p:nvSpPr>
          <p:spPr>
            <a:xfrm flipH="false" flipV="false" rot="0">
              <a:off x="0" y="0"/>
              <a:ext cx="10422890" cy="431800"/>
            </a:xfrm>
            <a:custGeom>
              <a:avLst/>
              <a:gdLst/>
              <a:ahLst/>
              <a:cxnLst/>
              <a:rect r="r" b="b" t="t" l="l"/>
              <a:pathLst>
                <a:path h="431800" w="10422890">
                  <a:moveTo>
                    <a:pt x="101600" y="0"/>
                  </a:moveTo>
                  <a:lnTo>
                    <a:pt x="10321290" y="0"/>
                  </a:lnTo>
                  <a:cubicBezTo>
                    <a:pt x="10377424" y="0"/>
                    <a:pt x="10422890" y="45466"/>
                    <a:pt x="10422890" y="101600"/>
                  </a:cubicBezTo>
                  <a:lnTo>
                    <a:pt x="10422890" y="330200"/>
                  </a:lnTo>
                  <a:cubicBezTo>
                    <a:pt x="10422890" y="386334"/>
                    <a:pt x="10377424" y="431800"/>
                    <a:pt x="10321290"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3E8091">
                    <a:alpha val="100000"/>
                  </a:srgbClr>
                </a:gs>
                <a:gs pos="100000">
                  <a:srgbClr val="67E8F9">
                    <a:alpha val="100000"/>
                  </a:srgbClr>
                </a:gs>
              </a:gsLst>
              <a:lin ang="0"/>
            </a:gradFill>
          </p:spPr>
        </p:sp>
      </p:grpSp>
      <p:grpSp>
        <p:nvGrpSpPr>
          <p:cNvPr name="Group 37" id="37"/>
          <p:cNvGrpSpPr/>
          <p:nvPr/>
        </p:nvGrpSpPr>
        <p:grpSpPr>
          <a:xfrm rot="0">
            <a:off x="4152900" y="4622578"/>
            <a:ext cx="9124950" cy="323850"/>
            <a:chOff x="0" y="0"/>
            <a:chExt cx="12166600" cy="431800"/>
          </a:xfrm>
        </p:grpSpPr>
        <p:sp>
          <p:nvSpPr>
            <p:cNvPr name="Freeform 38" id="38"/>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39" id="39"/>
          <p:cNvGrpSpPr/>
          <p:nvPr/>
        </p:nvGrpSpPr>
        <p:grpSpPr>
          <a:xfrm rot="0">
            <a:off x="4152900" y="4622578"/>
            <a:ext cx="7684008" cy="323850"/>
            <a:chOff x="0" y="0"/>
            <a:chExt cx="10245344" cy="431800"/>
          </a:xfrm>
        </p:grpSpPr>
        <p:sp>
          <p:nvSpPr>
            <p:cNvPr name="Freeform 40" id="40"/>
            <p:cNvSpPr/>
            <p:nvPr/>
          </p:nvSpPr>
          <p:spPr>
            <a:xfrm flipH="false" flipV="false" rot="0">
              <a:off x="0" y="0"/>
              <a:ext cx="10245344" cy="431800"/>
            </a:xfrm>
            <a:custGeom>
              <a:avLst/>
              <a:gdLst/>
              <a:ahLst/>
              <a:cxnLst/>
              <a:rect r="r" b="b" t="t" l="l"/>
              <a:pathLst>
                <a:path h="431800" w="10245344">
                  <a:moveTo>
                    <a:pt x="101600" y="0"/>
                  </a:moveTo>
                  <a:lnTo>
                    <a:pt x="10143744" y="0"/>
                  </a:lnTo>
                  <a:cubicBezTo>
                    <a:pt x="10199877" y="0"/>
                    <a:pt x="10245344" y="45466"/>
                    <a:pt x="10245344" y="101600"/>
                  </a:cubicBezTo>
                  <a:lnTo>
                    <a:pt x="10245344" y="330200"/>
                  </a:lnTo>
                  <a:cubicBezTo>
                    <a:pt x="10245344" y="386334"/>
                    <a:pt x="10199877" y="431800"/>
                    <a:pt x="10143744"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3E8091">
                    <a:alpha val="100000"/>
                  </a:srgbClr>
                </a:gs>
                <a:gs pos="100000">
                  <a:srgbClr val="67E8F9">
                    <a:alpha val="100000"/>
                  </a:srgbClr>
                </a:gs>
              </a:gsLst>
              <a:lin ang="0"/>
            </a:gradFill>
          </p:spPr>
        </p:sp>
      </p:grpSp>
      <p:grpSp>
        <p:nvGrpSpPr>
          <p:cNvPr name="Group 41" id="41"/>
          <p:cNvGrpSpPr/>
          <p:nvPr/>
        </p:nvGrpSpPr>
        <p:grpSpPr>
          <a:xfrm rot="0">
            <a:off x="4152900" y="5155978"/>
            <a:ext cx="9124950" cy="323850"/>
            <a:chOff x="0" y="0"/>
            <a:chExt cx="12166600" cy="431800"/>
          </a:xfrm>
        </p:grpSpPr>
        <p:sp>
          <p:nvSpPr>
            <p:cNvPr name="Freeform 42" id="42"/>
            <p:cNvSpPr/>
            <p:nvPr/>
          </p:nvSpPr>
          <p:spPr>
            <a:xfrm flipH="false" flipV="false" rot="0">
              <a:off x="0" y="0"/>
              <a:ext cx="12166600" cy="431800"/>
            </a:xfrm>
            <a:custGeom>
              <a:avLst/>
              <a:gdLst/>
              <a:ahLst/>
              <a:cxnLst/>
              <a:rect r="r" b="b" t="t" l="l"/>
              <a:pathLst>
                <a:path h="431800" w="12166600">
                  <a:moveTo>
                    <a:pt x="101600" y="0"/>
                  </a:moveTo>
                  <a:lnTo>
                    <a:pt x="12065000" y="0"/>
                  </a:lnTo>
                  <a:cubicBezTo>
                    <a:pt x="12121134" y="0"/>
                    <a:pt x="12166600" y="45466"/>
                    <a:pt x="12166600" y="101600"/>
                  </a:cubicBezTo>
                  <a:lnTo>
                    <a:pt x="12166600" y="330200"/>
                  </a:lnTo>
                  <a:cubicBezTo>
                    <a:pt x="12166600" y="386334"/>
                    <a:pt x="12121134" y="431800"/>
                    <a:pt x="12065000" y="431800"/>
                  </a:cubicBezTo>
                  <a:lnTo>
                    <a:pt x="101600" y="431800"/>
                  </a:lnTo>
                  <a:cubicBezTo>
                    <a:pt x="45466" y="431800"/>
                    <a:pt x="0" y="386334"/>
                    <a:pt x="0" y="330200"/>
                  </a:cubicBezTo>
                  <a:lnTo>
                    <a:pt x="0" y="101600"/>
                  </a:lnTo>
                  <a:cubicBezTo>
                    <a:pt x="0" y="45466"/>
                    <a:pt x="45466" y="0"/>
                    <a:pt x="101600" y="0"/>
                  </a:cubicBezTo>
                  <a:close/>
                </a:path>
              </a:pathLst>
            </a:custGeom>
            <a:solidFill>
              <a:srgbClr val="DFE6E4"/>
            </a:solidFill>
          </p:spPr>
        </p:sp>
      </p:grpSp>
      <p:grpSp>
        <p:nvGrpSpPr>
          <p:cNvPr name="Group 43" id="43"/>
          <p:cNvGrpSpPr/>
          <p:nvPr/>
        </p:nvGrpSpPr>
        <p:grpSpPr>
          <a:xfrm rot="0">
            <a:off x="4152900" y="5155978"/>
            <a:ext cx="4628102" cy="323850"/>
            <a:chOff x="0" y="0"/>
            <a:chExt cx="6170803" cy="431800"/>
          </a:xfrm>
        </p:grpSpPr>
        <p:sp>
          <p:nvSpPr>
            <p:cNvPr name="Freeform 44" id="44"/>
            <p:cNvSpPr/>
            <p:nvPr/>
          </p:nvSpPr>
          <p:spPr>
            <a:xfrm flipH="false" flipV="false" rot="0">
              <a:off x="0" y="0"/>
              <a:ext cx="6170803" cy="431800"/>
            </a:xfrm>
            <a:custGeom>
              <a:avLst/>
              <a:gdLst/>
              <a:ahLst/>
              <a:cxnLst/>
              <a:rect r="r" b="b" t="t" l="l"/>
              <a:pathLst>
                <a:path h="431800" w="6170803">
                  <a:moveTo>
                    <a:pt x="101600" y="0"/>
                  </a:moveTo>
                  <a:lnTo>
                    <a:pt x="6069203" y="0"/>
                  </a:lnTo>
                  <a:cubicBezTo>
                    <a:pt x="6125337" y="0"/>
                    <a:pt x="6170803" y="45466"/>
                    <a:pt x="6170803" y="101600"/>
                  </a:cubicBezTo>
                  <a:lnTo>
                    <a:pt x="6170803" y="330200"/>
                  </a:lnTo>
                  <a:cubicBezTo>
                    <a:pt x="6170803" y="386334"/>
                    <a:pt x="6125337" y="431800"/>
                    <a:pt x="6069203" y="431800"/>
                  </a:cubicBezTo>
                  <a:lnTo>
                    <a:pt x="101600" y="431800"/>
                  </a:lnTo>
                  <a:cubicBezTo>
                    <a:pt x="45466" y="431800"/>
                    <a:pt x="0" y="386334"/>
                    <a:pt x="0" y="330200"/>
                  </a:cubicBezTo>
                  <a:lnTo>
                    <a:pt x="0" y="101600"/>
                  </a:lnTo>
                  <a:cubicBezTo>
                    <a:pt x="0" y="45466"/>
                    <a:pt x="45466" y="0"/>
                    <a:pt x="101600" y="0"/>
                  </a:cubicBezTo>
                  <a:close/>
                </a:path>
              </a:pathLst>
            </a:custGeom>
            <a:gradFill rotWithShape="true">
              <a:gsLst>
                <a:gs pos="0">
                  <a:srgbClr val="3E8091">
                    <a:alpha val="100000"/>
                  </a:srgbClr>
                </a:gs>
                <a:gs pos="100000">
                  <a:srgbClr val="67E8F9">
                    <a:alpha val="100000"/>
                  </a:srgbClr>
                </a:gs>
              </a:gsLst>
              <a:lin ang="0"/>
            </a:gradFill>
          </p:spPr>
        </p:sp>
      </p:grpSp>
      <p:sp>
        <p:nvSpPr>
          <p:cNvPr name="AutoShape 45" id="45"/>
          <p:cNvSpPr/>
          <p:nvPr/>
        </p:nvSpPr>
        <p:spPr>
          <a:xfrm rot="0">
            <a:off x="800100" y="8039100"/>
            <a:ext cx="13639800" cy="9525"/>
          </a:xfrm>
          <a:prstGeom prst="rect">
            <a:avLst/>
          </a:prstGeom>
          <a:solidFill>
            <a:srgbClr val="061217">
              <a:alpha val="14902"/>
            </a:srgbClr>
          </a:solidFill>
        </p:spPr>
      </p:sp>
      <p:sp>
        <p:nvSpPr>
          <p:cNvPr name="TextBox 46" id="46"/>
          <p:cNvSpPr txBox="true"/>
          <p:nvPr/>
        </p:nvSpPr>
        <p:spPr>
          <a:xfrm rot="0">
            <a:off x="800100" y="7791450"/>
            <a:ext cx="2046351"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Table 5.2</a:t>
            </a:r>
          </a:p>
        </p:txBody>
      </p:sp>
      <p:sp>
        <p:nvSpPr>
          <p:cNvPr name="TextBox 47" id="47"/>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48" id="48"/>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WHAT THE AVERAGES CONCEAL</a:t>
            </a:r>
          </a:p>
        </p:txBody>
      </p:sp>
      <p:sp>
        <p:nvSpPr>
          <p:cNvPr name="TextBox 7" id="7"/>
          <p:cNvSpPr txBox="true"/>
          <p:nvPr/>
        </p:nvSpPr>
        <p:spPr>
          <a:xfrm rot="0">
            <a:off x="800100" y="1114425"/>
            <a:ext cx="12763500" cy="496824"/>
          </a:xfrm>
          <a:prstGeom prst="rect">
            <a:avLst/>
          </a:prstGeom>
        </p:spPr>
        <p:txBody>
          <a:bodyPr anchor="t" rtlCol="false" tIns="0" lIns="0" bIns="0" rIns="0">
            <a:spAutoFit/>
          </a:bodyPr>
          <a:lstStyle/>
          <a:p>
            <a:pPr algn="l">
              <a:lnSpc>
                <a:spcPts val="4212"/>
              </a:lnSpc>
            </a:pPr>
            <a:r>
              <a:rPr lang="en-US" b="true" sz="4050" spc="-141">
                <a:solidFill>
                  <a:srgbClr val="102126"/>
                </a:solidFill>
                <a:latin typeface="Arial Bold"/>
                <a:ea typeface="Arial Bold"/>
                <a:cs typeface="Arial Bold"/>
                <a:sym typeface="Arial Bold"/>
              </a:rPr>
              <a:t>Feature source and depth interact with architecture</a:t>
            </a:r>
          </a:p>
        </p:txBody>
      </p:sp>
      <p:sp>
        <p:nvSpPr>
          <p:cNvPr name="TextBox 8" id="8"/>
          <p:cNvSpPr txBox="true"/>
          <p:nvPr/>
        </p:nvSpPr>
        <p:spPr>
          <a:xfrm rot="0">
            <a:off x="800100" y="1896999"/>
            <a:ext cx="10477500" cy="752761"/>
          </a:xfrm>
          <a:prstGeom prst="rect">
            <a:avLst/>
          </a:prstGeom>
        </p:spPr>
        <p:txBody>
          <a:bodyPr anchor="t" rtlCol="false" tIns="0" lIns="0" bIns="0" rIns="0">
            <a:spAutoFit/>
          </a:bodyPr>
          <a:lstStyle/>
          <a:p>
            <a:pPr algn="l">
              <a:lnSpc>
                <a:spcPts val="2814"/>
              </a:lnSpc>
            </a:pPr>
            <a:r>
              <a:rPr lang="en-US" sz="2100">
                <a:solidFill>
                  <a:srgbClr val="42585D"/>
                </a:solidFill>
                <a:latin typeface="Arial"/>
                <a:ea typeface="Arial"/>
                <a:cs typeface="Arial"/>
                <a:sym typeface="Arial"/>
              </a:rPr>
              <a:t>Change in mean segmental F1 when the multi-task MS-TCN moves from </a:t>
            </a:r>
            <a:r>
              <a:rPr lang="en-US" b="true" sz="2100">
                <a:solidFill>
                  <a:srgbClr val="102126"/>
                </a:solidFill>
                <a:latin typeface="Arial Bold"/>
                <a:ea typeface="Arial Bold"/>
                <a:cs typeface="Arial Bold"/>
                <a:sym typeface="Arial Bold"/>
              </a:rPr>
              <a:t>10 to 11 layers</a:t>
            </a:r>
            <a:r>
              <a:rPr lang="en-US" sz="2100">
                <a:solidFill>
                  <a:srgbClr val="42585D"/>
                </a:solidFill>
                <a:latin typeface="Arial"/>
                <a:ea typeface="Arial"/>
                <a:cs typeface="Arial"/>
                <a:sym typeface="Arial"/>
              </a:rPr>
              <a:t>:</a:t>
            </a:r>
          </a:p>
        </p:txBody>
      </p:sp>
      <p:sp>
        <p:nvSpPr>
          <p:cNvPr name="AutoShape 9" id="9"/>
          <p:cNvSpPr/>
          <p:nvPr/>
        </p:nvSpPr>
        <p:spPr>
          <a:xfrm rot="0">
            <a:off x="800100" y="3078385"/>
            <a:ext cx="4381500" cy="1771650"/>
          </a:xfrm>
          <a:prstGeom prst="rect">
            <a:avLst/>
          </a:prstGeom>
          <a:solidFill>
            <a:srgbClr val="061217">
              <a:alpha val="3137"/>
            </a:srgbClr>
          </a:solidFill>
        </p:spPr>
      </p:sp>
      <p:sp>
        <p:nvSpPr>
          <p:cNvPr name="AutoShape 10" id="10"/>
          <p:cNvSpPr/>
          <p:nvPr/>
        </p:nvSpPr>
        <p:spPr>
          <a:xfrm rot="0">
            <a:off x="800100" y="3078385"/>
            <a:ext cx="4381500" cy="47625"/>
          </a:xfrm>
          <a:prstGeom prst="rect">
            <a:avLst/>
          </a:prstGeom>
          <a:solidFill>
            <a:srgbClr val="0B9185"/>
          </a:solidFill>
        </p:spPr>
      </p:sp>
      <p:sp>
        <p:nvSpPr>
          <p:cNvPr name="TextBox 11" id="11"/>
          <p:cNvSpPr txBox="true"/>
          <p:nvPr/>
        </p:nvSpPr>
        <p:spPr>
          <a:xfrm rot="0">
            <a:off x="1047750" y="3316510"/>
            <a:ext cx="3886200" cy="304800"/>
          </a:xfrm>
          <a:prstGeom prst="rect">
            <a:avLst/>
          </a:prstGeom>
        </p:spPr>
        <p:txBody>
          <a:bodyPr anchor="t" rtlCol="false" tIns="0" lIns="0" bIns="0" rIns="0">
            <a:spAutoFit/>
          </a:bodyPr>
          <a:lstStyle/>
          <a:p>
            <a:pPr algn="l">
              <a:lnSpc>
                <a:spcPts val="2310"/>
              </a:lnSpc>
            </a:pPr>
            <a:r>
              <a:rPr lang="en-US" sz="1650">
                <a:solidFill>
                  <a:srgbClr val="42585D"/>
                </a:solidFill>
                <a:latin typeface="Arial"/>
                <a:ea typeface="Arial"/>
                <a:cs typeface="Arial"/>
                <a:sym typeface="Arial"/>
              </a:rPr>
              <a:t>original features</a:t>
            </a:r>
          </a:p>
        </p:txBody>
      </p:sp>
      <p:sp>
        <p:nvSpPr>
          <p:cNvPr name="TextBox 12" id="12"/>
          <p:cNvSpPr txBox="true"/>
          <p:nvPr/>
        </p:nvSpPr>
        <p:spPr>
          <a:xfrm rot="0">
            <a:off x="1047750" y="3659410"/>
            <a:ext cx="3886200" cy="685800"/>
          </a:xfrm>
          <a:prstGeom prst="rect">
            <a:avLst/>
          </a:prstGeom>
        </p:spPr>
        <p:txBody>
          <a:bodyPr anchor="t" rtlCol="false" tIns="0" lIns="0" bIns="0" rIns="0">
            <a:spAutoFit/>
          </a:bodyPr>
          <a:lstStyle/>
          <a:p>
            <a:pPr algn="l">
              <a:lnSpc>
                <a:spcPts val="5670"/>
              </a:lnSpc>
            </a:pPr>
            <a:r>
              <a:rPr lang="en-US" b="true" sz="4050">
                <a:solidFill>
                  <a:srgbClr val="0B9185"/>
                </a:solidFill>
                <a:latin typeface="Arial Bold"/>
                <a:ea typeface="Arial Bold"/>
                <a:cs typeface="Arial Bold"/>
                <a:sym typeface="Arial Bold"/>
              </a:rPr>
              <a:t>+8.01</a:t>
            </a:r>
          </a:p>
        </p:txBody>
      </p:sp>
      <p:sp>
        <p:nvSpPr>
          <p:cNvPr name="TextBox 13" id="13"/>
          <p:cNvSpPr txBox="true"/>
          <p:nvPr/>
        </p:nvSpPr>
        <p:spPr>
          <a:xfrm rot="0">
            <a:off x="1047750" y="4383310"/>
            <a:ext cx="3886200" cy="238125"/>
          </a:xfrm>
          <a:prstGeom prst="rect">
            <a:avLst/>
          </a:prstGeom>
        </p:spPr>
        <p:txBody>
          <a:bodyPr anchor="t" rtlCol="false" tIns="0" lIns="0" bIns="0" rIns="0">
            <a:spAutoFit/>
          </a:bodyPr>
          <a:lstStyle/>
          <a:p>
            <a:pPr algn="l">
              <a:lnSpc>
                <a:spcPts val="1889"/>
              </a:lnSpc>
            </a:pPr>
            <a:r>
              <a:rPr lang="en-US" sz="1350">
                <a:solidFill>
                  <a:srgbClr val="53696E"/>
                </a:solidFill>
                <a:latin typeface="Arial"/>
                <a:ea typeface="Arial"/>
                <a:cs typeface="Arial"/>
                <a:sym typeface="Arial"/>
              </a:rPr>
              <a:t>76.20 → 84.21</a:t>
            </a:r>
          </a:p>
        </p:txBody>
      </p:sp>
      <p:sp>
        <p:nvSpPr>
          <p:cNvPr name="AutoShape 14" id="14"/>
          <p:cNvSpPr/>
          <p:nvPr/>
        </p:nvSpPr>
        <p:spPr>
          <a:xfrm rot="0">
            <a:off x="5429250" y="3078385"/>
            <a:ext cx="4381500" cy="1771650"/>
          </a:xfrm>
          <a:prstGeom prst="rect">
            <a:avLst/>
          </a:prstGeom>
          <a:solidFill>
            <a:srgbClr val="061217">
              <a:alpha val="3137"/>
            </a:srgbClr>
          </a:solidFill>
        </p:spPr>
      </p:sp>
      <p:sp>
        <p:nvSpPr>
          <p:cNvPr name="AutoShape 15" id="15"/>
          <p:cNvSpPr/>
          <p:nvPr/>
        </p:nvSpPr>
        <p:spPr>
          <a:xfrm rot="0">
            <a:off x="5429250" y="3078385"/>
            <a:ext cx="4381500" cy="47625"/>
          </a:xfrm>
          <a:prstGeom prst="rect">
            <a:avLst/>
          </a:prstGeom>
          <a:solidFill>
            <a:srgbClr val="CF4660"/>
          </a:solidFill>
        </p:spPr>
      </p:sp>
      <p:sp>
        <p:nvSpPr>
          <p:cNvPr name="TextBox 16" id="16"/>
          <p:cNvSpPr txBox="true"/>
          <p:nvPr/>
        </p:nvSpPr>
        <p:spPr>
          <a:xfrm rot="0">
            <a:off x="5676900" y="3316510"/>
            <a:ext cx="3886200" cy="304800"/>
          </a:xfrm>
          <a:prstGeom prst="rect">
            <a:avLst/>
          </a:prstGeom>
        </p:spPr>
        <p:txBody>
          <a:bodyPr anchor="t" rtlCol="false" tIns="0" lIns="0" bIns="0" rIns="0">
            <a:spAutoFit/>
          </a:bodyPr>
          <a:lstStyle/>
          <a:p>
            <a:pPr algn="l">
              <a:lnSpc>
                <a:spcPts val="2310"/>
              </a:lnSpc>
            </a:pPr>
            <a:r>
              <a:rPr lang="en-US" sz="1650">
                <a:solidFill>
                  <a:srgbClr val="42585D"/>
                </a:solidFill>
                <a:latin typeface="Arial"/>
                <a:ea typeface="Arial"/>
                <a:cs typeface="Arial"/>
                <a:sym typeface="Arial"/>
              </a:rPr>
              <a:t>finetuned features</a:t>
            </a:r>
          </a:p>
        </p:txBody>
      </p:sp>
      <p:sp>
        <p:nvSpPr>
          <p:cNvPr name="TextBox 17" id="17"/>
          <p:cNvSpPr txBox="true"/>
          <p:nvPr/>
        </p:nvSpPr>
        <p:spPr>
          <a:xfrm rot="0">
            <a:off x="5676900" y="3659410"/>
            <a:ext cx="3886200" cy="685800"/>
          </a:xfrm>
          <a:prstGeom prst="rect">
            <a:avLst/>
          </a:prstGeom>
        </p:spPr>
        <p:txBody>
          <a:bodyPr anchor="t" rtlCol="false" tIns="0" lIns="0" bIns="0" rIns="0">
            <a:spAutoFit/>
          </a:bodyPr>
          <a:lstStyle/>
          <a:p>
            <a:pPr algn="l">
              <a:lnSpc>
                <a:spcPts val="5670"/>
              </a:lnSpc>
            </a:pPr>
            <a:r>
              <a:rPr lang="en-US" b="true" sz="4050">
                <a:solidFill>
                  <a:srgbClr val="CF4660"/>
                </a:solidFill>
                <a:latin typeface="Arial Bold"/>
                <a:ea typeface="Arial Bold"/>
                <a:cs typeface="Arial Bold"/>
                <a:sym typeface="Arial Bold"/>
              </a:rPr>
              <a:t>−2.54</a:t>
            </a:r>
          </a:p>
        </p:txBody>
      </p:sp>
      <p:sp>
        <p:nvSpPr>
          <p:cNvPr name="TextBox 18" id="18"/>
          <p:cNvSpPr txBox="true"/>
          <p:nvPr/>
        </p:nvSpPr>
        <p:spPr>
          <a:xfrm rot="0">
            <a:off x="5676900" y="4383310"/>
            <a:ext cx="3886200" cy="238125"/>
          </a:xfrm>
          <a:prstGeom prst="rect">
            <a:avLst/>
          </a:prstGeom>
        </p:spPr>
        <p:txBody>
          <a:bodyPr anchor="t" rtlCol="false" tIns="0" lIns="0" bIns="0" rIns="0">
            <a:spAutoFit/>
          </a:bodyPr>
          <a:lstStyle/>
          <a:p>
            <a:pPr algn="l">
              <a:lnSpc>
                <a:spcPts val="1889"/>
              </a:lnSpc>
            </a:pPr>
            <a:r>
              <a:rPr lang="en-US" sz="1350">
                <a:solidFill>
                  <a:srgbClr val="53696E"/>
                </a:solidFill>
                <a:latin typeface="Arial"/>
                <a:ea typeface="Arial"/>
                <a:cs typeface="Arial"/>
                <a:sym typeface="Arial"/>
              </a:rPr>
              <a:t>86.69 → 84.15</a:t>
            </a:r>
          </a:p>
        </p:txBody>
      </p:sp>
      <p:sp>
        <p:nvSpPr>
          <p:cNvPr name="AutoShape 19" id="19"/>
          <p:cNvSpPr/>
          <p:nvPr/>
        </p:nvSpPr>
        <p:spPr>
          <a:xfrm rot="0">
            <a:off x="10058400" y="3078385"/>
            <a:ext cx="4381500" cy="1771650"/>
          </a:xfrm>
          <a:prstGeom prst="rect">
            <a:avLst/>
          </a:prstGeom>
          <a:solidFill>
            <a:srgbClr val="061217">
              <a:alpha val="3137"/>
            </a:srgbClr>
          </a:solidFill>
        </p:spPr>
      </p:sp>
      <p:sp>
        <p:nvSpPr>
          <p:cNvPr name="AutoShape 20" id="20"/>
          <p:cNvSpPr/>
          <p:nvPr/>
        </p:nvSpPr>
        <p:spPr>
          <a:xfrm rot="0">
            <a:off x="10058400" y="3078385"/>
            <a:ext cx="4381500" cy="47625"/>
          </a:xfrm>
          <a:prstGeom prst="rect">
            <a:avLst/>
          </a:prstGeom>
          <a:solidFill>
            <a:srgbClr val="CF4660"/>
          </a:solidFill>
        </p:spPr>
      </p:sp>
      <p:sp>
        <p:nvSpPr>
          <p:cNvPr name="TextBox 21" id="21"/>
          <p:cNvSpPr txBox="true"/>
          <p:nvPr/>
        </p:nvSpPr>
        <p:spPr>
          <a:xfrm rot="0">
            <a:off x="10306050" y="3316510"/>
            <a:ext cx="3886200" cy="304800"/>
          </a:xfrm>
          <a:prstGeom prst="rect">
            <a:avLst/>
          </a:prstGeom>
        </p:spPr>
        <p:txBody>
          <a:bodyPr anchor="t" rtlCol="false" tIns="0" lIns="0" bIns="0" rIns="0">
            <a:spAutoFit/>
          </a:bodyPr>
          <a:lstStyle/>
          <a:p>
            <a:pPr algn="l">
              <a:lnSpc>
                <a:spcPts val="2310"/>
              </a:lnSpc>
            </a:pPr>
            <a:r>
              <a:rPr lang="en-US" sz="1650">
                <a:solidFill>
                  <a:srgbClr val="42585D"/>
                </a:solidFill>
                <a:latin typeface="Arial"/>
                <a:ea typeface="Arial"/>
                <a:cs typeface="Arial"/>
                <a:sym typeface="Arial"/>
              </a:rPr>
              <a:t>teammates features</a:t>
            </a:r>
          </a:p>
        </p:txBody>
      </p:sp>
      <p:sp>
        <p:nvSpPr>
          <p:cNvPr name="TextBox 22" id="22"/>
          <p:cNvSpPr txBox="true"/>
          <p:nvPr/>
        </p:nvSpPr>
        <p:spPr>
          <a:xfrm rot="0">
            <a:off x="10306050" y="3659410"/>
            <a:ext cx="3886200" cy="685800"/>
          </a:xfrm>
          <a:prstGeom prst="rect">
            <a:avLst/>
          </a:prstGeom>
        </p:spPr>
        <p:txBody>
          <a:bodyPr anchor="t" rtlCol="false" tIns="0" lIns="0" bIns="0" rIns="0">
            <a:spAutoFit/>
          </a:bodyPr>
          <a:lstStyle/>
          <a:p>
            <a:pPr algn="l">
              <a:lnSpc>
                <a:spcPts val="5670"/>
              </a:lnSpc>
            </a:pPr>
            <a:r>
              <a:rPr lang="en-US" b="true" sz="4050">
                <a:solidFill>
                  <a:srgbClr val="CF4660"/>
                </a:solidFill>
                <a:latin typeface="Arial Bold"/>
                <a:ea typeface="Arial Bold"/>
                <a:cs typeface="Arial Bold"/>
                <a:sym typeface="Arial Bold"/>
              </a:rPr>
              <a:t>−4.21</a:t>
            </a:r>
          </a:p>
        </p:txBody>
      </p:sp>
      <p:sp>
        <p:nvSpPr>
          <p:cNvPr name="TextBox 23" id="23"/>
          <p:cNvSpPr txBox="true"/>
          <p:nvPr/>
        </p:nvSpPr>
        <p:spPr>
          <a:xfrm rot="0">
            <a:off x="10306050" y="4383310"/>
            <a:ext cx="3886200" cy="238125"/>
          </a:xfrm>
          <a:prstGeom prst="rect">
            <a:avLst/>
          </a:prstGeom>
        </p:spPr>
        <p:txBody>
          <a:bodyPr anchor="t" rtlCol="false" tIns="0" lIns="0" bIns="0" rIns="0">
            <a:spAutoFit/>
          </a:bodyPr>
          <a:lstStyle/>
          <a:p>
            <a:pPr algn="l">
              <a:lnSpc>
                <a:spcPts val="1889"/>
              </a:lnSpc>
            </a:pPr>
            <a:r>
              <a:rPr lang="en-US" sz="1350">
                <a:solidFill>
                  <a:srgbClr val="53696E"/>
                </a:solidFill>
                <a:latin typeface="Arial"/>
                <a:ea typeface="Arial"/>
                <a:cs typeface="Arial"/>
                <a:sym typeface="Arial"/>
              </a:rPr>
              <a:t>83.86 → 79.65</a:t>
            </a:r>
          </a:p>
        </p:txBody>
      </p:sp>
      <p:sp>
        <p:nvSpPr>
          <p:cNvPr name="AutoShape 24" id="24"/>
          <p:cNvSpPr/>
          <p:nvPr/>
        </p:nvSpPr>
        <p:spPr>
          <a:xfrm rot="0">
            <a:off x="800100" y="5288185"/>
            <a:ext cx="13639800" cy="9525"/>
          </a:xfrm>
          <a:prstGeom prst="rect">
            <a:avLst/>
          </a:prstGeom>
          <a:solidFill>
            <a:srgbClr val="061217">
              <a:alpha val="15686"/>
            </a:srgbClr>
          </a:solidFill>
        </p:spPr>
      </p:sp>
      <p:sp>
        <p:nvSpPr>
          <p:cNvPr name="TextBox 25" id="25"/>
          <p:cNvSpPr txBox="true"/>
          <p:nvPr/>
        </p:nvSpPr>
        <p:spPr>
          <a:xfrm rot="0">
            <a:off x="800100" y="5526310"/>
            <a:ext cx="2593658"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&lt; 2.3 M</a:t>
            </a:r>
          </a:p>
        </p:txBody>
      </p:sp>
      <p:sp>
        <p:nvSpPr>
          <p:cNvPr name="TextBox 26" id="26"/>
          <p:cNvSpPr txBox="true"/>
          <p:nvPr/>
        </p:nvSpPr>
        <p:spPr>
          <a:xfrm rot="0">
            <a:off x="800100" y="5964460"/>
            <a:ext cx="2593658" cy="314325"/>
          </a:xfrm>
          <a:prstGeom prst="rect">
            <a:avLst/>
          </a:prstGeom>
        </p:spPr>
        <p:txBody>
          <a:bodyPr anchor="t" rtlCol="false" tIns="0" lIns="0" bIns="0" rIns="0">
            <a:spAutoFit/>
          </a:bodyPr>
          <a:lstStyle/>
          <a:p>
            <a:pPr algn="l">
              <a:lnSpc>
                <a:spcPts val="2415"/>
              </a:lnSpc>
            </a:pPr>
            <a:r>
              <a:rPr lang="en-US" sz="1725">
                <a:solidFill>
                  <a:srgbClr val="53696E"/>
                </a:solidFill>
                <a:latin typeface="Arial"/>
                <a:ea typeface="Arial"/>
                <a:cs typeface="Arial"/>
                <a:sym typeface="Arial"/>
              </a:rPr>
              <a:t>parameters in every model</a:t>
            </a:r>
          </a:p>
        </p:txBody>
      </p:sp>
      <p:sp>
        <p:nvSpPr>
          <p:cNvPr name="TextBox 27" id="27"/>
          <p:cNvSpPr txBox="true"/>
          <p:nvPr/>
        </p:nvSpPr>
        <p:spPr>
          <a:xfrm rot="0">
            <a:off x="3908108" y="5526310"/>
            <a:ext cx="2630519"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&lt; 9 s</a:t>
            </a:r>
          </a:p>
        </p:txBody>
      </p:sp>
      <p:sp>
        <p:nvSpPr>
          <p:cNvPr name="TextBox 28" id="28"/>
          <p:cNvSpPr txBox="true"/>
          <p:nvPr/>
        </p:nvSpPr>
        <p:spPr>
          <a:xfrm rot="0">
            <a:off x="3908108" y="5964460"/>
            <a:ext cx="2630519" cy="314325"/>
          </a:xfrm>
          <a:prstGeom prst="rect">
            <a:avLst/>
          </a:prstGeom>
        </p:spPr>
        <p:txBody>
          <a:bodyPr anchor="t" rtlCol="false" tIns="0" lIns="0" bIns="0" rIns="0">
            <a:spAutoFit/>
          </a:bodyPr>
          <a:lstStyle/>
          <a:p>
            <a:pPr algn="l">
              <a:lnSpc>
                <a:spcPts val="2415"/>
              </a:lnSpc>
            </a:pPr>
            <a:r>
              <a:rPr lang="en-US" sz="1725">
                <a:solidFill>
                  <a:srgbClr val="53696E"/>
                </a:solidFill>
                <a:latin typeface="Arial"/>
                <a:ea typeface="Arial"/>
                <a:cs typeface="Arial"/>
                <a:sym typeface="Arial"/>
              </a:rPr>
              <a:t>test inference for 40 videos</a:t>
            </a:r>
          </a:p>
        </p:txBody>
      </p:sp>
      <p:sp>
        <p:nvSpPr>
          <p:cNvPr name="TextBox 29" id="29"/>
          <p:cNvSpPr txBox="true"/>
          <p:nvPr/>
        </p:nvSpPr>
        <p:spPr>
          <a:xfrm rot="0">
            <a:off x="7052977" y="5526310"/>
            <a:ext cx="2483834" cy="428625"/>
          </a:xfrm>
          <a:prstGeom prst="rect">
            <a:avLst/>
          </a:prstGeom>
        </p:spPr>
        <p:txBody>
          <a:bodyPr anchor="t" rtlCol="false" tIns="0" lIns="0" bIns="0" rIns="0">
            <a:spAutoFit/>
          </a:bodyPr>
          <a:lstStyle/>
          <a:p>
            <a:pPr algn="l">
              <a:lnSpc>
                <a:spcPts val="3569"/>
              </a:lnSpc>
            </a:pPr>
            <a:r>
              <a:rPr lang="en-US" b="true" sz="2550">
                <a:solidFill>
                  <a:srgbClr val="102126"/>
                </a:solidFill>
                <a:latin typeface="Arial Bold"/>
                <a:ea typeface="Arial Bold"/>
                <a:cs typeface="Arial Bold"/>
                <a:sym typeface="Arial Bold"/>
              </a:rPr>
              <a:t>53.60%</a:t>
            </a:r>
          </a:p>
        </p:txBody>
      </p:sp>
      <p:sp>
        <p:nvSpPr>
          <p:cNvPr name="TextBox 30" id="30"/>
          <p:cNvSpPr txBox="true"/>
          <p:nvPr/>
        </p:nvSpPr>
        <p:spPr>
          <a:xfrm rot="0">
            <a:off x="7052977" y="5964460"/>
            <a:ext cx="2483834" cy="314325"/>
          </a:xfrm>
          <a:prstGeom prst="rect">
            <a:avLst/>
          </a:prstGeom>
        </p:spPr>
        <p:txBody>
          <a:bodyPr anchor="t" rtlCol="false" tIns="0" lIns="0" bIns="0" rIns="0">
            <a:spAutoFit/>
          </a:bodyPr>
          <a:lstStyle/>
          <a:p>
            <a:pPr algn="l">
              <a:lnSpc>
                <a:spcPts val="2415"/>
              </a:lnSpc>
            </a:pPr>
            <a:r>
              <a:rPr lang="en-US" sz="1725">
                <a:solidFill>
                  <a:srgbClr val="53696E"/>
                </a:solidFill>
                <a:latin typeface="Arial"/>
                <a:ea typeface="Arial"/>
                <a:cs typeface="Arial"/>
                <a:sym typeface="Arial"/>
              </a:rPr>
              <a:t>best instrument macro F1</a:t>
            </a:r>
          </a:p>
        </p:txBody>
      </p:sp>
      <p:sp>
        <p:nvSpPr>
          <p:cNvPr name="AutoShape 31" id="31"/>
          <p:cNvSpPr/>
          <p:nvPr/>
        </p:nvSpPr>
        <p:spPr>
          <a:xfrm rot="0">
            <a:off x="800100" y="8039100"/>
            <a:ext cx="13639800" cy="9525"/>
          </a:xfrm>
          <a:prstGeom prst="rect">
            <a:avLst/>
          </a:prstGeom>
          <a:solidFill>
            <a:srgbClr val="061217">
              <a:alpha val="14902"/>
            </a:srgbClr>
          </a:solidFill>
        </p:spPr>
      </p:sp>
      <p:sp>
        <p:nvSpPr>
          <p:cNvPr name="TextBox 32" id="32"/>
          <p:cNvSpPr txBox="true"/>
          <p:nvPr/>
        </p:nvSpPr>
        <p:spPr>
          <a:xfrm rot="0">
            <a:off x="800100" y="7791450"/>
            <a:ext cx="250164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Sections 5.4-5.7</a:t>
            </a:r>
          </a:p>
        </p:txBody>
      </p:sp>
      <p:sp>
        <p:nvSpPr>
          <p:cNvPr name="TextBox 33" id="33"/>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34" id="34"/>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CONCLUSION</a:t>
            </a:r>
          </a:p>
        </p:txBody>
      </p:sp>
      <p:sp>
        <p:nvSpPr>
          <p:cNvPr name="TextBox 7" id="7"/>
          <p:cNvSpPr txBox="true"/>
          <p:nvPr/>
        </p:nvSpPr>
        <p:spPr>
          <a:xfrm rot="0">
            <a:off x="800100" y="1619250"/>
            <a:ext cx="11239500" cy="1259681"/>
          </a:xfrm>
          <a:prstGeom prst="rect">
            <a:avLst/>
          </a:prstGeom>
        </p:spPr>
        <p:txBody>
          <a:bodyPr anchor="t" rtlCol="false" tIns="0" lIns="0" bIns="0" rIns="0">
            <a:spAutoFit/>
          </a:bodyPr>
          <a:lstStyle/>
          <a:p>
            <a:pPr algn="l">
              <a:lnSpc>
                <a:spcPts val="5148"/>
              </a:lnSpc>
            </a:pPr>
            <a:r>
              <a:rPr lang="en-US" sz="4950" spc="-188">
                <a:solidFill>
                  <a:srgbClr val="102126"/>
                </a:solidFill>
                <a:latin typeface="Arial"/>
                <a:ea typeface="Arial"/>
                <a:cs typeface="Arial"/>
                <a:sym typeface="Arial"/>
              </a:rPr>
              <a:t>A surgical model is useful only when its sequence is </a:t>
            </a:r>
            <a:r>
              <a:rPr lang="en-US" sz="4950" spc="-188">
                <a:solidFill>
                  <a:srgbClr val="0B9185"/>
                </a:solidFill>
                <a:latin typeface="Arial"/>
                <a:ea typeface="Arial"/>
                <a:cs typeface="Arial"/>
                <a:sym typeface="Arial"/>
              </a:rPr>
              <a:t>clinically plausible.</a:t>
            </a:r>
          </a:p>
        </p:txBody>
      </p:sp>
      <p:sp>
        <p:nvSpPr>
          <p:cNvPr name="AutoShape 8" id="8"/>
          <p:cNvSpPr/>
          <p:nvPr/>
        </p:nvSpPr>
        <p:spPr>
          <a:xfrm rot="0">
            <a:off x="800100" y="3431381"/>
            <a:ext cx="4267200" cy="47625"/>
          </a:xfrm>
          <a:prstGeom prst="rect">
            <a:avLst/>
          </a:prstGeom>
          <a:solidFill>
            <a:srgbClr val="0B9185"/>
          </a:solidFill>
        </p:spPr>
      </p:sp>
      <p:sp>
        <p:nvSpPr>
          <p:cNvPr name="TextBox 9" id="9"/>
          <p:cNvSpPr txBox="true"/>
          <p:nvPr/>
        </p:nvSpPr>
        <p:spPr>
          <a:xfrm rot="0">
            <a:off x="800100" y="3669506"/>
            <a:ext cx="4267200" cy="295751"/>
          </a:xfrm>
          <a:prstGeom prst="rect">
            <a:avLst/>
          </a:prstGeom>
        </p:spPr>
        <p:txBody>
          <a:bodyPr anchor="t" rtlCol="false" tIns="0" lIns="0" bIns="0" rIns="0">
            <a:spAutoFit/>
          </a:bodyPr>
          <a:lstStyle/>
          <a:p>
            <a:pPr algn="l">
              <a:lnSpc>
                <a:spcPts val="2328"/>
              </a:lnSpc>
            </a:pPr>
            <a:r>
              <a:rPr lang="en-US" b="true" sz="2025">
                <a:solidFill>
                  <a:srgbClr val="102126"/>
                </a:solidFill>
                <a:latin typeface="Arial Bold"/>
                <a:ea typeface="Arial Bold"/>
                <a:cs typeface="Arial Bold"/>
                <a:sym typeface="Arial Bold"/>
              </a:rPr>
              <a:t>Select SF-TMN original</a:t>
            </a:r>
          </a:p>
        </p:txBody>
      </p:sp>
      <p:sp>
        <p:nvSpPr>
          <p:cNvPr name="TextBox 10" id="10"/>
          <p:cNvSpPr txBox="true"/>
          <p:nvPr/>
        </p:nvSpPr>
        <p:spPr>
          <a:xfrm rot="0">
            <a:off x="800100" y="4022408"/>
            <a:ext cx="4267200" cy="573881"/>
          </a:xfrm>
          <a:prstGeom prst="rect">
            <a:avLst/>
          </a:prstGeom>
        </p:spPr>
        <p:txBody>
          <a:bodyPr anchor="t" rtlCol="false" tIns="0" lIns="0" bIns="0" rIns="0">
            <a:spAutoFit/>
          </a:bodyPr>
          <a:lstStyle/>
          <a:p>
            <a:pPr algn="l">
              <a:lnSpc>
                <a:spcPts val="2110"/>
              </a:lnSpc>
            </a:pPr>
            <a:r>
              <a:rPr lang="en-US" sz="1575">
                <a:solidFill>
                  <a:srgbClr val="42585D"/>
                </a:solidFill>
                <a:latin typeface="Arial"/>
                <a:ea typeface="Arial"/>
                <a:cs typeface="Arial"/>
                <a:sym typeface="Arial"/>
              </a:rPr>
              <a:t>Best workflow reconstruction: 88.36% mean segmental F1.</a:t>
            </a:r>
          </a:p>
        </p:txBody>
      </p:sp>
      <p:sp>
        <p:nvSpPr>
          <p:cNvPr name="AutoShape 11" id="11"/>
          <p:cNvSpPr/>
          <p:nvPr/>
        </p:nvSpPr>
        <p:spPr>
          <a:xfrm rot="0">
            <a:off x="5486400" y="3431381"/>
            <a:ext cx="4267200" cy="47625"/>
          </a:xfrm>
          <a:prstGeom prst="rect">
            <a:avLst/>
          </a:prstGeom>
          <a:solidFill>
            <a:srgbClr val="C77C08"/>
          </a:solidFill>
        </p:spPr>
      </p:sp>
      <p:sp>
        <p:nvSpPr>
          <p:cNvPr name="TextBox 12" id="12"/>
          <p:cNvSpPr txBox="true"/>
          <p:nvPr/>
        </p:nvSpPr>
        <p:spPr>
          <a:xfrm rot="0">
            <a:off x="5486400" y="3669506"/>
            <a:ext cx="4267200" cy="295751"/>
          </a:xfrm>
          <a:prstGeom prst="rect">
            <a:avLst/>
          </a:prstGeom>
        </p:spPr>
        <p:txBody>
          <a:bodyPr anchor="t" rtlCol="false" tIns="0" lIns="0" bIns="0" rIns="0">
            <a:spAutoFit/>
          </a:bodyPr>
          <a:lstStyle/>
          <a:p>
            <a:pPr algn="l">
              <a:lnSpc>
                <a:spcPts val="2328"/>
              </a:lnSpc>
            </a:pPr>
            <a:r>
              <a:rPr lang="en-US" b="true" sz="2025">
                <a:solidFill>
                  <a:srgbClr val="102126"/>
                </a:solidFill>
                <a:latin typeface="Arial Bold"/>
                <a:ea typeface="Arial Bold"/>
                <a:cs typeface="Arial Bold"/>
                <a:sym typeface="Arial Bold"/>
              </a:rPr>
              <a:t>Keep metrics aligned</a:t>
            </a:r>
          </a:p>
        </p:txBody>
      </p:sp>
      <p:sp>
        <p:nvSpPr>
          <p:cNvPr name="TextBox 13" id="13"/>
          <p:cNvSpPr txBox="true"/>
          <p:nvPr/>
        </p:nvSpPr>
        <p:spPr>
          <a:xfrm rot="0">
            <a:off x="5486400" y="4022408"/>
            <a:ext cx="4267200" cy="573881"/>
          </a:xfrm>
          <a:prstGeom prst="rect">
            <a:avLst/>
          </a:prstGeom>
        </p:spPr>
        <p:txBody>
          <a:bodyPr anchor="t" rtlCol="false" tIns="0" lIns="0" bIns="0" rIns="0">
            <a:spAutoFit/>
          </a:bodyPr>
          <a:lstStyle/>
          <a:p>
            <a:pPr algn="l">
              <a:lnSpc>
                <a:spcPts val="2110"/>
              </a:lnSpc>
            </a:pPr>
            <a:r>
              <a:rPr lang="en-US" sz="1575">
                <a:solidFill>
                  <a:srgbClr val="42585D"/>
                </a:solidFill>
                <a:latin typeface="Arial"/>
                <a:ea typeface="Arial"/>
                <a:cs typeface="Arial"/>
                <a:sym typeface="Arial"/>
              </a:rPr>
              <a:t>Accuracy alone can reward fragmented predictions.</a:t>
            </a:r>
          </a:p>
        </p:txBody>
      </p:sp>
      <p:sp>
        <p:nvSpPr>
          <p:cNvPr name="AutoShape 14" id="14"/>
          <p:cNvSpPr/>
          <p:nvPr/>
        </p:nvSpPr>
        <p:spPr>
          <a:xfrm rot="0">
            <a:off x="10172700" y="3431381"/>
            <a:ext cx="4267200" cy="47625"/>
          </a:xfrm>
          <a:prstGeom prst="rect">
            <a:avLst/>
          </a:prstGeom>
          <a:solidFill>
            <a:srgbClr val="7252BD"/>
          </a:solidFill>
        </p:spPr>
      </p:sp>
      <p:sp>
        <p:nvSpPr>
          <p:cNvPr name="TextBox 15" id="15"/>
          <p:cNvSpPr txBox="true"/>
          <p:nvPr/>
        </p:nvSpPr>
        <p:spPr>
          <a:xfrm rot="0">
            <a:off x="10172700" y="3669506"/>
            <a:ext cx="4267200" cy="295751"/>
          </a:xfrm>
          <a:prstGeom prst="rect">
            <a:avLst/>
          </a:prstGeom>
        </p:spPr>
        <p:txBody>
          <a:bodyPr anchor="t" rtlCol="false" tIns="0" lIns="0" bIns="0" rIns="0">
            <a:spAutoFit/>
          </a:bodyPr>
          <a:lstStyle/>
          <a:p>
            <a:pPr algn="l">
              <a:lnSpc>
                <a:spcPts val="2328"/>
              </a:lnSpc>
            </a:pPr>
            <a:r>
              <a:rPr lang="en-US" b="true" sz="2025">
                <a:solidFill>
                  <a:srgbClr val="102126"/>
                </a:solidFill>
                <a:latin typeface="Arial Bold"/>
                <a:ea typeface="Arial Bold"/>
                <a:cs typeface="Arial Bold"/>
                <a:sym typeface="Arial Bold"/>
              </a:rPr>
              <a:t>Validate the next step</a:t>
            </a:r>
          </a:p>
        </p:txBody>
      </p:sp>
      <p:sp>
        <p:nvSpPr>
          <p:cNvPr name="TextBox 16" id="16"/>
          <p:cNvSpPr txBox="true"/>
          <p:nvPr/>
        </p:nvSpPr>
        <p:spPr>
          <a:xfrm rot="0">
            <a:off x="10172700" y="4022408"/>
            <a:ext cx="4267200" cy="573881"/>
          </a:xfrm>
          <a:prstGeom prst="rect">
            <a:avLst/>
          </a:prstGeom>
        </p:spPr>
        <p:txBody>
          <a:bodyPr anchor="t" rtlCol="false" tIns="0" lIns="0" bIns="0" rIns="0">
            <a:spAutoFit/>
          </a:bodyPr>
          <a:lstStyle/>
          <a:p>
            <a:pPr algn="l">
              <a:lnSpc>
                <a:spcPts val="2110"/>
              </a:lnSpc>
            </a:pPr>
            <a:r>
              <a:rPr lang="en-US" sz="1575">
                <a:solidFill>
                  <a:srgbClr val="42585D"/>
                </a:solidFill>
                <a:latin typeface="Arial"/>
                <a:ea typeface="Arial"/>
                <a:cs typeface="Arial"/>
                <a:sym typeface="Arial"/>
              </a:rPr>
              <a:t>Multi-seed tests, controlled 10-vs-12 layers, and causal inference.</a:t>
            </a:r>
          </a:p>
        </p:txBody>
      </p:sp>
      <p:sp>
        <p:nvSpPr>
          <p:cNvPr name="TextBox 17" id="17"/>
          <p:cNvSpPr txBox="true"/>
          <p:nvPr/>
        </p:nvSpPr>
        <p:spPr>
          <a:xfrm rot="0">
            <a:off x="800100" y="7059835"/>
            <a:ext cx="986409" cy="341090"/>
          </a:xfrm>
          <a:prstGeom prst="rect">
            <a:avLst/>
          </a:prstGeom>
        </p:spPr>
        <p:txBody>
          <a:bodyPr anchor="t" rtlCol="false" tIns="0" lIns="0" bIns="0" rIns="0">
            <a:spAutoFit/>
          </a:bodyPr>
          <a:lstStyle/>
          <a:p>
            <a:pPr algn="l">
              <a:lnSpc>
                <a:spcPts val="2311"/>
              </a:lnSpc>
            </a:pPr>
            <a:r>
              <a:rPr lang="en-US" sz="1725">
                <a:solidFill>
                  <a:srgbClr val="D2DEDE"/>
                </a:solidFill>
                <a:latin typeface="Arial"/>
                <a:ea typeface="Arial"/>
                <a:cs typeface="Arial"/>
                <a:sym typeface="Arial"/>
              </a:rPr>
              <a:t>Questions</a:t>
            </a:r>
          </a:p>
        </p:txBody>
      </p:sp>
      <p:sp>
        <p:nvSpPr>
          <p:cNvPr name="AutoShape 18" id="18"/>
          <p:cNvSpPr/>
          <p:nvPr/>
        </p:nvSpPr>
        <p:spPr>
          <a:xfrm rot="0">
            <a:off x="800100" y="8039100"/>
            <a:ext cx="13639800" cy="9525"/>
          </a:xfrm>
          <a:prstGeom prst="rect">
            <a:avLst/>
          </a:prstGeom>
          <a:solidFill>
            <a:srgbClr val="061217">
              <a:alpha val="14902"/>
            </a:srgbClr>
          </a:solidFill>
        </p:spPr>
      </p:sp>
      <p:sp>
        <p:nvSpPr>
          <p:cNvPr name="TextBox 19" id="19"/>
          <p:cNvSpPr txBox="true"/>
          <p:nvPr/>
        </p:nvSpPr>
        <p:spPr>
          <a:xfrm rot="0">
            <a:off x="800100" y="7791450"/>
            <a:ext cx="2096548"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Chapter 6</a:t>
            </a:r>
          </a:p>
        </p:txBody>
      </p:sp>
      <p:sp>
        <p:nvSpPr>
          <p:cNvPr name="TextBox 20" id="20"/>
          <p:cNvSpPr txBox="true"/>
          <p:nvPr/>
        </p:nvSpPr>
        <p:spPr>
          <a:xfrm rot="0">
            <a:off x="800100" y="8153400"/>
            <a:ext cx="1704499"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Surgical Workflow Analysis</a:t>
            </a:r>
          </a:p>
        </p:txBody>
      </p:sp>
      <p:sp>
        <p:nvSpPr>
          <p:cNvPr name="TextBox 21" id="21"/>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BACKUP · COMPLETE REPORT RESULTS</a:t>
            </a:r>
          </a:p>
        </p:txBody>
      </p:sp>
      <p:sp>
        <p:nvSpPr>
          <p:cNvPr name="TextBox 7" id="7"/>
          <p:cNvSpPr txBox="true"/>
          <p:nvPr/>
        </p:nvSpPr>
        <p:spPr>
          <a:xfrm rot="0">
            <a:off x="800100" y="1104900"/>
            <a:ext cx="12763500" cy="397383"/>
          </a:xfrm>
          <a:prstGeom prst="rect">
            <a:avLst/>
          </a:prstGeom>
        </p:spPr>
        <p:txBody>
          <a:bodyPr anchor="t" rtlCol="false" tIns="0" lIns="0" bIns="0" rIns="0">
            <a:spAutoFit/>
          </a:bodyPr>
          <a:lstStyle/>
          <a:p>
            <a:pPr algn="l">
              <a:lnSpc>
                <a:spcPts val="3354"/>
              </a:lnSpc>
            </a:pPr>
            <a:r>
              <a:rPr lang="en-US" b="true" sz="3225" spc="-141">
                <a:solidFill>
                  <a:srgbClr val="102126"/>
                </a:solidFill>
                <a:latin typeface="Arial Bold"/>
                <a:ea typeface="Arial Bold"/>
                <a:cs typeface="Arial Bold"/>
                <a:sym typeface="Arial Bold"/>
              </a:rPr>
              <a:t>Frame-level metrics on the test set</a:t>
            </a:r>
          </a:p>
        </p:txBody>
      </p:sp>
      <p:sp>
        <p:nvSpPr>
          <p:cNvPr name="AutoShape 8" id="8"/>
          <p:cNvSpPr/>
          <p:nvPr/>
        </p:nvSpPr>
        <p:spPr>
          <a:xfrm rot="0">
            <a:off x="800100" y="1921383"/>
            <a:ext cx="2193703" cy="19050"/>
          </a:xfrm>
          <a:prstGeom prst="rect">
            <a:avLst/>
          </a:prstGeom>
          <a:solidFill>
            <a:srgbClr val="AEBDBB"/>
          </a:solidFill>
        </p:spPr>
      </p:sp>
      <p:sp>
        <p:nvSpPr>
          <p:cNvPr name="TextBox 9" id="9"/>
          <p:cNvSpPr txBox="true"/>
          <p:nvPr/>
        </p:nvSpPr>
        <p:spPr>
          <a:xfrm rot="0">
            <a:off x="800100" y="1645158"/>
            <a:ext cx="2193703"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Feature</a:t>
            </a:r>
          </a:p>
        </p:txBody>
      </p:sp>
      <p:sp>
        <p:nvSpPr>
          <p:cNvPr name="AutoShape 10" id="10"/>
          <p:cNvSpPr/>
          <p:nvPr/>
        </p:nvSpPr>
        <p:spPr>
          <a:xfrm rot="0">
            <a:off x="2993803" y="1921383"/>
            <a:ext cx="3187922" cy="19050"/>
          </a:xfrm>
          <a:prstGeom prst="rect">
            <a:avLst/>
          </a:prstGeom>
          <a:solidFill>
            <a:srgbClr val="AEBDBB"/>
          </a:solidFill>
        </p:spPr>
      </p:sp>
      <p:sp>
        <p:nvSpPr>
          <p:cNvPr name="TextBox 11" id="11"/>
          <p:cNvSpPr txBox="true"/>
          <p:nvPr/>
        </p:nvSpPr>
        <p:spPr>
          <a:xfrm rot="0">
            <a:off x="2993803" y="1645158"/>
            <a:ext cx="3187922"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Model</a:t>
            </a:r>
          </a:p>
        </p:txBody>
      </p:sp>
      <p:sp>
        <p:nvSpPr>
          <p:cNvPr name="AutoShape 12" id="12"/>
          <p:cNvSpPr/>
          <p:nvPr/>
        </p:nvSpPr>
        <p:spPr>
          <a:xfrm rot="0">
            <a:off x="6181725" y="1921383"/>
            <a:ext cx="1088803" cy="19050"/>
          </a:xfrm>
          <a:prstGeom prst="rect">
            <a:avLst/>
          </a:prstGeom>
          <a:solidFill>
            <a:srgbClr val="AEBDBB"/>
          </a:solidFill>
        </p:spPr>
      </p:sp>
      <p:sp>
        <p:nvSpPr>
          <p:cNvPr name="TextBox 13" id="13"/>
          <p:cNvSpPr txBox="true"/>
          <p:nvPr/>
        </p:nvSpPr>
        <p:spPr>
          <a:xfrm rot="0">
            <a:off x="6181725" y="1645158"/>
            <a:ext cx="1088803"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Post</a:t>
            </a:r>
          </a:p>
        </p:txBody>
      </p:sp>
      <p:sp>
        <p:nvSpPr>
          <p:cNvPr name="AutoShape 14" id="14"/>
          <p:cNvSpPr/>
          <p:nvPr/>
        </p:nvSpPr>
        <p:spPr>
          <a:xfrm rot="0">
            <a:off x="7270528" y="1921383"/>
            <a:ext cx="1281970" cy="19050"/>
          </a:xfrm>
          <a:prstGeom prst="rect">
            <a:avLst/>
          </a:prstGeom>
          <a:solidFill>
            <a:srgbClr val="AEBDBB"/>
          </a:solidFill>
        </p:spPr>
      </p:sp>
      <p:sp>
        <p:nvSpPr>
          <p:cNvPr name="TextBox 15" id="15"/>
          <p:cNvSpPr txBox="true"/>
          <p:nvPr/>
        </p:nvSpPr>
        <p:spPr>
          <a:xfrm rot="0">
            <a:off x="7270528" y="1645158"/>
            <a:ext cx="1281970"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Acc.</a:t>
            </a:r>
          </a:p>
        </p:txBody>
      </p:sp>
      <p:sp>
        <p:nvSpPr>
          <p:cNvPr name="AutoShape 16" id="16"/>
          <p:cNvSpPr/>
          <p:nvPr/>
        </p:nvSpPr>
        <p:spPr>
          <a:xfrm rot="0">
            <a:off x="8552593" y="1921383"/>
            <a:ext cx="1568101" cy="19050"/>
          </a:xfrm>
          <a:prstGeom prst="rect">
            <a:avLst/>
          </a:prstGeom>
          <a:solidFill>
            <a:srgbClr val="AEBDBB"/>
          </a:solidFill>
        </p:spPr>
      </p:sp>
      <p:sp>
        <p:nvSpPr>
          <p:cNvPr name="TextBox 17" id="17"/>
          <p:cNvSpPr txBox="true"/>
          <p:nvPr/>
        </p:nvSpPr>
        <p:spPr>
          <a:xfrm rot="0">
            <a:off x="8552593" y="1645158"/>
            <a:ext cx="156810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Prec. M</a:t>
            </a:r>
          </a:p>
        </p:txBody>
      </p:sp>
      <p:sp>
        <p:nvSpPr>
          <p:cNvPr name="AutoShape 18" id="18"/>
          <p:cNvSpPr/>
          <p:nvPr/>
        </p:nvSpPr>
        <p:spPr>
          <a:xfrm rot="0">
            <a:off x="10120598" y="1921383"/>
            <a:ext cx="1450372" cy="19050"/>
          </a:xfrm>
          <a:prstGeom prst="rect">
            <a:avLst/>
          </a:prstGeom>
          <a:solidFill>
            <a:srgbClr val="AEBDBB"/>
          </a:solidFill>
        </p:spPr>
      </p:sp>
      <p:sp>
        <p:nvSpPr>
          <p:cNvPr name="TextBox 19" id="19"/>
          <p:cNvSpPr txBox="true"/>
          <p:nvPr/>
        </p:nvSpPr>
        <p:spPr>
          <a:xfrm rot="0">
            <a:off x="10120598" y="1645158"/>
            <a:ext cx="1450372"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Rec. M</a:t>
            </a:r>
          </a:p>
        </p:txBody>
      </p:sp>
      <p:sp>
        <p:nvSpPr>
          <p:cNvPr name="AutoShape 20" id="20"/>
          <p:cNvSpPr/>
          <p:nvPr/>
        </p:nvSpPr>
        <p:spPr>
          <a:xfrm rot="0">
            <a:off x="11570970" y="1921383"/>
            <a:ext cx="1281970" cy="19050"/>
          </a:xfrm>
          <a:prstGeom prst="rect">
            <a:avLst/>
          </a:prstGeom>
          <a:solidFill>
            <a:srgbClr val="AEBDBB"/>
          </a:solidFill>
        </p:spPr>
      </p:sp>
      <p:sp>
        <p:nvSpPr>
          <p:cNvPr name="TextBox 21" id="21"/>
          <p:cNvSpPr txBox="true"/>
          <p:nvPr/>
        </p:nvSpPr>
        <p:spPr>
          <a:xfrm rot="0">
            <a:off x="11570970" y="1645158"/>
            <a:ext cx="1281970"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F1 M</a:t>
            </a:r>
          </a:p>
        </p:txBody>
      </p:sp>
      <p:sp>
        <p:nvSpPr>
          <p:cNvPr name="AutoShape 22" id="22"/>
          <p:cNvSpPr/>
          <p:nvPr/>
        </p:nvSpPr>
        <p:spPr>
          <a:xfrm rot="0">
            <a:off x="12852940" y="1921383"/>
            <a:ext cx="1586960" cy="19050"/>
          </a:xfrm>
          <a:prstGeom prst="rect">
            <a:avLst/>
          </a:prstGeom>
          <a:solidFill>
            <a:srgbClr val="AEBDBB"/>
          </a:solidFill>
        </p:spPr>
      </p:sp>
      <p:sp>
        <p:nvSpPr>
          <p:cNvPr name="TextBox 23" id="23"/>
          <p:cNvSpPr txBox="true"/>
          <p:nvPr/>
        </p:nvSpPr>
        <p:spPr>
          <a:xfrm rot="0">
            <a:off x="12852940" y="1645158"/>
            <a:ext cx="1586960"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Jacc. M</a:t>
            </a:r>
          </a:p>
        </p:txBody>
      </p:sp>
      <p:sp>
        <p:nvSpPr>
          <p:cNvPr name="AutoShape 24" id="24"/>
          <p:cNvSpPr/>
          <p:nvPr/>
        </p:nvSpPr>
        <p:spPr>
          <a:xfrm rot="0">
            <a:off x="800100" y="2183320"/>
            <a:ext cx="2193703" cy="9525"/>
          </a:xfrm>
          <a:prstGeom prst="rect">
            <a:avLst/>
          </a:prstGeom>
          <a:solidFill>
            <a:srgbClr val="D8DFDD"/>
          </a:solidFill>
        </p:spPr>
      </p:sp>
      <p:sp>
        <p:nvSpPr>
          <p:cNvPr name="TextBox 25" id="25"/>
          <p:cNvSpPr txBox="true"/>
          <p:nvPr/>
        </p:nvSpPr>
        <p:spPr>
          <a:xfrm rot="0">
            <a:off x="800100" y="1911858"/>
            <a:ext cx="21937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26" id="26"/>
          <p:cNvSpPr/>
          <p:nvPr/>
        </p:nvSpPr>
        <p:spPr>
          <a:xfrm rot="0">
            <a:off x="2993803" y="2183320"/>
            <a:ext cx="3187922" cy="9525"/>
          </a:xfrm>
          <a:prstGeom prst="rect">
            <a:avLst/>
          </a:prstGeom>
          <a:solidFill>
            <a:srgbClr val="D8DFDD"/>
          </a:solidFill>
        </p:spPr>
      </p:sp>
      <p:sp>
        <p:nvSpPr>
          <p:cNvPr name="TextBox 27" id="27"/>
          <p:cNvSpPr txBox="true"/>
          <p:nvPr/>
        </p:nvSpPr>
        <p:spPr>
          <a:xfrm rot="0">
            <a:off x="2993803" y="1911858"/>
            <a:ext cx="318792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28" id="28"/>
          <p:cNvSpPr/>
          <p:nvPr/>
        </p:nvSpPr>
        <p:spPr>
          <a:xfrm rot="0">
            <a:off x="6181725" y="2183320"/>
            <a:ext cx="1088803" cy="9525"/>
          </a:xfrm>
          <a:prstGeom prst="rect">
            <a:avLst/>
          </a:prstGeom>
          <a:solidFill>
            <a:srgbClr val="D8DFDD"/>
          </a:solidFill>
        </p:spPr>
      </p:sp>
      <p:sp>
        <p:nvSpPr>
          <p:cNvPr name="TextBox 29" id="29"/>
          <p:cNvSpPr txBox="true"/>
          <p:nvPr/>
        </p:nvSpPr>
        <p:spPr>
          <a:xfrm rot="0">
            <a:off x="6181725" y="1911858"/>
            <a:ext cx="10888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0" id="30"/>
          <p:cNvSpPr/>
          <p:nvPr/>
        </p:nvSpPr>
        <p:spPr>
          <a:xfrm rot="0">
            <a:off x="7270528" y="2183320"/>
            <a:ext cx="1281970" cy="9525"/>
          </a:xfrm>
          <a:prstGeom prst="rect">
            <a:avLst/>
          </a:prstGeom>
          <a:solidFill>
            <a:srgbClr val="D8DFDD"/>
          </a:solidFill>
        </p:spPr>
      </p:sp>
      <p:sp>
        <p:nvSpPr>
          <p:cNvPr name="TextBox 31" id="31"/>
          <p:cNvSpPr txBox="true"/>
          <p:nvPr/>
        </p:nvSpPr>
        <p:spPr>
          <a:xfrm rot="0">
            <a:off x="7270528" y="1911858"/>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80.44</a:t>
            </a:r>
          </a:p>
        </p:txBody>
      </p:sp>
      <p:sp>
        <p:nvSpPr>
          <p:cNvPr name="AutoShape 32" id="32"/>
          <p:cNvSpPr/>
          <p:nvPr/>
        </p:nvSpPr>
        <p:spPr>
          <a:xfrm rot="0">
            <a:off x="8552593" y="2183320"/>
            <a:ext cx="1568101" cy="9525"/>
          </a:xfrm>
          <a:prstGeom prst="rect">
            <a:avLst/>
          </a:prstGeom>
          <a:solidFill>
            <a:srgbClr val="D8DFDD"/>
          </a:solidFill>
        </p:spPr>
      </p:sp>
      <p:sp>
        <p:nvSpPr>
          <p:cNvPr name="TextBox 33" id="33"/>
          <p:cNvSpPr txBox="true"/>
          <p:nvPr/>
        </p:nvSpPr>
        <p:spPr>
          <a:xfrm rot="0">
            <a:off x="8552593" y="1911858"/>
            <a:ext cx="156810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76.48</a:t>
            </a:r>
          </a:p>
        </p:txBody>
      </p:sp>
      <p:sp>
        <p:nvSpPr>
          <p:cNvPr name="AutoShape 34" id="34"/>
          <p:cNvSpPr/>
          <p:nvPr/>
        </p:nvSpPr>
        <p:spPr>
          <a:xfrm rot="0">
            <a:off x="10120598" y="2183320"/>
            <a:ext cx="1450372" cy="9525"/>
          </a:xfrm>
          <a:prstGeom prst="rect">
            <a:avLst/>
          </a:prstGeom>
          <a:solidFill>
            <a:srgbClr val="D8DFDD"/>
          </a:solidFill>
        </p:spPr>
      </p:sp>
      <p:sp>
        <p:nvSpPr>
          <p:cNvPr name="TextBox 35" id="35"/>
          <p:cNvSpPr txBox="true"/>
          <p:nvPr/>
        </p:nvSpPr>
        <p:spPr>
          <a:xfrm rot="0">
            <a:off x="10120598" y="1911858"/>
            <a:ext cx="145037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83.45</a:t>
            </a:r>
          </a:p>
        </p:txBody>
      </p:sp>
      <p:sp>
        <p:nvSpPr>
          <p:cNvPr name="AutoShape 36" id="36"/>
          <p:cNvSpPr/>
          <p:nvPr/>
        </p:nvSpPr>
        <p:spPr>
          <a:xfrm rot="0">
            <a:off x="11570970" y="2183320"/>
            <a:ext cx="1281970" cy="9525"/>
          </a:xfrm>
          <a:prstGeom prst="rect">
            <a:avLst/>
          </a:prstGeom>
          <a:solidFill>
            <a:srgbClr val="D8DFDD"/>
          </a:solidFill>
        </p:spPr>
      </p:sp>
      <p:sp>
        <p:nvSpPr>
          <p:cNvPr name="TextBox 37" id="37"/>
          <p:cNvSpPr txBox="true"/>
          <p:nvPr/>
        </p:nvSpPr>
        <p:spPr>
          <a:xfrm rot="0">
            <a:off x="11570970" y="1911858"/>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78.31</a:t>
            </a:r>
          </a:p>
        </p:txBody>
      </p:sp>
      <p:sp>
        <p:nvSpPr>
          <p:cNvPr name="AutoShape 38" id="38"/>
          <p:cNvSpPr/>
          <p:nvPr/>
        </p:nvSpPr>
        <p:spPr>
          <a:xfrm rot="0">
            <a:off x="12852940" y="2183320"/>
            <a:ext cx="1586960" cy="9525"/>
          </a:xfrm>
          <a:prstGeom prst="rect">
            <a:avLst/>
          </a:prstGeom>
          <a:solidFill>
            <a:srgbClr val="D8DFDD"/>
          </a:solidFill>
        </p:spPr>
      </p:sp>
      <p:sp>
        <p:nvSpPr>
          <p:cNvPr name="TextBox 39" id="39"/>
          <p:cNvSpPr txBox="true"/>
          <p:nvPr/>
        </p:nvSpPr>
        <p:spPr>
          <a:xfrm rot="0">
            <a:off x="12852940" y="1911858"/>
            <a:ext cx="158696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65.01</a:t>
            </a:r>
          </a:p>
        </p:txBody>
      </p:sp>
      <p:sp>
        <p:nvSpPr>
          <p:cNvPr name="AutoShape 40" id="40"/>
          <p:cNvSpPr/>
          <p:nvPr/>
        </p:nvSpPr>
        <p:spPr>
          <a:xfrm rot="0">
            <a:off x="800100" y="2430970"/>
            <a:ext cx="2193703" cy="9525"/>
          </a:xfrm>
          <a:prstGeom prst="rect">
            <a:avLst/>
          </a:prstGeom>
          <a:solidFill>
            <a:srgbClr val="D8DFDD"/>
          </a:solidFill>
        </p:spPr>
      </p:sp>
      <p:sp>
        <p:nvSpPr>
          <p:cNvPr name="TextBox 41" id="41"/>
          <p:cNvSpPr txBox="true"/>
          <p:nvPr/>
        </p:nvSpPr>
        <p:spPr>
          <a:xfrm rot="0">
            <a:off x="800100" y="21642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42" id="42"/>
          <p:cNvSpPr/>
          <p:nvPr/>
        </p:nvSpPr>
        <p:spPr>
          <a:xfrm rot="0">
            <a:off x="2993803" y="2430970"/>
            <a:ext cx="3187922" cy="9525"/>
          </a:xfrm>
          <a:prstGeom prst="rect">
            <a:avLst/>
          </a:prstGeom>
          <a:solidFill>
            <a:srgbClr val="D8DFDD"/>
          </a:solidFill>
        </p:spPr>
      </p:sp>
      <p:sp>
        <p:nvSpPr>
          <p:cNvPr name="TextBox 43" id="43"/>
          <p:cNvSpPr txBox="true"/>
          <p:nvPr/>
        </p:nvSpPr>
        <p:spPr>
          <a:xfrm rot="0">
            <a:off x="2993803" y="21642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44" id="44"/>
          <p:cNvSpPr/>
          <p:nvPr/>
        </p:nvSpPr>
        <p:spPr>
          <a:xfrm rot="0">
            <a:off x="6181725" y="2430970"/>
            <a:ext cx="1088803" cy="9525"/>
          </a:xfrm>
          <a:prstGeom prst="rect">
            <a:avLst/>
          </a:prstGeom>
          <a:solidFill>
            <a:srgbClr val="D8DFDD"/>
          </a:solidFill>
        </p:spPr>
      </p:sp>
      <p:sp>
        <p:nvSpPr>
          <p:cNvPr name="TextBox 45" id="45"/>
          <p:cNvSpPr txBox="true"/>
          <p:nvPr/>
        </p:nvSpPr>
        <p:spPr>
          <a:xfrm rot="0">
            <a:off x="6181725" y="21642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46" id="46"/>
          <p:cNvSpPr/>
          <p:nvPr/>
        </p:nvSpPr>
        <p:spPr>
          <a:xfrm rot="0">
            <a:off x="7270528" y="2430970"/>
            <a:ext cx="1281970" cy="9525"/>
          </a:xfrm>
          <a:prstGeom prst="rect">
            <a:avLst/>
          </a:prstGeom>
          <a:solidFill>
            <a:srgbClr val="D8DFDD"/>
          </a:solidFill>
        </p:spPr>
      </p:sp>
      <p:sp>
        <p:nvSpPr>
          <p:cNvPr name="TextBox 47" id="47"/>
          <p:cNvSpPr txBox="true"/>
          <p:nvPr/>
        </p:nvSpPr>
        <p:spPr>
          <a:xfrm rot="0">
            <a:off x="7270528" y="21642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81.10</a:t>
            </a:r>
          </a:p>
        </p:txBody>
      </p:sp>
      <p:sp>
        <p:nvSpPr>
          <p:cNvPr name="AutoShape 48" id="48"/>
          <p:cNvSpPr/>
          <p:nvPr/>
        </p:nvSpPr>
        <p:spPr>
          <a:xfrm rot="0">
            <a:off x="8552593" y="2430970"/>
            <a:ext cx="1568101" cy="9525"/>
          </a:xfrm>
          <a:prstGeom prst="rect">
            <a:avLst/>
          </a:prstGeom>
          <a:solidFill>
            <a:srgbClr val="D8DFDD"/>
          </a:solidFill>
        </p:spPr>
      </p:sp>
      <p:sp>
        <p:nvSpPr>
          <p:cNvPr name="TextBox 49" id="49"/>
          <p:cNvSpPr txBox="true"/>
          <p:nvPr/>
        </p:nvSpPr>
        <p:spPr>
          <a:xfrm rot="0">
            <a:off x="8552593" y="21642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73.30</a:t>
            </a:r>
          </a:p>
        </p:txBody>
      </p:sp>
      <p:sp>
        <p:nvSpPr>
          <p:cNvPr name="AutoShape 50" id="50"/>
          <p:cNvSpPr/>
          <p:nvPr/>
        </p:nvSpPr>
        <p:spPr>
          <a:xfrm rot="0">
            <a:off x="10120598" y="2430970"/>
            <a:ext cx="1450372" cy="9525"/>
          </a:xfrm>
          <a:prstGeom prst="rect">
            <a:avLst/>
          </a:prstGeom>
          <a:solidFill>
            <a:srgbClr val="D8DFDD"/>
          </a:solidFill>
        </p:spPr>
      </p:sp>
      <p:sp>
        <p:nvSpPr>
          <p:cNvPr name="TextBox 51" id="51"/>
          <p:cNvSpPr txBox="true"/>
          <p:nvPr/>
        </p:nvSpPr>
        <p:spPr>
          <a:xfrm rot="0">
            <a:off x="10120598" y="21642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86.77</a:t>
            </a:r>
          </a:p>
        </p:txBody>
      </p:sp>
      <p:sp>
        <p:nvSpPr>
          <p:cNvPr name="AutoShape 52" id="52"/>
          <p:cNvSpPr/>
          <p:nvPr/>
        </p:nvSpPr>
        <p:spPr>
          <a:xfrm rot="0">
            <a:off x="11570970" y="2430970"/>
            <a:ext cx="1281970" cy="9525"/>
          </a:xfrm>
          <a:prstGeom prst="rect">
            <a:avLst/>
          </a:prstGeom>
          <a:solidFill>
            <a:srgbClr val="D8DFDD"/>
          </a:solidFill>
        </p:spPr>
      </p:sp>
      <p:sp>
        <p:nvSpPr>
          <p:cNvPr name="TextBox 53" id="53"/>
          <p:cNvSpPr txBox="true"/>
          <p:nvPr/>
        </p:nvSpPr>
        <p:spPr>
          <a:xfrm rot="0">
            <a:off x="11570970" y="21642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77.16</a:t>
            </a:r>
          </a:p>
        </p:txBody>
      </p:sp>
      <p:sp>
        <p:nvSpPr>
          <p:cNvPr name="AutoShape 54" id="54"/>
          <p:cNvSpPr/>
          <p:nvPr/>
        </p:nvSpPr>
        <p:spPr>
          <a:xfrm rot="0">
            <a:off x="12852940" y="2430970"/>
            <a:ext cx="1586960" cy="9525"/>
          </a:xfrm>
          <a:prstGeom prst="rect">
            <a:avLst/>
          </a:prstGeom>
          <a:solidFill>
            <a:srgbClr val="D8DFDD"/>
          </a:solidFill>
        </p:spPr>
      </p:sp>
      <p:sp>
        <p:nvSpPr>
          <p:cNvPr name="TextBox 55" id="55"/>
          <p:cNvSpPr txBox="true"/>
          <p:nvPr/>
        </p:nvSpPr>
        <p:spPr>
          <a:xfrm rot="0">
            <a:off x="12852940" y="21642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63.76</a:t>
            </a:r>
          </a:p>
        </p:txBody>
      </p:sp>
      <p:sp>
        <p:nvSpPr>
          <p:cNvPr name="AutoShape 56" id="56"/>
          <p:cNvSpPr/>
          <p:nvPr/>
        </p:nvSpPr>
        <p:spPr>
          <a:xfrm rot="0">
            <a:off x="800100" y="2678621"/>
            <a:ext cx="2193703" cy="9525"/>
          </a:xfrm>
          <a:prstGeom prst="rect">
            <a:avLst/>
          </a:prstGeom>
          <a:solidFill>
            <a:srgbClr val="D8DFDD"/>
          </a:solidFill>
        </p:spPr>
      </p:sp>
      <p:sp>
        <p:nvSpPr>
          <p:cNvPr name="TextBox 57" id="57"/>
          <p:cNvSpPr txBox="true"/>
          <p:nvPr/>
        </p:nvSpPr>
        <p:spPr>
          <a:xfrm rot="0">
            <a:off x="800100" y="241192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58" id="58"/>
          <p:cNvSpPr/>
          <p:nvPr/>
        </p:nvSpPr>
        <p:spPr>
          <a:xfrm rot="0">
            <a:off x="2993803" y="2678621"/>
            <a:ext cx="3187922" cy="9525"/>
          </a:xfrm>
          <a:prstGeom prst="rect">
            <a:avLst/>
          </a:prstGeom>
          <a:solidFill>
            <a:srgbClr val="D8DFDD"/>
          </a:solidFill>
        </p:spPr>
      </p:sp>
      <p:sp>
        <p:nvSpPr>
          <p:cNvPr name="TextBox 59" id="59"/>
          <p:cNvSpPr txBox="true"/>
          <p:nvPr/>
        </p:nvSpPr>
        <p:spPr>
          <a:xfrm rot="0">
            <a:off x="2993803" y="241192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60" id="60"/>
          <p:cNvSpPr/>
          <p:nvPr/>
        </p:nvSpPr>
        <p:spPr>
          <a:xfrm rot="0">
            <a:off x="6181725" y="2678621"/>
            <a:ext cx="1088803" cy="9525"/>
          </a:xfrm>
          <a:prstGeom prst="rect">
            <a:avLst/>
          </a:prstGeom>
          <a:solidFill>
            <a:srgbClr val="D8DFDD"/>
          </a:solidFill>
        </p:spPr>
      </p:sp>
      <p:sp>
        <p:nvSpPr>
          <p:cNvPr name="TextBox 61" id="61"/>
          <p:cNvSpPr txBox="true"/>
          <p:nvPr/>
        </p:nvSpPr>
        <p:spPr>
          <a:xfrm rot="0">
            <a:off x="6181725" y="241192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62" id="62"/>
          <p:cNvSpPr/>
          <p:nvPr/>
        </p:nvSpPr>
        <p:spPr>
          <a:xfrm rot="0">
            <a:off x="7270528" y="2678621"/>
            <a:ext cx="1281970" cy="9525"/>
          </a:xfrm>
          <a:prstGeom prst="rect">
            <a:avLst/>
          </a:prstGeom>
          <a:solidFill>
            <a:srgbClr val="D8DFDD"/>
          </a:solidFill>
        </p:spPr>
      </p:sp>
      <p:sp>
        <p:nvSpPr>
          <p:cNvPr name="TextBox 63" id="63"/>
          <p:cNvSpPr txBox="true"/>
          <p:nvPr/>
        </p:nvSpPr>
        <p:spPr>
          <a:xfrm rot="0">
            <a:off x="7270528" y="24119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88.07</a:t>
            </a:r>
          </a:p>
        </p:txBody>
      </p:sp>
      <p:sp>
        <p:nvSpPr>
          <p:cNvPr name="AutoShape 64" id="64"/>
          <p:cNvSpPr/>
          <p:nvPr/>
        </p:nvSpPr>
        <p:spPr>
          <a:xfrm rot="0">
            <a:off x="8552593" y="2678621"/>
            <a:ext cx="1568101" cy="9525"/>
          </a:xfrm>
          <a:prstGeom prst="rect">
            <a:avLst/>
          </a:prstGeom>
          <a:solidFill>
            <a:srgbClr val="D8DFDD"/>
          </a:solidFill>
        </p:spPr>
      </p:sp>
      <p:sp>
        <p:nvSpPr>
          <p:cNvPr name="TextBox 65" id="65"/>
          <p:cNvSpPr txBox="true"/>
          <p:nvPr/>
        </p:nvSpPr>
        <p:spPr>
          <a:xfrm rot="0">
            <a:off x="8552593" y="241192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81.15</a:t>
            </a:r>
          </a:p>
        </p:txBody>
      </p:sp>
      <p:sp>
        <p:nvSpPr>
          <p:cNvPr name="AutoShape 66" id="66"/>
          <p:cNvSpPr/>
          <p:nvPr/>
        </p:nvSpPr>
        <p:spPr>
          <a:xfrm rot="0">
            <a:off x="10120598" y="2678621"/>
            <a:ext cx="1450372" cy="9525"/>
          </a:xfrm>
          <a:prstGeom prst="rect">
            <a:avLst/>
          </a:prstGeom>
          <a:solidFill>
            <a:srgbClr val="D8DFDD"/>
          </a:solidFill>
        </p:spPr>
      </p:sp>
      <p:sp>
        <p:nvSpPr>
          <p:cNvPr name="TextBox 67" id="67"/>
          <p:cNvSpPr txBox="true"/>
          <p:nvPr/>
        </p:nvSpPr>
        <p:spPr>
          <a:xfrm rot="0">
            <a:off x="10120598" y="241192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89.11</a:t>
            </a:r>
          </a:p>
        </p:txBody>
      </p:sp>
      <p:sp>
        <p:nvSpPr>
          <p:cNvPr name="AutoShape 68" id="68"/>
          <p:cNvSpPr/>
          <p:nvPr/>
        </p:nvSpPr>
        <p:spPr>
          <a:xfrm rot="0">
            <a:off x="11570970" y="2678621"/>
            <a:ext cx="1281970" cy="9525"/>
          </a:xfrm>
          <a:prstGeom prst="rect">
            <a:avLst/>
          </a:prstGeom>
          <a:solidFill>
            <a:srgbClr val="D8DFDD"/>
          </a:solidFill>
        </p:spPr>
      </p:sp>
      <p:sp>
        <p:nvSpPr>
          <p:cNvPr name="TextBox 69" id="69"/>
          <p:cNvSpPr txBox="true"/>
          <p:nvPr/>
        </p:nvSpPr>
        <p:spPr>
          <a:xfrm rot="0">
            <a:off x="11570970" y="24119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83.75</a:t>
            </a:r>
          </a:p>
        </p:txBody>
      </p:sp>
      <p:sp>
        <p:nvSpPr>
          <p:cNvPr name="AutoShape 70" id="70"/>
          <p:cNvSpPr/>
          <p:nvPr/>
        </p:nvSpPr>
        <p:spPr>
          <a:xfrm rot="0">
            <a:off x="12852940" y="2678621"/>
            <a:ext cx="1586960" cy="9525"/>
          </a:xfrm>
          <a:prstGeom prst="rect">
            <a:avLst/>
          </a:prstGeom>
          <a:solidFill>
            <a:srgbClr val="D8DFDD"/>
          </a:solidFill>
        </p:spPr>
      </p:sp>
      <p:sp>
        <p:nvSpPr>
          <p:cNvPr name="TextBox 71" id="71"/>
          <p:cNvSpPr txBox="true"/>
          <p:nvPr/>
        </p:nvSpPr>
        <p:spPr>
          <a:xfrm rot="0">
            <a:off x="12852940" y="241192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72.83</a:t>
            </a:r>
          </a:p>
        </p:txBody>
      </p:sp>
      <p:sp>
        <p:nvSpPr>
          <p:cNvPr name="AutoShape 72" id="72"/>
          <p:cNvSpPr/>
          <p:nvPr/>
        </p:nvSpPr>
        <p:spPr>
          <a:xfrm rot="0">
            <a:off x="800100" y="2926271"/>
            <a:ext cx="2193703" cy="9525"/>
          </a:xfrm>
          <a:prstGeom prst="rect">
            <a:avLst/>
          </a:prstGeom>
          <a:solidFill>
            <a:srgbClr val="D8DFDD"/>
          </a:solidFill>
        </p:spPr>
      </p:sp>
      <p:sp>
        <p:nvSpPr>
          <p:cNvPr name="TextBox 73" id="73"/>
          <p:cNvSpPr txBox="true"/>
          <p:nvPr/>
        </p:nvSpPr>
        <p:spPr>
          <a:xfrm rot="0">
            <a:off x="800100" y="26595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74" id="74"/>
          <p:cNvSpPr/>
          <p:nvPr/>
        </p:nvSpPr>
        <p:spPr>
          <a:xfrm rot="0">
            <a:off x="2993803" y="2926271"/>
            <a:ext cx="3187922" cy="9525"/>
          </a:xfrm>
          <a:prstGeom prst="rect">
            <a:avLst/>
          </a:prstGeom>
          <a:solidFill>
            <a:srgbClr val="D8DFDD"/>
          </a:solidFill>
        </p:spPr>
      </p:sp>
      <p:sp>
        <p:nvSpPr>
          <p:cNvPr name="TextBox 75" id="75"/>
          <p:cNvSpPr txBox="true"/>
          <p:nvPr/>
        </p:nvSpPr>
        <p:spPr>
          <a:xfrm rot="0">
            <a:off x="2993803" y="26595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76" id="76"/>
          <p:cNvSpPr/>
          <p:nvPr/>
        </p:nvSpPr>
        <p:spPr>
          <a:xfrm rot="0">
            <a:off x="6181725" y="2926271"/>
            <a:ext cx="1088803" cy="9525"/>
          </a:xfrm>
          <a:prstGeom prst="rect">
            <a:avLst/>
          </a:prstGeom>
          <a:solidFill>
            <a:srgbClr val="D8DFDD"/>
          </a:solidFill>
        </p:spPr>
      </p:sp>
      <p:sp>
        <p:nvSpPr>
          <p:cNvPr name="TextBox 77" id="77"/>
          <p:cNvSpPr txBox="true"/>
          <p:nvPr/>
        </p:nvSpPr>
        <p:spPr>
          <a:xfrm rot="0">
            <a:off x="6181725" y="26595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78" id="78"/>
          <p:cNvSpPr/>
          <p:nvPr/>
        </p:nvSpPr>
        <p:spPr>
          <a:xfrm rot="0">
            <a:off x="7270528" y="2926271"/>
            <a:ext cx="1281970" cy="9525"/>
          </a:xfrm>
          <a:prstGeom prst="rect">
            <a:avLst/>
          </a:prstGeom>
          <a:solidFill>
            <a:srgbClr val="D8DFDD"/>
          </a:solidFill>
        </p:spPr>
      </p:sp>
      <p:sp>
        <p:nvSpPr>
          <p:cNvPr name="TextBox 79" id="79"/>
          <p:cNvSpPr txBox="true"/>
          <p:nvPr/>
        </p:nvSpPr>
        <p:spPr>
          <a:xfrm rot="0">
            <a:off x="7270528" y="26595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78.24</a:t>
            </a:r>
          </a:p>
        </p:txBody>
      </p:sp>
      <p:sp>
        <p:nvSpPr>
          <p:cNvPr name="AutoShape 80" id="80"/>
          <p:cNvSpPr/>
          <p:nvPr/>
        </p:nvSpPr>
        <p:spPr>
          <a:xfrm rot="0">
            <a:off x="8552593" y="2926271"/>
            <a:ext cx="1568101" cy="9525"/>
          </a:xfrm>
          <a:prstGeom prst="rect">
            <a:avLst/>
          </a:prstGeom>
          <a:solidFill>
            <a:srgbClr val="D8DFDD"/>
          </a:solidFill>
        </p:spPr>
      </p:sp>
      <p:sp>
        <p:nvSpPr>
          <p:cNvPr name="TextBox 81" id="81"/>
          <p:cNvSpPr txBox="true"/>
          <p:nvPr/>
        </p:nvSpPr>
        <p:spPr>
          <a:xfrm rot="0">
            <a:off x="8552593" y="26595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76.54</a:t>
            </a:r>
          </a:p>
        </p:txBody>
      </p:sp>
      <p:sp>
        <p:nvSpPr>
          <p:cNvPr name="AutoShape 82" id="82"/>
          <p:cNvSpPr/>
          <p:nvPr/>
        </p:nvSpPr>
        <p:spPr>
          <a:xfrm rot="0">
            <a:off x="10120598" y="2926271"/>
            <a:ext cx="1450372" cy="9525"/>
          </a:xfrm>
          <a:prstGeom prst="rect">
            <a:avLst/>
          </a:prstGeom>
          <a:solidFill>
            <a:srgbClr val="D8DFDD"/>
          </a:solidFill>
        </p:spPr>
      </p:sp>
      <p:sp>
        <p:nvSpPr>
          <p:cNvPr name="TextBox 83" id="83"/>
          <p:cNvSpPr txBox="true"/>
          <p:nvPr/>
        </p:nvSpPr>
        <p:spPr>
          <a:xfrm rot="0">
            <a:off x="10120598" y="26595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70.87</a:t>
            </a:r>
          </a:p>
        </p:txBody>
      </p:sp>
      <p:sp>
        <p:nvSpPr>
          <p:cNvPr name="AutoShape 84" id="84"/>
          <p:cNvSpPr/>
          <p:nvPr/>
        </p:nvSpPr>
        <p:spPr>
          <a:xfrm rot="0">
            <a:off x="11570970" y="2926271"/>
            <a:ext cx="1281970" cy="9525"/>
          </a:xfrm>
          <a:prstGeom prst="rect">
            <a:avLst/>
          </a:prstGeom>
          <a:solidFill>
            <a:srgbClr val="D8DFDD"/>
          </a:solidFill>
        </p:spPr>
      </p:sp>
      <p:sp>
        <p:nvSpPr>
          <p:cNvPr name="TextBox 85" id="85"/>
          <p:cNvSpPr txBox="true"/>
          <p:nvPr/>
        </p:nvSpPr>
        <p:spPr>
          <a:xfrm rot="0">
            <a:off x="11570970" y="26595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72.21</a:t>
            </a:r>
          </a:p>
        </p:txBody>
      </p:sp>
      <p:sp>
        <p:nvSpPr>
          <p:cNvPr name="AutoShape 86" id="86"/>
          <p:cNvSpPr/>
          <p:nvPr/>
        </p:nvSpPr>
        <p:spPr>
          <a:xfrm rot="0">
            <a:off x="12852940" y="2926271"/>
            <a:ext cx="1586960" cy="9525"/>
          </a:xfrm>
          <a:prstGeom prst="rect">
            <a:avLst/>
          </a:prstGeom>
          <a:solidFill>
            <a:srgbClr val="D8DFDD"/>
          </a:solidFill>
        </p:spPr>
      </p:sp>
      <p:sp>
        <p:nvSpPr>
          <p:cNvPr name="TextBox 87" id="87"/>
          <p:cNvSpPr txBox="true"/>
          <p:nvPr/>
        </p:nvSpPr>
        <p:spPr>
          <a:xfrm rot="0">
            <a:off x="12852940" y="26595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57.01</a:t>
            </a:r>
          </a:p>
        </p:txBody>
      </p:sp>
      <p:sp>
        <p:nvSpPr>
          <p:cNvPr name="AutoShape 88" id="88"/>
          <p:cNvSpPr/>
          <p:nvPr/>
        </p:nvSpPr>
        <p:spPr>
          <a:xfrm rot="0">
            <a:off x="800100" y="3173921"/>
            <a:ext cx="2193703" cy="9525"/>
          </a:xfrm>
          <a:prstGeom prst="rect">
            <a:avLst/>
          </a:prstGeom>
          <a:solidFill>
            <a:srgbClr val="D8DFDD"/>
          </a:solidFill>
        </p:spPr>
      </p:sp>
      <p:sp>
        <p:nvSpPr>
          <p:cNvPr name="TextBox 89" id="89"/>
          <p:cNvSpPr txBox="true"/>
          <p:nvPr/>
        </p:nvSpPr>
        <p:spPr>
          <a:xfrm rot="0">
            <a:off x="800100" y="290722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90" id="90"/>
          <p:cNvSpPr/>
          <p:nvPr/>
        </p:nvSpPr>
        <p:spPr>
          <a:xfrm rot="0">
            <a:off x="2993803" y="3173921"/>
            <a:ext cx="3187922" cy="9525"/>
          </a:xfrm>
          <a:prstGeom prst="rect">
            <a:avLst/>
          </a:prstGeom>
          <a:solidFill>
            <a:srgbClr val="D8DFDD"/>
          </a:solidFill>
        </p:spPr>
      </p:sp>
      <p:sp>
        <p:nvSpPr>
          <p:cNvPr name="TextBox 91" id="91"/>
          <p:cNvSpPr txBox="true"/>
          <p:nvPr/>
        </p:nvSpPr>
        <p:spPr>
          <a:xfrm rot="0">
            <a:off x="2993803" y="290722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92" id="92"/>
          <p:cNvSpPr/>
          <p:nvPr/>
        </p:nvSpPr>
        <p:spPr>
          <a:xfrm rot="0">
            <a:off x="6181725" y="3173921"/>
            <a:ext cx="1088803" cy="9525"/>
          </a:xfrm>
          <a:prstGeom prst="rect">
            <a:avLst/>
          </a:prstGeom>
          <a:solidFill>
            <a:srgbClr val="D8DFDD"/>
          </a:solidFill>
        </p:spPr>
      </p:sp>
      <p:sp>
        <p:nvSpPr>
          <p:cNvPr name="TextBox 93" id="93"/>
          <p:cNvSpPr txBox="true"/>
          <p:nvPr/>
        </p:nvSpPr>
        <p:spPr>
          <a:xfrm rot="0">
            <a:off x="6181725" y="290722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94" id="94"/>
          <p:cNvSpPr/>
          <p:nvPr/>
        </p:nvSpPr>
        <p:spPr>
          <a:xfrm rot="0">
            <a:off x="7270528" y="3173921"/>
            <a:ext cx="1281970" cy="9525"/>
          </a:xfrm>
          <a:prstGeom prst="rect">
            <a:avLst/>
          </a:prstGeom>
          <a:solidFill>
            <a:srgbClr val="D8DFDD"/>
          </a:solidFill>
        </p:spPr>
      </p:sp>
      <p:sp>
        <p:nvSpPr>
          <p:cNvPr name="TextBox 95" id="95"/>
          <p:cNvSpPr txBox="true"/>
          <p:nvPr/>
        </p:nvSpPr>
        <p:spPr>
          <a:xfrm rot="0">
            <a:off x="7270528" y="29072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91.31</a:t>
            </a:r>
          </a:p>
        </p:txBody>
      </p:sp>
      <p:sp>
        <p:nvSpPr>
          <p:cNvPr name="AutoShape 96" id="96"/>
          <p:cNvSpPr/>
          <p:nvPr/>
        </p:nvSpPr>
        <p:spPr>
          <a:xfrm rot="0">
            <a:off x="8552593" y="3173921"/>
            <a:ext cx="1568101" cy="9525"/>
          </a:xfrm>
          <a:prstGeom prst="rect">
            <a:avLst/>
          </a:prstGeom>
          <a:solidFill>
            <a:srgbClr val="D8DFDD"/>
          </a:solidFill>
        </p:spPr>
      </p:sp>
      <p:sp>
        <p:nvSpPr>
          <p:cNvPr name="TextBox 97" id="97"/>
          <p:cNvSpPr txBox="true"/>
          <p:nvPr/>
        </p:nvSpPr>
        <p:spPr>
          <a:xfrm rot="0">
            <a:off x="8552593" y="290722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85.89</a:t>
            </a:r>
          </a:p>
        </p:txBody>
      </p:sp>
      <p:sp>
        <p:nvSpPr>
          <p:cNvPr name="AutoShape 98" id="98"/>
          <p:cNvSpPr/>
          <p:nvPr/>
        </p:nvSpPr>
        <p:spPr>
          <a:xfrm rot="0">
            <a:off x="10120598" y="3173921"/>
            <a:ext cx="1450372" cy="9525"/>
          </a:xfrm>
          <a:prstGeom prst="rect">
            <a:avLst/>
          </a:prstGeom>
          <a:solidFill>
            <a:srgbClr val="D8DFDD"/>
          </a:solidFill>
        </p:spPr>
      </p:sp>
      <p:sp>
        <p:nvSpPr>
          <p:cNvPr name="TextBox 99" id="99"/>
          <p:cNvSpPr txBox="true"/>
          <p:nvPr/>
        </p:nvSpPr>
        <p:spPr>
          <a:xfrm rot="0">
            <a:off x="10120598" y="290722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88.02</a:t>
            </a:r>
          </a:p>
        </p:txBody>
      </p:sp>
      <p:sp>
        <p:nvSpPr>
          <p:cNvPr name="AutoShape 100" id="100"/>
          <p:cNvSpPr/>
          <p:nvPr/>
        </p:nvSpPr>
        <p:spPr>
          <a:xfrm rot="0">
            <a:off x="11570970" y="3173921"/>
            <a:ext cx="1281970" cy="9525"/>
          </a:xfrm>
          <a:prstGeom prst="rect">
            <a:avLst/>
          </a:prstGeom>
          <a:solidFill>
            <a:srgbClr val="D8DFDD"/>
          </a:solidFill>
        </p:spPr>
      </p:sp>
      <p:sp>
        <p:nvSpPr>
          <p:cNvPr name="TextBox 101" id="101"/>
          <p:cNvSpPr txBox="true"/>
          <p:nvPr/>
        </p:nvSpPr>
        <p:spPr>
          <a:xfrm rot="0">
            <a:off x="11570970" y="29072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86.84</a:t>
            </a:r>
          </a:p>
        </p:txBody>
      </p:sp>
      <p:sp>
        <p:nvSpPr>
          <p:cNvPr name="AutoShape 102" id="102"/>
          <p:cNvSpPr/>
          <p:nvPr/>
        </p:nvSpPr>
        <p:spPr>
          <a:xfrm rot="0">
            <a:off x="12852940" y="3173921"/>
            <a:ext cx="1586960" cy="9525"/>
          </a:xfrm>
          <a:prstGeom prst="rect">
            <a:avLst/>
          </a:prstGeom>
          <a:solidFill>
            <a:srgbClr val="D8DFDD"/>
          </a:solidFill>
        </p:spPr>
      </p:sp>
      <p:sp>
        <p:nvSpPr>
          <p:cNvPr name="TextBox 103" id="103"/>
          <p:cNvSpPr txBox="true"/>
          <p:nvPr/>
        </p:nvSpPr>
        <p:spPr>
          <a:xfrm rot="0">
            <a:off x="12852940" y="290722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77.18</a:t>
            </a:r>
          </a:p>
        </p:txBody>
      </p:sp>
      <p:sp>
        <p:nvSpPr>
          <p:cNvPr name="AutoShape 104" id="104"/>
          <p:cNvSpPr/>
          <p:nvPr/>
        </p:nvSpPr>
        <p:spPr>
          <a:xfrm rot="0">
            <a:off x="800100" y="3421571"/>
            <a:ext cx="2193703" cy="9525"/>
          </a:xfrm>
          <a:prstGeom prst="rect">
            <a:avLst/>
          </a:prstGeom>
          <a:solidFill>
            <a:srgbClr val="D8DFDD"/>
          </a:solidFill>
        </p:spPr>
      </p:sp>
      <p:sp>
        <p:nvSpPr>
          <p:cNvPr name="TextBox 105" id="105"/>
          <p:cNvSpPr txBox="true"/>
          <p:nvPr/>
        </p:nvSpPr>
        <p:spPr>
          <a:xfrm rot="0">
            <a:off x="800100" y="31548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106" id="106"/>
          <p:cNvSpPr/>
          <p:nvPr/>
        </p:nvSpPr>
        <p:spPr>
          <a:xfrm rot="0">
            <a:off x="2993803" y="3421571"/>
            <a:ext cx="3187922" cy="9525"/>
          </a:xfrm>
          <a:prstGeom prst="rect">
            <a:avLst/>
          </a:prstGeom>
          <a:solidFill>
            <a:srgbClr val="D8DFDD"/>
          </a:solidFill>
        </p:spPr>
      </p:sp>
      <p:sp>
        <p:nvSpPr>
          <p:cNvPr name="TextBox 107" id="107"/>
          <p:cNvSpPr txBox="true"/>
          <p:nvPr/>
        </p:nvSpPr>
        <p:spPr>
          <a:xfrm rot="0">
            <a:off x="2993803" y="31548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108" id="108"/>
          <p:cNvSpPr/>
          <p:nvPr/>
        </p:nvSpPr>
        <p:spPr>
          <a:xfrm rot="0">
            <a:off x="6181725" y="3421571"/>
            <a:ext cx="1088803" cy="9525"/>
          </a:xfrm>
          <a:prstGeom prst="rect">
            <a:avLst/>
          </a:prstGeom>
          <a:solidFill>
            <a:srgbClr val="D8DFDD"/>
          </a:solidFill>
        </p:spPr>
      </p:sp>
      <p:sp>
        <p:nvSpPr>
          <p:cNvPr name="TextBox 109" id="109"/>
          <p:cNvSpPr txBox="true"/>
          <p:nvPr/>
        </p:nvSpPr>
        <p:spPr>
          <a:xfrm rot="0">
            <a:off x="6181725" y="31548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110" id="110"/>
          <p:cNvSpPr/>
          <p:nvPr/>
        </p:nvSpPr>
        <p:spPr>
          <a:xfrm rot="0">
            <a:off x="7270528" y="3421571"/>
            <a:ext cx="1281970" cy="9525"/>
          </a:xfrm>
          <a:prstGeom prst="rect">
            <a:avLst/>
          </a:prstGeom>
          <a:solidFill>
            <a:srgbClr val="D8DFDD"/>
          </a:solidFill>
        </p:spPr>
      </p:sp>
      <p:sp>
        <p:nvSpPr>
          <p:cNvPr name="TextBox 111" id="111"/>
          <p:cNvSpPr txBox="true"/>
          <p:nvPr/>
        </p:nvSpPr>
        <p:spPr>
          <a:xfrm rot="0">
            <a:off x="7270528" y="31548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91.43</a:t>
            </a:r>
          </a:p>
        </p:txBody>
      </p:sp>
      <p:sp>
        <p:nvSpPr>
          <p:cNvPr name="AutoShape 112" id="112"/>
          <p:cNvSpPr/>
          <p:nvPr/>
        </p:nvSpPr>
        <p:spPr>
          <a:xfrm rot="0">
            <a:off x="8552593" y="3421571"/>
            <a:ext cx="1568101" cy="9525"/>
          </a:xfrm>
          <a:prstGeom prst="rect">
            <a:avLst/>
          </a:prstGeom>
          <a:solidFill>
            <a:srgbClr val="D8DFDD"/>
          </a:solidFill>
        </p:spPr>
      </p:sp>
      <p:sp>
        <p:nvSpPr>
          <p:cNvPr name="TextBox 113" id="113"/>
          <p:cNvSpPr txBox="true"/>
          <p:nvPr/>
        </p:nvSpPr>
        <p:spPr>
          <a:xfrm rot="0">
            <a:off x="8552593" y="31548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86.30</a:t>
            </a:r>
          </a:p>
        </p:txBody>
      </p:sp>
      <p:sp>
        <p:nvSpPr>
          <p:cNvPr name="AutoShape 114" id="114"/>
          <p:cNvSpPr/>
          <p:nvPr/>
        </p:nvSpPr>
        <p:spPr>
          <a:xfrm rot="0">
            <a:off x="10120598" y="3421571"/>
            <a:ext cx="1450372" cy="9525"/>
          </a:xfrm>
          <a:prstGeom prst="rect">
            <a:avLst/>
          </a:prstGeom>
          <a:solidFill>
            <a:srgbClr val="D8DFDD"/>
          </a:solidFill>
        </p:spPr>
      </p:sp>
      <p:sp>
        <p:nvSpPr>
          <p:cNvPr name="TextBox 115" id="115"/>
          <p:cNvSpPr txBox="true"/>
          <p:nvPr/>
        </p:nvSpPr>
        <p:spPr>
          <a:xfrm rot="0">
            <a:off x="10120598" y="31548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88.09</a:t>
            </a:r>
          </a:p>
        </p:txBody>
      </p:sp>
      <p:sp>
        <p:nvSpPr>
          <p:cNvPr name="AutoShape 116" id="116"/>
          <p:cNvSpPr/>
          <p:nvPr/>
        </p:nvSpPr>
        <p:spPr>
          <a:xfrm rot="0">
            <a:off x="11570970" y="3421571"/>
            <a:ext cx="1281970" cy="9525"/>
          </a:xfrm>
          <a:prstGeom prst="rect">
            <a:avLst/>
          </a:prstGeom>
          <a:solidFill>
            <a:srgbClr val="D8DFDD"/>
          </a:solidFill>
        </p:spPr>
      </p:sp>
      <p:sp>
        <p:nvSpPr>
          <p:cNvPr name="TextBox 117" id="117"/>
          <p:cNvSpPr txBox="true"/>
          <p:nvPr/>
        </p:nvSpPr>
        <p:spPr>
          <a:xfrm rot="0">
            <a:off x="11570970" y="31548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87.10</a:t>
            </a:r>
          </a:p>
        </p:txBody>
      </p:sp>
      <p:sp>
        <p:nvSpPr>
          <p:cNvPr name="AutoShape 118" id="118"/>
          <p:cNvSpPr/>
          <p:nvPr/>
        </p:nvSpPr>
        <p:spPr>
          <a:xfrm rot="0">
            <a:off x="12852940" y="3421571"/>
            <a:ext cx="1586960" cy="9525"/>
          </a:xfrm>
          <a:prstGeom prst="rect">
            <a:avLst/>
          </a:prstGeom>
          <a:solidFill>
            <a:srgbClr val="D8DFDD"/>
          </a:solidFill>
        </p:spPr>
      </p:sp>
      <p:sp>
        <p:nvSpPr>
          <p:cNvPr name="TextBox 119" id="119"/>
          <p:cNvSpPr txBox="true"/>
          <p:nvPr/>
        </p:nvSpPr>
        <p:spPr>
          <a:xfrm rot="0">
            <a:off x="12852940" y="31548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77.52</a:t>
            </a:r>
          </a:p>
        </p:txBody>
      </p:sp>
      <p:sp>
        <p:nvSpPr>
          <p:cNvPr name="AutoShape 120" id="120"/>
          <p:cNvSpPr/>
          <p:nvPr/>
        </p:nvSpPr>
        <p:spPr>
          <a:xfrm rot="0">
            <a:off x="800100" y="3673983"/>
            <a:ext cx="2193703" cy="9525"/>
          </a:xfrm>
          <a:prstGeom prst="rect">
            <a:avLst/>
          </a:prstGeom>
          <a:solidFill>
            <a:srgbClr val="D8DFDD"/>
          </a:solidFill>
        </p:spPr>
      </p:sp>
      <p:sp>
        <p:nvSpPr>
          <p:cNvPr name="TextBox 121" id="121"/>
          <p:cNvSpPr txBox="true"/>
          <p:nvPr/>
        </p:nvSpPr>
        <p:spPr>
          <a:xfrm rot="0">
            <a:off x="800100" y="3402521"/>
            <a:ext cx="21937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122" id="122"/>
          <p:cNvSpPr/>
          <p:nvPr/>
        </p:nvSpPr>
        <p:spPr>
          <a:xfrm rot="0">
            <a:off x="2993803" y="3673983"/>
            <a:ext cx="3187922" cy="9525"/>
          </a:xfrm>
          <a:prstGeom prst="rect">
            <a:avLst/>
          </a:prstGeom>
          <a:solidFill>
            <a:srgbClr val="D8DFDD"/>
          </a:solidFill>
        </p:spPr>
      </p:sp>
      <p:sp>
        <p:nvSpPr>
          <p:cNvPr name="TextBox 123" id="123"/>
          <p:cNvSpPr txBox="true"/>
          <p:nvPr/>
        </p:nvSpPr>
        <p:spPr>
          <a:xfrm rot="0">
            <a:off x="2993803" y="3402521"/>
            <a:ext cx="318792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124" id="124"/>
          <p:cNvSpPr/>
          <p:nvPr/>
        </p:nvSpPr>
        <p:spPr>
          <a:xfrm rot="0">
            <a:off x="6181725" y="3673983"/>
            <a:ext cx="1088803" cy="9525"/>
          </a:xfrm>
          <a:prstGeom prst="rect">
            <a:avLst/>
          </a:prstGeom>
          <a:solidFill>
            <a:srgbClr val="D8DFDD"/>
          </a:solidFill>
        </p:spPr>
      </p:sp>
      <p:sp>
        <p:nvSpPr>
          <p:cNvPr name="TextBox 125" id="125"/>
          <p:cNvSpPr txBox="true"/>
          <p:nvPr/>
        </p:nvSpPr>
        <p:spPr>
          <a:xfrm rot="0">
            <a:off x="6181725" y="3402521"/>
            <a:ext cx="10888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26" id="126"/>
          <p:cNvSpPr/>
          <p:nvPr/>
        </p:nvSpPr>
        <p:spPr>
          <a:xfrm rot="0">
            <a:off x="7270528" y="3673983"/>
            <a:ext cx="1281970" cy="9525"/>
          </a:xfrm>
          <a:prstGeom prst="rect">
            <a:avLst/>
          </a:prstGeom>
          <a:solidFill>
            <a:srgbClr val="D8DFDD"/>
          </a:solidFill>
        </p:spPr>
      </p:sp>
      <p:sp>
        <p:nvSpPr>
          <p:cNvPr name="TextBox 127" id="127"/>
          <p:cNvSpPr txBox="true"/>
          <p:nvPr/>
        </p:nvSpPr>
        <p:spPr>
          <a:xfrm rot="0">
            <a:off x="7270528" y="3402521"/>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91.61</a:t>
            </a:r>
          </a:p>
        </p:txBody>
      </p:sp>
      <p:grpSp>
        <p:nvGrpSpPr>
          <p:cNvPr name="Group 128" id="128"/>
          <p:cNvGrpSpPr/>
          <p:nvPr/>
        </p:nvGrpSpPr>
        <p:grpSpPr>
          <a:xfrm rot="0">
            <a:off x="8552593" y="3431096"/>
            <a:ext cx="1568101" cy="252412"/>
            <a:chOff x="0" y="0"/>
            <a:chExt cx="2090801" cy="336550"/>
          </a:xfrm>
        </p:grpSpPr>
        <p:sp>
          <p:nvSpPr>
            <p:cNvPr name="Freeform 129" id="129"/>
            <p:cNvSpPr/>
            <p:nvPr/>
          </p:nvSpPr>
          <p:spPr>
            <a:xfrm flipH="false" flipV="false" rot="0">
              <a:off x="0" y="0"/>
              <a:ext cx="2090801" cy="336550"/>
            </a:xfrm>
            <a:custGeom>
              <a:avLst/>
              <a:gdLst/>
              <a:ahLst/>
              <a:cxnLst/>
              <a:rect r="r" b="b" t="t" l="l"/>
              <a:pathLst>
                <a:path h="336550" w="2090801">
                  <a:moveTo>
                    <a:pt x="0" y="0"/>
                  </a:moveTo>
                  <a:lnTo>
                    <a:pt x="2090801" y="0"/>
                  </a:lnTo>
                  <a:lnTo>
                    <a:pt x="2090801" y="336550"/>
                  </a:lnTo>
                  <a:lnTo>
                    <a:pt x="0" y="336550"/>
                  </a:lnTo>
                  <a:lnTo>
                    <a:pt x="0" y="0"/>
                  </a:lnTo>
                  <a:close/>
                </a:path>
              </a:pathLst>
            </a:custGeom>
            <a:solidFill>
              <a:srgbClr val="2DD4BF">
                <a:alpha val="1176"/>
              </a:srgbClr>
            </a:solidFill>
          </p:spPr>
        </p:sp>
        <p:sp>
          <p:nvSpPr>
            <p:cNvPr name="TextBox 130" id="130"/>
            <p:cNvSpPr txBox="true"/>
            <p:nvPr/>
          </p:nvSpPr>
          <p:spPr>
            <a:xfrm>
              <a:off x="0" y="-28575"/>
              <a:ext cx="2090801" cy="365125"/>
            </a:xfrm>
            <a:prstGeom prst="rect">
              <a:avLst/>
            </a:prstGeom>
          </p:spPr>
          <p:txBody>
            <a:bodyPr anchor="ctr" rtlCol="false" tIns="60325" lIns="60325" bIns="60325" rIns="60325"/>
            <a:lstStyle/>
            <a:p>
              <a:pPr algn="r">
                <a:lnSpc>
                  <a:spcPts val="1574"/>
                </a:lnSpc>
              </a:pPr>
              <a:r>
                <a:rPr lang="en-US" b="true" sz="1125">
                  <a:solidFill>
                    <a:srgbClr val="087F74"/>
                  </a:solidFill>
                  <a:latin typeface="Arial Bold"/>
                  <a:ea typeface="Arial Bold"/>
                  <a:cs typeface="Arial Bold"/>
                  <a:sym typeface="Arial Bold"/>
                </a:rPr>
                <a:t>88.37</a:t>
              </a:r>
            </a:p>
          </p:txBody>
        </p:sp>
      </p:grpSp>
      <p:sp>
        <p:nvSpPr>
          <p:cNvPr name="AutoShape 131" id="131"/>
          <p:cNvSpPr/>
          <p:nvPr/>
        </p:nvSpPr>
        <p:spPr>
          <a:xfrm rot="0">
            <a:off x="8552593" y="3673983"/>
            <a:ext cx="1568101" cy="9525"/>
          </a:xfrm>
          <a:prstGeom prst="rect">
            <a:avLst/>
          </a:prstGeom>
          <a:solidFill>
            <a:srgbClr val="D8DFDD"/>
          </a:solidFill>
        </p:spPr>
      </p:sp>
      <p:sp>
        <p:nvSpPr>
          <p:cNvPr name="AutoShape 132" id="132"/>
          <p:cNvSpPr/>
          <p:nvPr/>
        </p:nvSpPr>
        <p:spPr>
          <a:xfrm rot="0">
            <a:off x="10120598" y="3673983"/>
            <a:ext cx="1450372" cy="9525"/>
          </a:xfrm>
          <a:prstGeom prst="rect">
            <a:avLst/>
          </a:prstGeom>
          <a:solidFill>
            <a:srgbClr val="D8DFDD"/>
          </a:solidFill>
        </p:spPr>
      </p:sp>
      <p:sp>
        <p:nvSpPr>
          <p:cNvPr name="TextBox 133" id="133"/>
          <p:cNvSpPr txBox="true"/>
          <p:nvPr/>
        </p:nvSpPr>
        <p:spPr>
          <a:xfrm rot="0">
            <a:off x="10120598" y="3402521"/>
            <a:ext cx="145037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85.79</a:t>
            </a:r>
          </a:p>
        </p:txBody>
      </p:sp>
      <p:sp>
        <p:nvSpPr>
          <p:cNvPr name="AutoShape 134" id="134"/>
          <p:cNvSpPr/>
          <p:nvPr/>
        </p:nvSpPr>
        <p:spPr>
          <a:xfrm rot="0">
            <a:off x="11570970" y="3673983"/>
            <a:ext cx="1281970" cy="9525"/>
          </a:xfrm>
          <a:prstGeom prst="rect">
            <a:avLst/>
          </a:prstGeom>
          <a:solidFill>
            <a:srgbClr val="D8DFDD"/>
          </a:solidFill>
        </p:spPr>
      </p:sp>
      <p:sp>
        <p:nvSpPr>
          <p:cNvPr name="TextBox 135" id="135"/>
          <p:cNvSpPr txBox="true"/>
          <p:nvPr/>
        </p:nvSpPr>
        <p:spPr>
          <a:xfrm rot="0">
            <a:off x="11570970" y="3402521"/>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86.80</a:t>
            </a:r>
          </a:p>
        </p:txBody>
      </p:sp>
      <p:sp>
        <p:nvSpPr>
          <p:cNvPr name="AutoShape 136" id="136"/>
          <p:cNvSpPr/>
          <p:nvPr/>
        </p:nvSpPr>
        <p:spPr>
          <a:xfrm rot="0">
            <a:off x="12852940" y="3673983"/>
            <a:ext cx="1586960" cy="9525"/>
          </a:xfrm>
          <a:prstGeom prst="rect">
            <a:avLst/>
          </a:prstGeom>
          <a:solidFill>
            <a:srgbClr val="D8DFDD"/>
          </a:solidFill>
        </p:spPr>
      </p:sp>
      <p:sp>
        <p:nvSpPr>
          <p:cNvPr name="TextBox 137" id="137"/>
          <p:cNvSpPr txBox="true"/>
          <p:nvPr/>
        </p:nvSpPr>
        <p:spPr>
          <a:xfrm rot="0">
            <a:off x="12852940" y="3402521"/>
            <a:ext cx="158696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77.15</a:t>
            </a:r>
          </a:p>
        </p:txBody>
      </p:sp>
      <p:sp>
        <p:nvSpPr>
          <p:cNvPr name="AutoShape 138" id="138"/>
          <p:cNvSpPr/>
          <p:nvPr/>
        </p:nvSpPr>
        <p:spPr>
          <a:xfrm rot="0">
            <a:off x="800100" y="3683508"/>
            <a:ext cx="2193703" cy="19050"/>
          </a:xfrm>
          <a:prstGeom prst="rect">
            <a:avLst/>
          </a:prstGeom>
          <a:solidFill>
            <a:srgbClr val="AEBDBB"/>
          </a:solidFill>
        </p:spPr>
      </p:sp>
      <p:sp>
        <p:nvSpPr>
          <p:cNvPr name="AutoShape 139" id="139"/>
          <p:cNvSpPr/>
          <p:nvPr/>
        </p:nvSpPr>
        <p:spPr>
          <a:xfrm rot="0">
            <a:off x="800100" y="3926396"/>
            <a:ext cx="2193703" cy="9525"/>
          </a:xfrm>
          <a:prstGeom prst="rect">
            <a:avLst/>
          </a:prstGeom>
          <a:solidFill>
            <a:srgbClr val="D8DFDD"/>
          </a:solidFill>
        </p:spPr>
      </p:sp>
      <p:sp>
        <p:nvSpPr>
          <p:cNvPr name="TextBox 140" id="140"/>
          <p:cNvSpPr txBox="true"/>
          <p:nvPr/>
        </p:nvSpPr>
        <p:spPr>
          <a:xfrm rot="0">
            <a:off x="800100" y="3654933"/>
            <a:ext cx="21937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41" id="141"/>
          <p:cNvSpPr/>
          <p:nvPr/>
        </p:nvSpPr>
        <p:spPr>
          <a:xfrm rot="0">
            <a:off x="2993803" y="3683508"/>
            <a:ext cx="3187922" cy="19050"/>
          </a:xfrm>
          <a:prstGeom prst="rect">
            <a:avLst/>
          </a:prstGeom>
          <a:solidFill>
            <a:srgbClr val="AEBDBB"/>
          </a:solidFill>
        </p:spPr>
      </p:sp>
      <p:sp>
        <p:nvSpPr>
          <p:cNvPr name="AutoShape 142" id="142"/>
          <p:cNvSpPr/>
          <p:nvPr/>
        </p:nvSpPr>
        <p:spPr>
          <a:xfrm rot="0">
            <a:off x="2993803" y="3926396"/>
            <a:ext cx="3187922" cy="9525"/>
          </a:xfrm>
          <a:prstGeom prst="rect">
            <a:avLst/>
          </a:prstGeom>
          <a:solidFill>
            <a:srgbClr val="D8DFDD"/>
          </a:solidFill>
        </p:spPr>
      </p:sp>
      <p:sp>
        <p:nvSpPr>
          <p:cNvPr name="TextBox 143" id="143"/>
          <p:cNvSpPr txBox="true"/>
          <p:nvPr/>
        </p:nvSpPr>
        <p:spPr>
          <a:xfrm rot="0">
            <a:off x="2993803" y="3654933"/>
            <a:ext cx="318792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144" id="144"/>
          <p:cNvSpPr/>
          <p:nvPr/>
        </p:nvSpPr>
        <p:spPr>
          <a:xfrm rot="0">
            <a:off x="6181725" y="3683508"/>
            <a:ext cx="1088803" cy="19050"/>
          </a:xfrm>
          <a:prstGeom prst="rect">
            <a:avLst/>
          </a:prstGeom>
          <a:solidFill>
            <a:srgbClr val="AEBDBB"/>
          </a:solidFill>
        </p:spPr>
      </p:sp>
      <p:sp>
        <p:nvSpPr>
          <p:cNvPr name="AutoShape 145" id="145"/>
          <p:cNvSpPr/>
          <p:nvPr/>
        </p:nvSpPr>
        <p:spPr>
          <a:xfrm rot="0">
            <a:off x="6181725" y="3926396"/>
            <a:ext cx="1088803" cy="9525"/>
          </a:xfrm>
          <a:prstGeom prst="rect">
            <a:avLst/>
          </a:prstGeom>
          <a:solidFill>
            <a:srgbClr val="D8DFDD"/>
          </a:solidFill>
        </p:spPr>
      </p:sp>
      <p:sp>
        <p:nvSpPr>
          <p:cNvPr name="TextBox 146" id="146"/>
          <p:cNvSpPr txBox="true"/>
          <p:nvPr/>
        </p:nvSpPr>
        <p:spPr>
          <a:xfrm rot="0">
            <a:off x="6181725" y="3654933"/>
            <a:ext cx="10888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47" id="147"/>
          <p:cNvSpPr/>
          <p:nvPr/>
        </p:nvSpPr>
        <p:spPr>
          <a:xfrm rot="0">
            <a:off x="7270528" y="3683508"/>
            <a:ext cx="1281970" cy="19050"/>
          </a:xfrm>
          <a:prstGeom prst="rect">
            <a:avLst/>
          </a:prstGeom>
          <a:solidFill>
            <a:srgbClr val="AEBDBB"/>
          </a:solidFill>
        </p:spPr>
      </p:sp>
      <p:sp>
        <p:nvSpPr>
          <p:cNvPr name="AutoShape 148" id="148"/>
          <p:cNvSpPr/>
          <p:nvPr/>
        </p:nvSpPr>
        <p:spPr>
          <a:xfrm rot="0">
            <a:off x="7270528" y="3926396"/>
            <a:ext cx="1281970" cy="9525"/>
          </a:xfrm>
          <a:prstGeom prst="rect">
            <a:avLst/>
          </a:prstGeom>
          <a:solidFill>
            <a:srgbClr val="D8DFDD"/>
          </a:solidFill>
        </p:spPr>
      </p:sp>
      <p:sp>
        <p:nvSpPr>
          <p:cNvPr name="TextBox 149" id="149"/>
          <p:cNvSpPr txBox="true"/>
          <p:nvPr/>
        </p:nvSpPr>
        <p:spPr>
          <a:xfrm rot="0">
            <a:off x="7270528" y="3654933"/>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85.95</a:t>
            </a:r>
          </a:p>
        </p:txBody>
      </p:sp>
      <p:sp>
        <p:nvSpPr>
          <p:cNvPr name="AutoShape 150" id="150"/>
          <p:cNvSpPr/>
          <p:nvPr/>
        </p:nvSpPr>
        <p:spPr>
          <a:xfrm rot="0">
            <a:off x="8552593" y="3683508"/>
            <a:ext cx="1568101" cy="19050"/>
          </a:xfrm>
          <a:prstGeom prst="rect">
            <a:avLst/>
          </a:prstGeom>
          <a:solidFill>
            <a:srgbClr val="AEBDBB"/>
          </a:solidFill>
        </p:spPr>
      </p:sp>
      <p:sp>
        <p:nvSpPr>
          <p:cNvPr name="AutoShape 151" id="151"/>
          <p:cNvSpPr/>
          <p:nvPr/>
        </p:nvSpPr>
        <p:spPr>
          <a:xfrm rot="0">
            <a:off x="8552593" y="3926396"/>
            <a:ext cx="1568101" cy="9525"/>
          </a:xfrm>
          <a:prstGeom prst="rect">
            <a:avLst/>
          </a:prstGeom>
          <a:solidFill>
            <a:srgbClr val="D8DFDD"/>
          </a:solidFill>
        </p:spPr>
      </p:sp>
      <p:sp>
        <p:nvSpPr>
          <p:cNvPr name="TextBox 152" id="152"/>
          <p:cNvSpPr txBox="true"/>
          <p:nvPr/>
        </p:nvSpPr>
        <p:spPr>
          <a:xfrm rot="0">
            <a:off x="8552593" y="3654933"/>
            <a:ext cx="156810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77.61</a:t>
            </a:r>
          </a:p>
        </p:txBody>
      </p:sp>
      <p:sp>
        <p:nvSpPr>
          <p:cNvPr name="AutoShape 153" id="153"/>
          <p:cNvSpPr/>
          <p:nvPr/>
        </p:nvSpPr>
        <p:spPr>
          <a:xfrm rot="0">
            <a:off x="10120598" y="3683508"/>
            <a:ext cx="1450372" cy="19050"/>
          </a:xfrm>
          <a:prstGeom prst="rect">
            <a:avLst/>
          </a:prstGeom>
          <a:solidFill>
            <a:srgbClr val="AEBDBB"/>
          </a:solidFill>
        </p:spPr>
      </p:sp>
      <p:sp>
        <p:nvSpPr>
          <p:cNvPr name="AutoShape 154" id="154"/>
          <p:cNvSpPr/>
          <p:nvPr/>
        </p:nvSpPr>
        <p:spPr>
          <a:xfrm rot="0">
            <a:off x="10120598" y="3926396"/>
            <a:ext cx="1450372" cy="9525"/>
          </a:xfrm>
          <a:prstGeom prst="rect">
            <a:avLst/>
          </a:prstGeom>
          <a:solidFill>
            <a:srgbClr val="D8DFDD"/>
          </a:solidFill>
        </p:spPr>
      </p:sp>
      <p:sp>
        <p:nvSpPr>
          <p:cNvPr name="TextBox 155" id="155"/>
          <p:cNvSpPr txBox="true"/>
          <p:nvPr/>
        </p:nvSpPr>
        <p:spPr>
          <a:xfrm rot="0">
            <a:off x="10120598" y="3654933"/>
            <a:ext cx="145037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82.44</a:t>
            </a:r>
          </a:p>
        </p:txBody>
      </p:sp>
      <p:sp>
        <p:nvSpPr>
          <p:cNvPr name="AutoShape 156" id="156"/>
          <p:cNvSpPr/>
          <p:nvPr/>
        </p:nvSpPr>
        <p:spPr>
          <a:xfrm rot="0">
            <a:off x="11570970" y="3683508"/>
            <a:ext cx="1281970" cy="19050"/>
          </a:xfrm>
          <a:prstGeom prst="rect">
            <a:avLst/>
          </a:prstGeom>
          <a:solidFill>
            <a:srgbClr val="AEBDBB"/>
          </a:solidFill>
        </p:spPr>
      </p:sp>
      <p:sp>
        <p:nvSpPr>
          <p:cNvPr name="AutoShape 157" id="157"/>
          <p:cNvSpPr/>
          <p:nvPr/>
        </p:nvSpPr>
        <p:spPr>
          <a:xfrm rot="0">
            <a:off x="11570970" y="3926396"/>
            <a:ext cx="1281970" cy="9525"/>
          </a:xfrm>
          <a:prstGeom prst="rect">
            <a:avLst/>
          </a:prstGeom>
          <a:solidFill>
            <a:srgbClr val="D8DFDD"/>
          </a:solidFill>
        </p:spPr>
      </p:sp>
      <p:sp>
        <p:nvSpPr>
          <p:cNvPr name="TextBox 158" id="158"/>
          <p:cNvSpPr txBox="true"/>
          <p:nvPr/>
        </p:nvSpPr>
        <p:spPr>
          <a:xfrm rot="0">
            <a:off x="11570970" y="3654933"/>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79.45</a:t>
            </a:r>
          </a:p>
        </p:txBody>
      </p:sp>
      <p:sp>
        <p:nvSpPr>
          <p:cNvPr name="AutoShape 159" id="159"/>
          <p:cNvSpPr/>
          <p:nvPr/>
        </p:nvSpPr>
        <p:spPr>
          <a:xfrm rot="0">
            <a:off x="12852940" y="3683508"/>
            <a:ext cx="1586960" cy="19050"/>
          </a:xfrm>
          <a:prstGeom prst="rect">
            <a:avLst/>
          </a:prstGeom>
          <a:solidFill>
            <a:srgbClr val="AEBDBB"/>
          </a:solidFill>
        </p:spPr>
      </p:sp>
      <p:sp>
        <p:nvSpPr>
          <p:cNvPr name="AutoShape 160" id="160"/>
          <p:cNvSpPr/>
          <p:nvPr/>
        </p:nvSpPr>
        <p:spPr>
          <a:xfrm rot="0">
            <a:off x="12852940" y="3926396"/>
            <a:ext cx="1586960" cy="9525"/>
          </a:xfrm>
          <a:prstGeom prst="rect">
            <a:avLst/>
          </a:prstGeom>
          <a:solidFill>
            <a:srgbClr val="D8DFDD"/>
          </a:solidFill>
        </p:spPr>
      </p:sp>
      <p:sp>
        <p:nvSpPr>
          <p:cNvPr name="TextBox 161" id="161"/>
          <p:cNvSpPr txBox="true"/>
          <p:nvPr/>
        </p:nvSpPr>
        <p:spPr>
          <a:xfrm rot="0">
            <a:off x="12852940" y="3654933"/>
            <a:ext cx="158696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66.48</a:t>
            </a:r>
          </a:p>
        </p:txBody>
      </p:sp>
      <p:sp>
        <p:nvSpPr>
          <p:cNvPr name="AutoShape 162" id="162"/>
          <p:cNvSpPr/>
          <p:nvPr/>
        </p:nvSpPr>
        <p:spPr>
          <a:xfrm rot="0">
            <a:off x="800100" y="4174046"/>
            <a:ext cx="2193703" cy="9525"/>
          </a:xfrm>
          <a:prstGeom prst="rect">
            <a:avLst/>
          </a:prstGeom>
          <a:solidFill>
            <a:srgbClr val="D8DFDD"/>
          </a:solidFill>
        </p:spPr>
      </p:sp>
      <p:sp>
        <p:nvSpPr>
          <p:cNvPr name="TextBox 163" id="163"/>
          <p:cNvSpPr txBox="true"/>
          <p:nvPr/>
        </p:nvSpPr>
        <p:spPr>
          <a:xfrm rot="0">
            <a:off x="800100" y="3907346"/>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64" id="164"/>
          <p:cNvSpPr/>
          <p:nvPr/>
        </p:nvSpPr>
        <p:spPr>
          <a:xfrm rot="0">
            <a:off x="2993803" y="4174046"/>
            <a:ext cx="3187922" cy="9525"/>
          </a:xfrm>
          <a:prstGeom prst="rect">
            <a:avLst/>
          </a:prstGeom>
          <a:solidFill>
            <a:srgbClr val="D8DFDD"/>
          </a:solidFill>
        </p:spPr>
      </p:sp>
      <p:sp>
        <p:nvSpPr>
          <p:cNvPr name="TextBox 165" id="165"/>
          <p:cNvSpPr txBox="true"/>
          <p:nvPr/>
        </p:nvSpPr>
        <p:spPr>
          <a:xfrm rot="0">
            <a:off x="2993803" y="3907346"/>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166" id="166"/>
          <p:cNvSpPr/>
          <p:nvPr/>
        </p:nvSpPr>
        <p:spPr>
          <a:xfrm rot="0">
            <a:off x="6181725" y="4174046"/>
            <a:ext cx="1088803" cy="9525"/>
          </a:xfrm>
          <a:prstGeom prst="rect">
            <a:avLst/>
          </a:prstGeom>
          <a:solidFill>
            <a:srgbClr val="D8DFDD"/>
          </a:solidFill>
        </p:spPr>
      </p:sp>
      <p:sp>
        <p:nvSpPr>
          <p:cNvPr name="TextBox 167" id="167"/>
          <p:cNvSpPr txBox="true"/>
          <p:nvPr/>
        </p:nvSpPr>
        <p:spPr>
          <a:xfrm rot="0">
            <a:off x="6181725" y="3907346"/>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68" id="168"/>
          <p:cNvSpPr/>
          <p:nvPr/>
        </p:nvSpPr>
        <p:spPr>
          <a:xfrm rot="0">
            <a:off x="7270528" y="4174046"/>
            <a:ext cx="1281970" cy="9525"/>
          </a:xfrm>
          <a:prstGeom prst="rect">
            <a:avLst/>
          </a:prstGeom>
          <a:solidFill>
            <a:srgbClr val="D8DFDD"/>
          </a:solidFill>
        </p:spPr>
      </p:sp>
      <p:sp>
        <p:nvSpPr>
          <p:cNvPr name="TextBox 169" id="169"/>
          <p:cNvSpPr txBox="true"/>
          <p:nvPr/>
        </p:nvSpPr>
        <p:spPr>
          <a:xfrm rot="0">
            <a:off x="7270528" y="3907346"/>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87.68</a:t>
            </a:r>
          </a:p>
        </p:txBody>
      </p:sp>
      <p:sp>
        <p:nvSpPr>
          <p:cNvPr name="AutoShape 170" id="170"/>
          <p:cNvSpPr/>
          <p:nvPr/>
        </p:nvSpPr>
        <p:spPr>
          <a:xfrm rot="0">
            <a:off x="8552593" y="4174046"/>
            <a:ext cx="1568101" cy="9525"/>
          </a:xfrm>
          <a:prstGeom prst="rect">
            <a:avLst/>
          </a:prstGeom>
          <a:solidFill>
            <a:srgbClr val="D8DFDD"/>
          </a:solidFill>
        </p:spPr>
      </p:sp>
      <p:sp>
        <p:nvSpPr>
          <p:cNvPr name="TextBox 171" id="171"/>
          <p:cNvSpPr txBox="true"/>
          <p:nvPr/>
        </p:nvSpPr>
        <p:spPr>
          <a:xfrm rot="0">
            <a:off x="8552593" y="3907346"/>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79.07</a:t>
            </a:r>
          </a:p>
        </p:txBody>
      </p:sp>
      <p:sp>
        <p:nvSpPr>
          <p:cNvPr name="AutoShape 172" id="172"/>
          <p:cNvSpPr/>
          <p:nvPr/>
        </p:nvSpPr>
        <p:spPr>
          <a:xfrm rot="0">
            <a:off x="10120598" y="4174046"/>
            <a:ext cx="1450372" cy="9525"/>
          </a:xfrm>
          <a:prstGeom prst="rect">
            <a:avLst/>
          </a:prstGeom>
          <a:solidFill>
            <a:srgbClr val="D8DFDD"/>
          </a:solidFill>
        </p:spPr>
      </p:sp>
      <p:sp>
        <p:nvSpPr>
          <p:cNvPr name="TextBox 173" id="173"/>
          <p:cNvSpPr txBox="true"/>
          <p:nvPr/>
        </p:nvSpPr>
        <p:spPr>
          <a:xfrm rot="0">
            <a:off x="10120598" y="3907346"/>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84.32</a:t>
            </a:r>
          </a:p>
        </p:txBody>
      </p:sp>
      <p:sp>
        <p:nvSpPr>
          <p:cNvPr name="AutoShape 174" id="174"/>
          <p:cNvSpPr/>
          <p:nvPr/>
        </p:nvSpPr>
        <p:spPr>
          <a:xfrm rot="0">
            <a:off x="11570970" y="4174046"/>
            <a:ext cx="1281970" cy="9525"/>
          </a:xfrm>
          <a:prstGeom prst="rect">
            <a:avLst/>
          </a:prstGeom>
          <a:solidFill>
            <a:srgbClr val="D8DFDD"/>
          </a:solidFill>
        </p:spPr>
      </p:sp>
      <p:sp>
        <p:nvSpPr>
          <p:cNvPr name="TextBox 175" id="175"/>
          <p:cNvSpPr txBox="true"/>
          <p:nvPr/>
        </p:nvSpPr>
        <p:spPr>
          <a:xfrm rot="0">
            <a:off x="11570970" y="3907346"/>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81.08</a:t>
            </a:r>
          </a:p>
        </p:txBody>
      </p:sp>
      <p:sp>
        <p:nvSpPr>
          <p:cNvPr name="AutoShape 176" id="176"/>
          <p:cNvSpPr/>
          <p:nvPr/>
        </p:nvSpPr>
        <p:spPr>
          <a:xfrm rot="0">
            <a:off x="12852940" y="4174046"/>
            <a:ext cx="1586960" cy="9525"/>
          </a:xfrm>
          <a:prstGeom prst="rect">
            <a:avLst/>
          </a:prstGeom>
          <a:solidFill>
            <a:srgbClr val="D8DFDD"/>
          </a:solidFill>
        </p:spPr>
      </p:sp>
      <p:sp>
        <p:nvSpPr>
          <p:cNvPr name="TextBox 177" id="177"/>
          <p:cNvSpPr txBox="true"/>
          <p:nvPr/>
        </p:nvSpPr>
        <p:spPr>
          <a:xfrm rot="0">
            <a:off x="12852940" y="3907346"/>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68.90</a:t>
            </a:r>
          </a:p>
        </p:txBody>
      </p:sp>
      <p:sp>
        <p:nvSpPr>
          <p:cNvPr name="AutoShape 178" id="178"/>
          <p:cNvSpPr/>
          <p:nvPr/>
        </p:nvSpPr>
        <p:spPr>
          <a:xfrm rot="0">
            <a:off x="800100" y="4421696"/>
            <a:ext cx="2193703" cy="9525"/>
          </a:xfrm>
          <a:prstGeom prst="rect">
            <a:avLst/>
          </a:prstGeom>
          <a:solidFill>
            <a:srgbClr val="D8DFDD"/>
          </a:solidFill>
        </p:spPr>
      </p:sp>
      <p:sp>
        <p:nvSpPr>
          <p:cNvPr name="TextBox 179" id="179"/>
          <p:cNvSpPr txBox="true"/>
          <p:nvPr/>
        </p:nvSpPr>
        <p:spPr>
          <a:xfrm rot="0">
            <a:off x="800100" y="4154996"/>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80" id="180"/>
          <p:cNvSpPr/>
          <p:nvPr/>
        </p:nvSpPr>
        <p:spPr>
          <a:xfrm rot="0">
            <a:off x="2993803" y="4421696"/>
            <a:ext cx="3187922" cy="9525"/>
          </a:xfrm>
          <a:prstGeom prst="rect">
            <a:avLst/>
          </a:prstGeom>
          <a:solidFill>
            <a:srgbClr val="D8DFDD"/>
          </a:solidFill>
        </p:spPr>
      </p:sp>
      <p:sp>
        <p:nvSpPr>
          <p:cNvPr name="TextBox 181" id="181"/>
          <p:cNvSpPr txBox="true"/>
          <p:nvPr/>
        </p:nvSpPr>
        <p:spPr>
          <a:xfrm rot="0">
            <a:off x="2993803" y="4154996"/>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182" id="182"/>
          <p:cNvSpPr/>
          <p:nvPr/>
        </p:nvSpPr>
        <p:spPr>
          <a:xfrm rot="0">
            <a:off x="6181725" y="4421696"/>
            <a:ext cx="1088803" cy="9525"/>
          </a:xfrm>
          <a:prstGeom prst="rect">
            <a:avLst/>
          </a:prstGeom>
          <a:solidFill>
            <a:srgbClr val="D8DFDD"/>
          </a:solidFill>
        </p:spPr>
      </p:sp>
      <p:sp>
        <p:nvSpPr>
          <p:cNvPr name="TextBox 183" id="183"/>
          <p:cNvSpPr txBox="true"/>
          <p:nvPr/>
        </p:nvSpPr>
        <p:spPr>
          <a:xfrm rot="0">
            <a:off x="6181725" y="4154996"/>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84" id="184"/>
          <p:cNvSpPr/>
          <p:nvPr/>
        </p:nvSpPr>
        <p:spPr>
          <a:xfrm rot="0">
            <a:off x="7270528" y="4421696"/>
            <a:ext cx="1281970" cy="9525"/>
          </a:xfrm>
          <a:prstGeom prst="rect">
            <a:avLst/>
          </a:prstGeom>
          <a:solidFill>
            <a:srgbClr val="D8DFDD"/>
          </a:solidFill>
        </p:spPr>
      </p:sp>
      <p:sp>
        <p:nvSpPr>
          <p:cNvPr name="TextBox 185" id="185"/>
          <p:cNvSpPr txBox="true"/>
          <p:nvPr/>
        </p:nvSpPr>
        <p:spPr>
          <a:xfrm rot="0">
            <a:off x="7270528" y="4154996"/>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87.29</a:t>
            </a:r>
          </a:p>
        </p:txBody>
      </p:sp>
      <p:sp>
        <p:nvSpPr>
          <p:cNvPr name="AutoShape 186" id="186"/>
          <p:cNvSpPr/>
          <p:nvPr/>
        </p:nvSpPr>
        <p:spPr>
          <a:xfrm rot="0">
            <a:off x="8552593" y="4421696"/>
            <a:ext cx="1568101" cy="9525"/>
          </a:xfrm>
          <a:prstGeom prst="rect">
            <a:avLst/>
          </a:prstGeom>
          <a:solidFill>
            <a:srgbClr val="D8DFDD"/>
          </a:solidFill>
        </p:spPr>
      </p:sp>
      <p:sp>
        <p:nvSpPr>
          <p:cNvPr name="TextBox 187" id="187"/>
          <p:cNvSpPr txBox="true"/>
          <p:nvPr/>
        </p:nvSpPr>
        <p:spPr>
          <a:xfrm rot="0">
            <a:off x="8552593" y="4154996"/>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78.22</a:t>
            </a:r>
          </a:p>
        </p:txBody>
      </p:sp>
      <p:sp>
        <p:nvSpPr>
          <p:cNvPr name="AutoShape 188" id="188"/>
          <p:cNvSpPr/>
          <p:nvPr/>
        </p:nvSpPr>
        <p:spPr>
          <a:xfrm rot="0">
            <a:off x="10120598" y="4421696"/>
            <a:ext cx="1450372" cy="9525"/>
          </a:xfrm>
          <a:prstGeom prst="rect">
            <a:avLst/>
          </a:prstGeom>
          <a:solidFill>
            <a:srgbClr val="D8DFDD"/>
          </a:solidFill>
        </p:spPr>
      </p:sp>
      <p:sp>
        <p:nvSpPr>
          <p:cNvPr name="TextBox 189" id="189"/>
          <p:cNvSpPr txBox="true"/>
          <p:nvPr/>
        </p:nvSpPr>
        <p:spPr>
          <a:xfrm rot="0">
            <a:off x="10120598" y="4154996"/>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84.69</a:t>
            </a:r>
          </a:p>
        </p:txBody>
      </p:sp>
      <p:sp>
        <p:nvSpPr>
          <p:cNvPr name="AutoShape 190" id="190"/>
          <p:cNvSpPr/>
          <p:nvPr/>
        </p:nvSpPr>
        <p:spPr>
          <a:xfrm rot="0">
            <a:off x="11570970" y="4421696"/>
            <a:ext cx="1281970" cy="9525"/>
          </a:xfrm>
          <a:prstGeom prst="rect">
            <a:avLst/>
          </a:prstGeom>
          <a:solidFill>
            <a:srgbClr val="D8DFDD"/>
          </a:solidFill>
        </p:spPr>
      </p:sp>
      <p:sp>
        <p:nvSpPr>
          <p:cNvPr name="TextBox 191" id="191"/>
          <p:cNvSpPr txBox="true"/>
          <p:nvPr/>
        </p:nvSpPr>
        <p:spPr>
          <a:xfrm rot="0">
            <a:off x="11570970" y="4154996"/>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80.74</a:t>
            </a:r>
          </a:p>
        </p:txBody>
      </p:sp>
      <p:sp>
        <p:nvSpPr>
          <p:cNvPr name="AutoShape 192" id="192"/>
          <p:cNvSpPr/>
          <p:nvPr/>
        </p:nvSpPr>
        <p:spPr>
          <a:xfrm rot="0">
            <a:off x="12852940" y="4421696"/>
            <a:ext cx="1586960" cy="9525"/>
          </a:xfrm>
          <a:prstGeom prst="rect">
            <a:avLst/>
          </a:prstGeom>
          <a:solidFill>
            <a:srgbClr val="D8DFDD"/>
          </a:solidFill>
        </p:spPr>
      </p:sp>
      <p:sp>
        <p:nvSpPr>
          <p:cNvPr name="TextBox 193" id="193"/>
          <p:cNvSpPr txBox="true"/>
          <p:nvPr/>
        </p:nvSpPr>
        <p:spPr>
          <a:xfrm rot="0">
            <a:off x="12852940" y="4154996"/>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68.44</a:t>
            </a:r>
          </a:p>
        </p:txBody>
      </p:sp>
      <p:sp>
        <p:nvSpPr>
          <p:cNvPr name="AutoShape 194" id="194"/>
          <p:cNvSpPr/>
          <p:nvPr/>
        </p:nvSpPr>
        <p:spPr>
          <a:xfrm rot="0">
            <a:off x="800100" y="4669346"/>
            <a:ext cx="2193703" cy="9525"/>
          </a:xfrm>
          <a:prstGeom prst="rect">
            <a:avLst/>
          </a:prstGeom>
          <a:solidFill>
            <a:srgbClr val="D8DFDD"/>
          </a:solidFill>
        </p:spPr>
      </p:sp>
      <p:sp>
        <p:nvSpPr>
          <p:cNvPr name="TextBox 195" id="195"/>
          <p:cNvSpPr txBox="true"/>
          <p:nvPr/>
        </p:nvSpPr>
        <p:spPr>
          <a:xfrm rot="0">
            <a:off x="800100" y="4402645"/>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96" id="196"/>
          <p:cNvSpPr/>
          <p:nvPr/>
        </p:nvSpPr>
        <p:spPr>
          <a:xfrm rot="0">
            <a:off x="2993803" y="4669346"/>
            <a:ext cx="3187922" cy="9525"/>
          </a:xfrm>
          <a:prstGeom prst="rect">
            <a:avLst/>
          </a:prstGeom>
          <a:solidFill>
            <a:srgbClr val="D8DFDD"/>
          </a:solidFill>
        </p:spPr>
      </p:sp>
      <p:sp>
        <p:nvSpPr>
          <p:cNvPr name="TextBox 197" id="197"/>
          <p:cNvSpPr txBox="true"/>
          <p:nvPr/>
        </p:nvSpPr>
        <p:spPr>
          <a:xfrm rot="0">
            <a:off x="2993803" y="4402645"/>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198" id="198"/>
          <p:cNvSpPr/>
          <p:nvPr/>
        </p:nvSpPr>
        <p:spPr>
          <a:xfrm rot="0">
            <a:off x="6181725" y="4669346"/>
            <a:ext cx="1088803" cy="9525"/>
          </a:xfrm>
          <a:prstGeom prst="rect">
            <a:avLst/>
          </a:prstGeom>
          <a:solidFill>
            <a:srgbClr val="D8DFDD"/>
          </a:solidFill>
        </p:spPr>
      </p:sp>
      <p:sp>
        <p:nvSpPr>
          <p:cNvPr name="TextBox 199" id="199"/>
          <p:cNvSpPr txBox="true"/>
          <p:nvPr/>
        </p:nvSpPr>
        <p:spPr>
          <a:xfrm rot="0">
            <a:off x="6181725" y="4402645"/>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00" id="200"/>
          <p:cNvSpPr/>
          <p:nvPr/>
        </p:nvSpPr>
        <p:spPr>
          <a:xfrm rot="0">
            <a:off x="7270528" y="4669346"/>
            <a:ext cx="1281970" cy="9525"/>
          </a:xfrm>
          <a:prstGeom prst="rect">
            <a:avLst/>
          </a:prstGeom>
          <a:solidFill>
            <a:srgbClr val="D8DFDD"/>
          </a:solidFill>
        </p:spPr>
      </p:sp>
      <p:sp>
        <p:nvSpPr>
          <p:cNvPr name="TextBox 201" id="201"/>
          <p:cNvSpPr txBox="true"/>
          <p:nvPr/>
        </p:nvSpPr>
        <p:spPr>
          <a:xfrm rot="0">
            <a:off x="7270528" y="440264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86.17</a:t>
            </a:r>
          </a:p>
        </p:txBody>
      </p:sp>
      <p:sp>
        <p:nvSpPr>
          <p:cNvPr name="AutoShape 202" id="202"/>
          <p:cNvSpPr/>
          <p:nvPr/>
        </p:nvSpPr>
        <p:spPr>
          <a:xfrm rot="0">
            <a:off x="8552593" y="4669346"/>
            <a:ext cx="1568101" cy="9525"/>
          </a:xfrm>
          <a:prstGeom prst="rect">
            <a:avLst/>
          </a:prstGeom>
          <a:solidFill>
            <a:srgbClr val="D8DFDD"/>
          </a:solidFill>
        </p:spPr>
      </p:sp>
      <p:sp>
        <p:nvSpPr>
          <p:cNvPr name="TextBox 203" id="203"/>
          <p:cNvSpPr txBox="true"/>
          <p:nvPr/>
        </p:nvSpPr>
        <p:spPr>
          <a:xfrm rot="0">
            <a:off x="8552593" y="4402645"/>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82.70</a:t>
            </a:r>
          </a:p>
        </p:txBody>
      </p:sp>
      <p:sp>
        <p:nvSpPr>
          <p:cNvPr name="AutoShape 204" id="204"/>
          <p:cNvSpPr/>
          <p:nvPr/>
        </p:nvSpPr>
        <p:spPr>
          <a:xfrm rot="0">
            <a:off x="10120598" y="4669346"/>
            <a:ext cx="1450372" cy="9525"/>
          </a:xfrm>
          <a:prstGeom prst="rect">
            <a:avLst/>
          </a:prstGeom>
          <a:solidFill>
            <a:srgbClr val="D8DFDD"/>
          </a:solidFill>
        </p:spPr>
      </p:sp>
      <p:sp>
        <p:nvSpPr>
          <p:cNvPr name="TextBox 205" id="205"/>
          <p:cNvSpPr txBox="true"/>
          <p:nvPr/>
        </p:nvSpPr>
        <p:spPr>
          <a:xfrm rot="0">
            <a:off x="10120598" y="4402645"/>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80.49</a:t>
            </a:r>
          </a:p>
        </p:txBody>
      </p:sp>
      <p:sp>
        <p:nvSpPr>
          <p:cNvPr name="AutoShape 206" id="206"/>
          <p:cNvSpPr/>
          <p:nvPr/>
        </p:nvSpPr>
        <p:spPr>
          <a:xfrm rot="0">
            <a:off x="11570970" y="4669346"/>
            <a:ext cx="1281970" cy="9525"/>
          </a:xfrm>
          <a:prstGeom prst="rect">
            <a:avLst/>
          </a:prstGeom>
          <a:solidFill>
            <a:srgbClr val="D8DFDD"/>
          </a:solidFill>
        </p:spPr>
      </p:sp>
      <p:sp>
        <p:nvSpPr>
          <p:cNvPr name="TextBox 207" id="207"/>
          <p:cNvSpPr txBox="true"/>
          <p:nvPr/>
        </p:nvSpPr>
        <p:spPr>
          <a:xfrm rot="0">
            <a:off x="11570970" y="440264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80.68</a:t>
            </a:r>
          </a:p>
        </p:txBody>
      </p:sp>
      <p:sp>
        <p:nvSpPr>
          <p:cNvPr name="AutoShape 208" id="208"/>
          <p:cNvSpPr/>
          <p:nvPr/>
        </p:nvSpPr>
        <p:spPr>
          <a:xfrm rot="0">
            <a:off x="12852940" y="4669346"/>
            <a:ext cx="1586960" cy="9525"/>
          </a:xfrm>
          <a:prstGeom prst="rect">
            <a:avLst/>
          </a:prstGeom>
          <a:solidFill>
            <a:srgbClr val="D8DFDD"/>
          </a:solidFill>
        </p:spPr>
      </p:sp>
      <p:sp>
        <p:nvSpPr>
          <p:cNvPr name="TextBox 209" id="209"/>
          <p:cNvSpPr txBox="true"/>
          <p:nvPr/>
        </p:nvSpPr>
        <p:spPr>
          <a:xfrm rot="0">
            <a:off x="12852940" y="4402645"/>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68.02</a:t>
            </a:r>
          </a:p>
        </p:txBody>
      </p:sp>
      <p:sp>
        <p:nvSpPr>
          <p:cNvPr name="AutoShape 210" id="210"/>
          <p:cNvSpPr/>
          <p:nvPr/>
        </p:nvSpPr>
        <p:spPr>
          <a:xfrm rot="0">
            <a:off x="800100" y="4916996"/>
            <a:ext cx="2193703" cy="9525"/>
          </a:xfrm>
          <a:prstGeom prst="rect">
            <a:avLst/>
          </a:prstGeom>
          <a:solidFill>
            <a:srgbClr val="D8DFDD"/>
          </a:solidFill>
        </p:spPr>
      </p:sp>
      <p:sp>
        <p:nvSpPr>
          <p:cNvPr name="TextBox 211" id="211"/>
          <p:cNvSpPr txBox="true"/>
          <p:nvPr/>
        </p:nvSpPr>
        <p:spPr>
          <a:xfrm rot="0">
            <a:off x="800100" y="4650295"/>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12" id="212"/>
          <p:cNvSpPr/>
          <p:nvPr/>
        </p:nvSpPr>
        <p:spPr>
          <a:xfrm rot="0">
            <a:off x="2993803" y="4916996"/>
            <a:ext cx="3187922" cy="9525"/>
          </a:xfrm>
          <a:prstGeom prst="rect">
            <a:avLst/>
          </a:prstGeom>
          <a:solidFill>
            <a:srgbClr val="D8DFDD"/>
          </a:solidFill>
        </p:spPr>
      </p:sp>
      <p:sp>
        <p:nvSpPr>
          <p:cNvPr name="TextBox 213" id="213"/>
          <p:cNvSpPr txBox="true"/>
          <p:nvPr/>
        </p:nvSpPr>
        <p:spPr>
          <a:xfrm rot="0">
            <a:off x="2993803" y="4650295"/>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214" id="214"/>
          <p:cNvSpPr/>
          <p:nvPr/>
        </p:nvSpPr>
        <p:spPr>
          <a:xfrm rot="0">
            <a:off x="6181725" y="4916996"/>
            <a:ext cx="1088803" cy="9525"/>
          </a:xfrm>
          <a:prstGeom prst="rect">
            <a:avLst/>
          </a:prstGeom>
          <a:solidFill>
            <a:srgbClr val="D8DFDD"/>
          </a:solidFill>
        </p:spPr>
      </p:sp>
      <p:sp>
        <p:nvSpPr>
          <p:cNvPr name="TextBox 215" id="215"/>
          <p:cNvSpPr txBox="true"/>
          <p:nvPr/>
        </p:nvSpPr>
        <p:spPr>
          <a:xfrm rot="0">
            <a:off x="6181725" y="4650295"/>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16" id="216"/>
          <p:cNvSpPr/>
          <p:nvPr/>
        </p:nvSpPr>
        <p:spPr>
          <a:xfrm rot="0">
            <a:off x="7270528" y="4916996"/>
            <a:ext cx="1281970" cy="9525"/>
          </a:xfrm>
          <a:prstGeom prst="rect">
            <a:avLst/>
          </a:prstGeom>
          <a:solidFill>
            <a:srgbClr val="D8DFDD"/>
          </a:solidFill>
        </p:spPr>
      </p:sp>
      <p:sp>
        <p:nvSpPr>
          <p:cNvPr name="TextBox 217" id="217"/>
          <p:cNvSpPr txBox="true"/>
          <p:nvPr/>
        </p:nvSpPr>
        <p:spPr>
          <a:xfrm rot="0">
            <a:off x="7270528" y="465029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91.62</a:t>
            </a:r>
          </a:p>
        </p:txBody>
      </p:sp>
      <p:sp>
        <p:nvSpPr>
          <p:cNvPr name="AutoShape 218" id="218"/>
          <p:cNvSpPr/>
          <p:nvPr/>
        </p:nvSpPr>
        <p:spPr>
          <a:xfrm rot="0">
            <a:off x="8552593" y="4916996"/>
            <a:ext cx="1568101" cy="9525"/>
          </a:xfrm>
          <a:prstGeom prst="rect">
            <a:avLst/>
          </a:prstGeom>
          <a:solidFill>
            <a:srgbClr val="D8DFDD"/>
          </a:solidFill>
        </p:spPr>
      </p:sp>
      <p:sp>
        <p:nvSpPr>
          <p:cNvPr name="TextBox 219" id="219"/>
          <p:cNvSpPr txBox="true"/>
          <p:nvPr/>
        </p:nvSpPr>
        <p:spPr>
          <a:xfrm rot="0">
            <a:off x="8552593" y="4650295"/>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88.08</a:t>
            </a:r>
          </a:p>
        </p:txBody>
      </p:sp>
      <p:sp>
        <p:nvSpPr>
          <p:cNvPr name="AutoShape 220" id="220"/>
          <p:cNvSpPr/>
          <p:nvPr/>
        </p:nvSpPr>
        <p:spPr>
          <a:xfrm rot="0">
            <a:off x="10120598" y="4916996"/>
            <a:ext cx="1450372" cy="9525"/>
          </a:xfrm>
          <a:prstGeom prst="rect">
            <a:avLst/>
          </a:prstGeom>
          <a:solidFill>
            <a:srgbClr val="D8DFDD"/>
          </a:solidFill>
        </p:spPr>
      </p:sp>
      <p:sp>
        <p:nvSpPr>
          <p:cNvPr name="TextBox 221" id="221"/>
          <p:cNvSpPr txBox="true"/>
          <p:nvPr/>
        </p:nvSpPr>
        <p:spPr>
          <a:xfrm rot="0">
            <a:off x="10120598" y="4650295"/>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87.57</a:t>
            </a:r>
          </a:p>
        </p:txBody>
      </p:sp>
      <p:sp>
        <p:nvSpPr>
          <p:cNvPr name="AutoShape 222" id="222"/>
          <p:cNvSpPr/>
          <p:nvPr/>
        </p:nvSpPr>
        <p:spPr>
          <a:xfrm rot="0">
            <a:off x="11570970" y="4916996"/>
            <a:ext cx="1281970" cy="9525"/>
          </a:xfrm>
          <a:prstGeom prst="rect">
            <a:avLst/>
          </a:prstGeom>
          <a:solidFill>
            <a:srgbClr val="D8DFDD"/>
          </a:solidFill>
        </p:spPr>
      </p:sp>
      <p:sp>
        <p:nvSpPr>
          <p:cNvPr name="TextBox 223" id="223"/>
          <p:cNvSpPr txBox="true"/>
          <p:nvPr/>
        </p:nvSpPr>
        <p:spPr>
          <a:xfrm rot="0">
            <a:off x="11570970" y="465029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87.73</a:t>
            </a:r>
          </a:p>
        </p:txBody>
      </p:sp>
      <p:sp>
        <p:nvSpPr>
          <p:cNvPr name="AutoShape 224" id="224"/>
          <p:cNvSpPr/>
          <p:nvPr/>
        </p:nvSpPr>
        <p:spPr>
          <a:xfrm rot="0">
            <a:off x="12852940" y="4916996"/>
            <a:ext cx="1586960" cy="9525"/>
          </a:xfrm>
          <a:prstGeom prst="rect">
            <a:avLst/>
          </a:prstGeom>
          <a:solidFill>
            <a:srgbClr val="D8DFDD"/>
          </a:solidFill>
        </p:spPr>
      </p:sp>
      <p:sp>
        <p:nvSpPr>
          <p:cNvPr name="TextBox 225" id="225"/>
          <p:cNvSpPr txBox="true"/>
          <p:nvPr/>
        </p:nvSpPr>
        <p:spPr>
          <a:xfrm rot="0">
            <a:off x="12852940" y="4650295"/>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78.36</a:t>
            </a:r>
          </a:p>
        </p:txBody>
      </p:sp>
      <p:sp>
        <p:nvSpPr>
          <p:cNvPr name="AutoShape 226" id="226"/>
          <p:cNvSpPr/>
          <p:nvPr/>
        </p:nvSpPr>
        <p:spPr>
          <a:xfrm rot="0">
            <a:off x="800100" y="5164646"/>
            <a:ext cx="2193703" cy="9525"/>
          </a:xfrm>
          <a:prstGeom prst="rect">
            <a:avLst/>
          </a:prstGeom>
          <a:solidFill>
            <a:srgbClr val="D8DFDD"/>
          </a:solidFill>
        </p:spPr>
      </p:sp>
      <p:sp>
        <p:nvSpPr>
          <p:cNvPr name="TextBox 227" id="227"/>
          <p:cNvSpPr txBox="true"/>
          <p:nvPr/>
        </p:nvSpPr>
        <p:spPr>
          <a:xfrm rot="0">
            <a:off x="800100" y="4897945"/>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28" id="228"/>
          <p:cNvSpPr/>
          <p:nvPr/>
        </p:nvSpPr>
        <p:spPr>
          <a:xfrm rot="0">
            <a:off x="2993803" y="5164646"/>
            <a:ext cx="3187922" cy="9525"/>
          </a:xfrm>
          <a:prstGeom prst="rect">
            <a:avLst/>
          </a:prstGeom>
          <a:solidFill>
            <a:srgbClr val="D8DFDD"/>
          </a:solidFill>
        </p:spPr>
      </p:sp>
      <p:sp>
        <p:nvSpPr>
          <p:cNvPr name="TextBox 229" id="229"/>
          <p:cNvSpPr txBox="true"/>
          <p:nvPr/>
        </p:nvSpPr>
        <p:spPr>
          <a:xfrm rot="0">
            <a:off x="2993803" y="4897945"/>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230" id="230"/>
          <p:cNvSpPr/>
          <p:nvPr/>
        </p:nvSpPr>
        <p:spPr>
          <a:xfrm rot="0">
            <a:off x="6181725" y="5164646"/>
            <a:ext cx="1088803" cy="9525"/>
          </a:xfrm>
          <a:prstGeom prst="rect">
            <a:avLst/>
          </a:prstGeom>
          <a:solidFill>
            <a:srgbClr val="D8DFDD"/>
          </a:solidFill>
        </p:spPr>
      </p:sp>
      <p:sp>
        <p:nvSpPr>
          <p:cNvPr name="TextBox 231" id="231"/>
          <p:cNvSpPr txBox="true"/>
          <p:nvPr/>
        </p:nvSpPr>
        <p:spPr>
          <a:xfrm rot="0">
            <a:off x="6181725" y="4897945"/>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32" id="232"/>
          <p:cNvSpPr/>
          <p:nvPr/>
        </p:nvSpPr>
        <p:spPr>
          <a:xfrm rot="0">
            <a:off x="7270528" y="5164646"/>
            <a:ext cx="1281970" cy="9525"/>
          </a:xfrm>
          <a:prstGeom prst="rect">
            <a:avLst/>
          </a:prstGeom>
          <a:solidFill>
            <a:srgbClr val="D8DFDD"/>
          </a:solidFill>
        </p:spPr>
      </p:sp>
      <p:sp>
        <p:nvSpPr>
          <p:cNvPr name="TextBox 233" id="233"/>
          <p:cNvSpPr txBox="true"/>
          <p:nvPr/>
        </p:nvSpPr>
        <p:spPr>
          <a:xfrm rot="0">
            <a:off x="7270528" y="489794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90.61</a:t>
            </a:r>
          </a:p>
        </p:txBody>
      </p:sp>
      <p:sp>
        <p:nvSpPr>
          <p:cNvPr name="AutoShape 234" id="234"/>
          <p:cNvSpPr/>
          <p:nvPr/>
        </p:nvSpPr>
        <p:spPr>
          <a:xfrm rot="0">
            <a:off x="8552593" y="5164646"/>
            <a:ext cx="1568101" cy="9525"/>
          </a:xfrm>
          <a:prstGeom prst="rect">
            <a:avLst/>
          </a:prstGeom>
          <a:solidFill>
            <a:srgbClr val="D8DFDD"/>
          </a:solidFill>
        </p:spPr>
      </p:sp>
      <p:sp>
        <p:nvSpPr>
          <p:cNvPr name="TextBox 235" id="235"/>
          <p:cNvSpPr txBox="true"/>
          <p:nvPr/>
        </p:nvSpPr>
        <p:spPr>
          <a:xfrm rot="0">
            <a:off x="8552593" y="4897945"/>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84.00</a:t>
            </a:r>
          </a:p>
        </p:txBody>
      </p:sp>
      <p:grpSp>
        <p:nvGrpSpPr>
          <p:cNvPr name="Group 236" id="236"/>
          <p:cNvGrpSpPr/>
          <p:nvPr/>
        </p:nvGrpSpPr>
        <p:grpSpPr>
          <a:xfrm rot="0">
            <a:off x="10120598" y="4926520"/>
            <a:ext cx="1450372" cy="247650"/>
            <a:chOff x="0" y="0"/>
            <a:chExt cx="1933829" cy="330200"/>
          </a:xfrm>
        </p:grpSpPr>
        <p:sp>
          <p:nvSpPr>
            <p:cNvPr name="Freeform 237" id="237"/>
            <p:cNvSpPr/>
            <p:nvPr/>
          </p:nvSpPr>
          <p:spPr>
            <a:xfrm flipH="false" flipV="false" rot="0">
              <a:off x="0" y="0"/>
              <a:ext cx="1933829" cy="330200"/>
            </a:xfrm>
            <a:custGeom>
              <a:avLst/>
              <a:gdLst/>
              <a:ahLst/>
              <a:cxnLst/>
              <a:rect r="r" b="b" t="t" l="l"/>
              <a:pathLst>
                <a:path h="330200" w="1933829">
                  <a:moveTo>
                    <a:pt x="0" y="0"/>
                  </a:moveTo>
                  <a:lnTo>
                    <a:pt x="1933829" y="0"/>
                  </a:lnTo>
                  <a:lnTo>
                    <a:pt x="1933829" y="330200"/>
                  </a:lnTo>
                  <a:lnTo>
                    <a:pt x="0" y="330200"/>
                  </a:lnTo>
                  <a:lnTo>
                    <a:pt x="0" y="0"/>
                  </a:lnTo>
                  <a:close/>
                </a:path>
              </a:pathLst>
            </a:custGeom>
            <a:solidFill>
              <a:srgbClr val="2DD4BF">
                <a:alpha val="1176"/>
              </a:srgbClr>
            </a:solidFill>
          </p:spPr>
        </p:sp>
        <p:sp>
          <p:nvSpPr>
            <p:cNvPr name="TextBox 238" id="238"/>
            <p:cNvSpPr txBox="true"/>
            <p:nvPr/>
          </p:nvSpPr>
          <p:spPr>
            <a:xfrm>
              <a:off x="0" y="-28575"/>
              <a:ext cx="1933829"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89.92</a:t>
              </a:r>
            </a:p>
          </p:txBody>
        </p:sp>
      </p:grpSp>
      <p:sp>
        <p:nvSpPr>
          <p:cNvPr name="AutoShape 239" id="239"/>
          <p:cNvSpPr/>
          <p:nvPr/>
        </p:nvSpPr>
        <p:spPr>
          <a:xfrm rot="0">
            <a:off x="10120598" y="5164646"/>
            <a:ext cx="1450372" cy="9525"/>
          </a:xfrm>
          <a:prstGeom prst="rect">
            <a:avLst/>
          </a:prstGeom>
          <a:solidFill>
            <a:srgbClr val="D8DFDD"/>
          </a:solidFill>
        </p:spPr>
      </p:sp>
      <p:sp>
        <p:nvSpPr>
          <p:cNvPr name="AutoShape 240" id="240"/>
          <p:cNvSpPr/>
          <p:nvPr/>
        </p:nvSpPr>
        <p:spPr>
          <a:xfrm rot="0">
            <a:off x="11570970" y="5164646"/>
            <a:ext cx="1281970" cy="9525"/>
          </a:xfrm>
          <a:prstGeom prst="rect">
            <a:avLst/>
          </a:prstGeom>
          <a:solidFill>
            <a:srgbClr val="D8DFDD"/>
          </a:solidFill>
        </p:spPr>
      </p:sp>
      <p:sp>
        <p:nvSpPr>
          <p:cNvPr name="TextBox 241" id="241"/>
          <p:cNvSpPr txBox="true"/>
          <p:nvPr/>
        </p:nvSpPr>
        <p:spPr>
          <a:xfrm rot="0">
            <a:off x="11570970" y="4897945"/>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86.37</a:t>
            </a:r>
          </a:p>
        </p:txBody>
      </p:sp>
      <p:sp>
        <p:nvSpPr>
          <p:cNvPr name="AutoShape 242" id="242"/>
          <p:cNvSpPr/>
          <p:nvPr/>
        </p:nvSpPr>
        <p:spPr>
          <a:xfrm rot="0">
            <a:off x="12852940" y="5164646"/>
            <a:ext cx="1586960" cy="9525"/>
          </a:xfrm>
          <a:prstGeom prst="rect">
            <a:avLst/>
          </a:prstGeom>
          <a:solidFill>
            <a:srgbClr val="D8DFDD"/>
          </a:solidFill>
        </p:spPr>
      </p:sp>
      <p:sp>
        <p:nvSpPr>
          <p:cNvPr name="TextBox 243" id="243"/>
          <p:cNvSpPr txBox="true"/>
          <p:nvPr/>
        </p:nvSpPr>
        <p:spPr>
          <a:xfrm rot="0">
            <a:off x="12852940" y="4897945"/>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76.31</a:t>
            </a:r>
          </a:p>
        </p:txBody>
      </p:sp>
      <p:sp>
        <p:nvSpPr>
          <p:cNvPr name="AutoShape 244" id="244"/>
          <p:cNvSpPr/>
          <p:nvPr/>
        </p:nvSpPr>
        <p:spPr>
          <a:xfrm rot="0">
            <a:off x="800100" y="5417058"/>
            <a:ext cx="2193703" cy="9525"/>
          </a:xfrm>
          <a:prstGeom prst="rect">
            <a:avLst/>
          </a:prstGeom>
          <a:solidFill>
            <a:srgbClr val="D8DFDD"/>
          </a:solidFill>
        </p:spPr>
      </p:sp>
      <p:sp>
        <p:nvSpPr>
          <p:cNvPr name="TextBox 245" id="245"/>
          <p:cNvSpPr txBox="true"/>
          <p:nvPr/>
        </p:nvSpPr>
        <p:spPr>
          <a:xfrm rot="0">
            <a:off x="800100" y="5145595"/>
            <a:ext cx="21937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46" id="246"/>
          <p:cNvSpPr/>
          <p:nvPr/>
        </p:nvSpPr>
        <p:spPr>
          <a:xfrm rot="0">
            <a:off x="2993803" y="5417058"/>
            <a:ext cx="3187922" cy="9525"/>
          </a:xfrm>
          <a:prstGeom prst="rect">
            <a:avLst/>
          </a:prstGeom>
          <a:solidFill>
            <a:srgbClr val="D8DFDD"/>
          </a:solidFill>
        </p:spPr>
      </p:sp>
      <p:sp>
        <p:nvSpPr>
          <p:cNvPr name="TextBox 247" id="247"/>
          <p:cNvSpPr txBox="true"/>
          <p:nvPr/>
        </p:nvSpPr>
        <p:spPr>
          <a:xfrm rot="0">
            <a:off x="2993803" y="5145595"/>
            <a:ext cx="318792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248" id="248"/>
          <p:cNvSpPr/>
          <p:nvPr/>
        </p:nvSpPr>
        <p:spPr>
          <a:xfrm rot="0">
            <a:off x="6181725" y="5417058"/>
            <a:ext cx="1088803" cy="9525"/>
          </a:xfrm>
          <a:prstGeom prst="rect">
            <a:avLst/>
          </a:prstGeom>
          <a:solidFill>
            <a:srgbClr val="D8DFDD"/>
          </a:solidFill>
        </p:spPr>
      </p:sp>
      <p:sp>
        <p:nvSpPr>
          <p:cNvPr name="TextBox 249" id="249"/>
          <p:cNvSpPr txBox="true"/>
          <p:nvPr/>
        </p:nvSpPr>
        <p:spPr>
          <a:xfrm rot="0">
            <a:off x="6181725" y="5145595"/>
            <a:ext cx="10888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50" id="250"/>
          <p:cNvSpPr/>
          <p:nvPr/>
        </p:nvSpPr>
        <p:spPr>
          <a:xfrm rot="0">
            <a:off x="7270528" y="5417058"/>
            <a:ext cx="1281970" cy="9525"/>
          </a:xfrm>
          <a:prstGeom prst="rect">
            <a:avLst/>
          </a:prstGeom>
          <a:solidFill>
            <a:srgbClr val="D8DFDD"/>
          </a:solidFill>
        </p:spPr>
      </p:sp>
      <p:sp>
        <p:nvSpPr>
          <p:cNvPr name="TextBox 251" id="251"/>
          <p:cNvSpPr txBox="true"/>
          <p:nvPr/>
        </p:nvSpPr>
        <p:spPr>
          <a:xfrm rot="0">
            <a:off x="7270528" y="5145595"/>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91.37</a:t>
            </a:r>
          </a:p>
        </p:txBody>
      </p:sp>
      <p:sp>
        <p:nvSpPr>
          <p:cNvPr name="AutoShape 252" id="252"/>
          <p:cNvSpPr/>
          <p:nvPr/>
        </p:nvSpPr>
        <p:spPr>
          <a:xfrm rot="0">
            <a:off x="8552593" y="5417058"/>
            <a:ext cx="1568101" cy="9525"/>
          </a:xfrm>
          <a:prstGeom prst="rect">
            <a:avLst/>
          </a:prstGeom>
          <a:solidFill>
            <a:srgbClr val="D8DFDD"/>
          </a:solidFill>
        </p:spPr>
      </p:sp>
      <p:sp>
        <p:nvSpPr>
          <p:cNvPr name="TextBox 253" id="253"/>
          <p:cNvSpPr txBox="true"/>
          <p:nvPr/>
        </p:nvSpPr>
        <p:spPr>
          <a:xfrm rot="0">
            <a:off x="8552593" y="5145595"/>
            <a:ext cx="156810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87.41</a:t>
            </a:r>
          </a:p>
        </p:txBody>
      </p:sp>
      <p:sp>
        <p:nvSpPr>
          <p:cNvPr name="AutoShape 254" id="254"/>
          <p:cNvSpPr/>
          <p:nvPr/>
        </p:nvSpPr>
        <p:spPr>
          <a:xfrm rot="0">
            <a:off x="10120598" y="5417058"/>
            <a:ext cx="1450372" cy="9525"/>
          </a:xfrm>
          <a:prstGeom prst="rect">
            <a:avLst/>
          </a:prstGeom>
          <a:solidFill>
            <a:srgbClr val="D8DFDD"/>
          </a:solidFill>
        </p:spPr>
      </p:sp>
      <p:sp>
        <p:nvSpPr>
          <p:cNvPr name="TextBox 255" id="255"/>
          <p:cNvSpPr txBox="true"/>
          <p:nvPr/>
        </p:nvSpPr>
        <p:spPr>
          <a:xfrm rot="0">
            <a:off x="10120598" y="5145595"/>
            <a:ext cx="145037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88.67</a:t>
            </a:r>
          </a:p>
        </p:txBody>
      </p:sp>
      <p:grpSp>
        <p:nvGrpSpPr>
          <p:cNvPr name="Group 256" id="256"/>
          <p:cNvGrpSpPr/>
          <p:nvPr/>
        </p:nvGrpSpPr>
        <p:grpSpPr>
          <a:xfrm rot="0">
            <a:off x="11570970" y="5174170"/>
            <a:ext cx="1281970" cy="252412"/>
            <a:chOff x="0" y="0"/>
            <a:chExt cx="1709293" cy="336550"/>
          </a:xfrm>
        </p:grpSpPr>
        <p:sp>
          <p:nvSpPr>
            <p:cNvPr name="Freeform 257" id="257"/>
            <p:cNvSpPr/>
            <p:nvPr/>
          </p:nvSpPr>
          <p:spPr>
            <a:xfrm flipH="false" flipV="false" rot="0">
              <a:off x="0" y="0"/>
              <a:ext cx="1709293" cy="336550"/>
            </a:xfrm>
            <a:custGeom>
              <a:avLst/>
              <a:gdLst/>
              <a:ahLst/>
              <a:cxnLst/>
              <a:rect r="r" b="b" t="t" l="l"/>
              <a:pathLst>
                <a:path h="336550" w="1709293">
                  <a:moveTo>
                    <a:pt x="0" y="0"/>
                  </a:moveTo>
                  <a:lnTo>
                    <a:pt x="1709293" y="0"/>
                  </a:lnTo>
                  <a:lnTo>
                    <a:pt x="1709293" y="336550"/>
                  </a:lnTo>
                  <a:lnTo>
                    <a:pt x="0" y="336550"/>
                  </a:lnTo>
                  <a:lnTo>
                    <a:pt x="0" y="0"/>
                  </a:lnTo>
                  <a:close/>
                </a:path>
              </a:pathLst>
            </a:custGeom>
            <a:solidFill>
              <a:srgbClr val="2DD4BF">
                <a:alpha val="1176"/>
              </a:srgbClr>
            </a:solidFill>
          </p:spPr>
        </p:sp>
        <p:sp>
          <p:nvSpPr>
            <p:cNvPr name="TextBox 258" id="258"/>
            <p:cNvSpPr txBox="true"/>
            <p:nvPr/>
          </p:nvSpPr>
          <p:spPr>
            <a:xfrm>
              <a:off x="0" y="-28575"/>
              <a:ext cx="1709293" cy="365125"/>
            </a:xfrm>
            <a:prstGeom prst="rect">
              <a:avLst/>
            </a:prstGeom>
          </p:spPr>
          <p:txBody>
            <a:bodyPr anchor="ctr" rtlCol="false" tIns="60325" lIns="60325" bIns="60325" rIns="60325"/>
            <a:lstStyle/>
            <a:p>
              <a:pPr algn="r">
                <a:lnSpc>
                  <a:spcPts val="1574"/>
                </a:lnSpc>
              </a:pPr>
              <a:r>
                <a:rPr lang="en-US" b="true" sz="1125">
                  <a:solidFill>
                    <a:srgbClr val="087F74"/>
                  </a:solidFill>
                  <a:latin typeface="Arial Bold"/>
                  <a:ea typeface="Arial Bold"/>
                  <a:cs typeface="Arial Bold"/>
                  <a:sym typeface="Arial Bold"/>
                </a:rPr>
                <a:t>87.86</a:t>
              </a:r>
            </a:p>
          </p:txBody>
        </p:sp>
      </p:grpSp>
      <p:sp>
        <p:nvSpPr>
          <p:cNvPr name="AutoShape 259" id="259"/>
          <p:cNvSpPr/>
          <p:nvPr/>
        </p:nvSpPr>
        <p:spPr>
          <a:xfrm rot="0">
            <a:off x="11570970" y="5417058"/>
            <a:ext cx="1281970" cy="9525"/>
          </a:xfrm>
          <a:prstGeom prst="rect">
            <a:avLst/>
          </a:prstGeom>
          <a:solidFill>
            <a:srgbClr val="D8DFDD"/>
          </a:solidFill>
        </p:spPr>
      </p:sp>
      <p:grpSp>
        <p:nvGrpSpPr>
          <p:cNvPr name="Group 260" id="260"/>
          <p:cNvGrpSpPr/>
          <p:nvPr/>
        </p:nvGrpSpPr>
        <p:grpSpPr>
          <a:xfrm rot="0">
            <a:off x="12852940" y="5174170"/>
            <a:ext cx="1586960" cy="252412"/>
            <a:chOff x="0" y="0"/>
            <a:chExt cx="2115947" cy="336550"/>
          </a:xfrm>
        </p:grpSpPr>
        <p:sp>
          <p:nvSpPr>
            <p:cNvPr name="Freeform 261" id="261"/>
            <p:cNvSpPr/>
            <p:nvPr/>
          </p:nvSpPr>
          <p:spPr>
            <a:xfrm flipH="false" flipV="false" rot="0">
              <a:off x="0" y="0"/>
              <a:ext cx="2115947" cy="336550"/>
            </a:xfrm>
            <a:custGeom>
              <a:avLst/>
              <a:gdLst/>
              <a:ahLst/>
              <a:cxnLst/>
              <a:rect r="r" b="b" t="t" l="l"/>
              <a:pathLst>
                <a:path h="336550" w="2115947">
                  <a:moveTo>
                    <a:pt x="0" y="0"/>
                  </a:moveTo>
                  <a:lnTo>
                    <a:pt x="2115947" y="0"/>
                  </a:lnTo>
                  <a:lnTo>
                    <a:pt x="2115947" y="336550"/>
                  </a:lnTo>
                  <a:lnTo>
                    <a:pt x="0" y="336550"/>
                  </a:lnTo>
                  <a:lnTo>
                    <a:pt x="0" y="0"/>
                  </a:lnTo>
                  <a:close/>
                </a:path>
              </a:pathLst>
            </a:custGeom>
            <a:solidFill>
              <a:srgbClr val="2DD4BF">
                <a:alpha val="1176"/>
              </a:srgbClr>
            </a:solidFill>
          </p:spPr>
        </p:sp>
        <p:sp>
          <p:nvSpPr>
            <p:cNvPr name="TextBox 262" id="262"/>
            <p:cNvSpPr txBox="true"/>
            <p:nvPr/>
          </p:nvSpPr>
          <p:spPr>
            <a:xfrm>
              <a:off x="0" y="-28575"/>
              <a:ext cx="2115947" cy="365125"/>
            </a:xfrm>
            <a:prstGeom prst="rect">
              <a:avLst/>
            </a:prstGeom>
          </p:spPr>
          <p:txBody>
            <a:bodyPr anchor="ctr" rtlCol="false" tIns="60325" lIns="60325" bIns="60325" rIns="60325"/>
            <a:lstStyle/>
            <a:p>
              <a:pPr algn="r">
                <a:lnSpc>
                  <a:spcPts val="1574"/>
                </a:lnSpc>
              </a:pPr>
              <a:r>
                <a:rPr lang="en-US" b="true" sz="1125">
                  <a:solidFill>
                    <a:srgbClr val="087F74"/>
                  </a:solidFill>
                  <a:latin typeface="Arial Bold"/>
                  <a:ea typeface="Arial Bold"/>
                  <a:cs typeface="Arial Bold"/>
                  <a:sym typeface="Arial Bold"/>
                </a:rPr>
                <a:t>78.61</a:t>
              </a:r>
            </a:p>
          </p:txBody>
        </p:sp>
      </p:grpSp>
      <p:sp>
        <p:nvSpPr>
          <p:cNvPr name="AutoShape 263" id="263"/>
          <p:cNvSpPr/>
          <p:nvPr/>
        </p:nvSpPr>
        <p:spPr>
          <a:xfrm rot="0">
            <a:off x="12852940" y="5417058"/>
            <a:ext cx="1586960" cy="9525"/>
          </a:xfrm>
          <a:prstGeom prst="rect">
            <a:avLst/>
          </a:prstGeom>
          <a:solidFill>
            <a:srgbClr val="D8DFDD"/>
          </a:solidFill>
        </p:spPr>
      </p:sp>
      <p:sp>
        <p:nvSpPr>
          <p:cNvPr name="AutoShape 264" id="264"/>
          <p:cNvSpPr/>
          <p:nvPr/>
        </p:nvSpPr>
        <p:spPr>
          <a:xfrm rot="0">
            <a:off x="800100" y="5426583"/>
            <a:ext cx="2193703" cy="19050"/>
          </a:xfrm>
          <a:prstGeom prst="rect">
            <a:avLst/>
          </a:prstGeom>
          <a:solidFill>
            <a:srgbClr val="AEBDBB"/>
          </a:solidFill>
        </p:spPr>
      </p:sp>
      <p:sp>
        <p:nvSpPr>
          <p:cNvPr name="AutoShape 265" id="265"/>
          <p:cNvSpPr/>
          <p:nvPr/>
        </p:nvSpPr>
        <p:spPr>
          <a:xfrm rot="0">
            <a:off x="800100" y="5669470"/>
            <a:ext cx="2193703" cy="9525"/>
          </a:xfrm>
          <a:prstGeom prst="rect">
            <a:avLst/>
          </a:prstGeom>
          <a:solidFill>
            <a:srgbClr val="D8DFDD"/>
          </a:solidFill>
        </p:spPr>
      </p:sp>
      <p:sp>
        <p:nvSpPr>
          <p:cNvPr name="TextBox 266" id="266"/>
          <p:cNvSpPr txBox="true"/>
          <p:nvPr/>
        </p:nvSpPr>
        <p:spPr>
          <a:xfrm rot="0">
            <a:off x="800100" y="5398008"/>
            <a:ext cx="21937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267" id="267"/>
          <p:cNvSpPr/>
          <p:nvPr/>
        </p:nvSpPr>
        <p:spPr>
          <a:xfrm rot="0">
            <a:off x="2993803" y="5426583"/>
            <a:ext cx="3187922" cy="19050"/>
          </a:xfrm>
          <a:prstGeom prst="rect">
            <a:avLst/>
          </a:prstGeom>
          <a:solidFill>
            <a:srgbClr val="AEBDBB"/>
          </a:solidFill>
        </p:spPr>
      </p:sp>
      <p:sp>
        <p:nvSpPr>
          <p:cNvPr name="AutoShape 268" id="268"/>
          <p:cNvSpPr/>
          <p:nvPr/>
        </p:nvSpPr>
        <p:spPr>
          <a:xfrm rot="0">
            <a:off x="2993803" y="5669470"/>
            <a:ext cx="3187922" cy="9525"/>
          </a:xfrm>
          <a:prstGeom prst="rect">
            <a:avLst/>
          </a:prstGeom>
          <a:solidFill>
            <a:srgbClr val="D8DFDD"/>
          </a:solidFill>
        </p:spPr>
      </p:sp>
      <p:sp>
        <p:nvSpPr>
          <p:cNvPr name="TextBox 269" id="269"/>
          <p:cNvSpPr txBox="true"/>
          <p:nvPr/>
        </p:nvSpPr>
        <p:spPr>
          <a:xfrm rot="0">
            <a:off x="2993803" y="5398008"/>
            <a:ext cx="318792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270" id="270"/>
          <p:cNvSpPr/>
          <p:nvPr/>
        </p:nvSpPr>
        <p:spPr>
          <a:xfrm rot="0">
            <a:off x="6181725" y="5426583"/>
            <a:ext cx="1088803" cy="19050"/>
          </a:xfrm>
          <a:prstGeom prst="rect">
            <a:avLst/>
          </a:prstGeom>
          <a:solidFill>
            <a:srgbClr val="AEBDBB"/>
          </a:solidFill>
        </p:spPr>
      </p:sp>
      <p:sp>
        <p:nvSpPr>
          <p:cNvPr name="AutoShape 271" id="271"/>
          <p:cNvSpPr/>
          <p:nvPr/>
        </p:nvSpPr>
        <p:spPr>
          <a:xfrm rot="0">
            <a:off x="6181725" y="5669470"/>
            <a:ext cx="1088803" cy="9525"/>
          </a:xfrm>
          <a:prstGeom prst="rect">
            <a:avLst/>
          </a:prstGeom>
          <a:solidFill>
            <a:srgbClr val="D8DFDD"/>
          </a:solidFill>
        </p:spPr>
      </p:sp>
      <p:sp>
        <p:nvSpPr>
          <p:cNvPr name="TextBox 272" id="272"/>
          <p:cNvSpPr txBox="true"/>
          <p:nvPr/>
        </p:nvSpPr>
        <p:spPr>
          <a:xfrm rot="0">
            <a:off x="6181725" y="5398008"/>
            <a:ext cx="108880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73" id="273"/>
          <p:cNvSpPr/>
          <p:nvPr/>
        </p:nvSpPr>
        <p:spPr>
          <a:xfrm rot="0">
            <a:off x="7270528" y="5426583"/>
            <a:ext cx="1281970" cy="19050"/>
          </a:xfrm>
          <a:prstGeom prst="rect">
            <a:avLst/>
          </a:prstGeom>
          <a:solidFill>
            <a:srgbClr val="AEBDBB"/>
          </a:solidFill>
        </p:spPr>
      </p:sp>
      <p:sp>
        <p:nvSpPr>
          <p:cNvPr name="AutoShape 274" id="274"/>
          <p:cNvSpPr/>
          <p:nvPr/>
        </p:nvSpPr>
        <p:spPr>
          <a:xfrm rot="0">
            <a:off x="7270528" y="5669470"/>
            <a:ext cx="1281970" cy="9525"/>
          </a:xfrm>
          <a:prstGeom prst="rect">
            <a:avLst/>
          </a:prstGeom>
          <a:solidFill>
            <a:srgbClr val="D8DFDD"/>
          </a:solidFill>
        </p:spPr>
      </p:sp>
      <p:sp>
        <p:nvSpPr>
          <p:cNvPr name="TextBox 275" id="275"/>
          <p:cNvSpPr txBox="true"/>
          <p:nvPr/>
        </p:nvSpPr>
        <p:spPr>
          <a:xfrm rot="0">
            <a:off x="7270528" y="5398008"/>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83.14</a:t>
            </a:r>
          </a:p>
        </p:txBody>
      </p:sp>
      <p:sp>
        <p:nvSpPr>
          <p:cNvPr name="AutoShape 276" id="276"/>
          <p:cNvSpPr/>
          <p:nvPr/>
        </p:nvSpPr>
        <p:spPr>
          <a:xfrm rot="0">
            <a:off x="8552593" y="5426583"/>
            <a:ext cx="1568101" cy="19050"/>
          </a:xfrm>
          <a:prstGeom prst="rect">
            <a:avLst/>
          </a:prstGeom>
          <a:solidFill>
            <a:srgbClr val="AEBDBB"/>
          </a:solidFill>
        </p:spPr>
      </p:sp>
      <p:sp>
        <p:nvSpPr>
          <p:cNvPr name="AutoShape 277" id="277"/>
          <p:cNvSpPr/>
          <p:nvPr/>
        </p:nvSpPr>
        <p:spPr>
          <a:xfrm rot="0">
            <a:off x="8552593" y="5669470"/>
            <a:ext cx="1568101" cy="9525"/>
          </a:xfrm>
          <a:prstGeom prst="rect">
            <a:avLst/>
          </a:prstGeom>
          <a:solidFill>
            <a:srgbClr val="D8DFDD"/>
          </a:solidFill>
        </p:spPr>
      </p:sp>
      <p:sp>
        <p:nvSpPr>
          <p:cNvPr name="TextBox 278" id="278"/>
          <p:cNvSpPr txBox="true"/>
          <p:nvPr/>
        </p:nvSpPr>
        <p:spPr>
          <a:xfrm rot="0">
            <a:off x="8552593" y="5398008"/>
            <a:ext cx="156810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78.34</a:t>
            </a:r>
          </a:p>
        </p:txBody>
      </p:sp>
      <p:sp>
        <p:nvSpPr>
          <p:cNvPr name="AutoShape 279" id="279"/>
          <p:cNvSpPr/>
          <p:nvPr/>
        </p:nvSpPr>
        <p:spPr>
          <a:xfrm rot="0">
            <a:off x="10120598" y="5426583"/>
            <a:ext cx="1450372" cy="19050"/>
          </a:xfrm>
          <a:prstGeom prst="rect">
            <a:avLst/>
          </a:prstGeom>
          <a:solidFill>
            <a:srgbClr val="AEBDBB"/>
          </a:solidFill>
        </p:spPr>
      </p:sp>
      <p:sp>
        <p:nvSpPr>
          <p:cNvPr name="AutoShape 280" id="280"/>
          <p:cNvSpPr/>
          <p:nvPr/>
        </p:nvSpPr>
        <p:spPr>
          <a:xfrm rot="0">
            <a:off x="10120598" y="5669470"/>
            <a:ext cx="1450372" cy="9525"/>
          </a:xfrm>
          <a:prstGeom prst="rect">
            <a:avLst/>
          </a:prstGeom>
          <a:solidFill>
            <a:srgbClr val="D8DFDD"/>
          </a:solidFill>
        </p:spPr>
      </p:sp>
      <p:sp>
        <p:nvSpPr>
          <p:cNvPr name="TextBox 281" id="281"/>
          <p:cNvSpPr txBox="true"/>
          <p:nvPr/>
        </p:nvSpPr>
        <p:spPr>
          <a:xfrm rot="0">
            <a:off x="10120598" y="5398008"/>
            <a:ext cx="145037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81.93</a:t>
            </a:r>
          </a:p>
        </p:txBody>
      </p:sp>
      <p:sp>
        <p:nvSpPr>
          <p:cNvPr name="AutoShape 282" id="282"/>
          <p:cNvSpPr/>
          <p:nvPr/>
        </p:nvSpPr>
        <p:spPr>
          <a:xfrm rot="0">
            <a:off x="11570970" y="5426583"/>
            <a:ext cx="1281970" cy="19050"/>
          </a:xfrm>
          <a:prstGeom prst="rect">
            <a:avLst/>
          </a:prstGeom>
          <a:solidFill>
            <a:srgbClr val="AEBDBB"/>
          </a:solidFill>
        </p:spPr>
      </p:sp>
      <p:sp>
        <p:nvSpPr>
          <p:cNvPr name="AutoShape 283" id="283"/>
          <p:cNvSpPr/>
          <p:nvPr/>
        </p:nvSpPr>
        <p:spPr>
          <a:xfrm rot="0">
            <a:off x="11570970" y="5669470"/>
            <a:ext cx="1281970" cy="9525"/>
          </a:xfrm>
          <a:prstGeom prst="rect">
            <a:avLst/>
          </a:prstGeom>
          <a:solidFill>
            <a:srgbClr val="D8DFDD"/>
          </a:solidFill>
        </p:spPr>
      </p:sp>
      <p:sp>
        <p:nvSpPr>
          <p:cNvPr name="TextBox 284" id="284"/>
          <p:cNvSpPr txBox="true"/>
          <p:nvPr/>
        </p:nvSpPr>
        <p:spPr>
          <a:xfrm rot="0">
            <a:off x="11570970" y="5398008"/>
            <a:ext cx="128197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79.48</a:t>
            </a:r>
          </a:p>
        </p:txBody>
      </p:sp>
      <p:sp>
        <p:nvSpPr>
          <p:cNvPr name="AutoShape 285" id="285"/>
          <p:cNvSpPr/>
          <p:nvPr/>
        </p:nvSpPr>
        <p:spPr>
          <a:xfrm rot="0">
            <a:off x="12852940" y="5426583"/>
            <a:ext cx="1586960" cy="19050"/>
          </a:xfrm>
          <a:prstGeom prst="rect">
            <a:avLst/>
          </a:prstGeom>
          <a:solidFill>
            <a:srgbClr val="AEBDBB"/>
          </a:solidFill>
        </p:spPr>
      </p:sp>
      <p:sp>
        <p:nvSpPr>
          <p:cNvPr name="AutoShape 286" id="286"/>
          <p:cNvSpPr/>
          <p:nvPr/>
        </p:nvSpPr>
        <p:spPr>
          <a:xfrm rot="0">
            <a:off x="12852940" y="5669470"/>
            <a:ext cx="1586960" cy="9525"/>
          </a:xfrm>
          <a:prstGeom prst="rect">
            <a:avLst/>
          </a:prstGeom>
          <a:solidFill>
            <a:srgbClr val="D8DFDD"/>
          </a:solidFill>
        </p:spPr>
      </p:sp>
      <p:sp>
        <p:nvSpPr>
          <p:cNvPr name="TextBox 287" id="287"/>
          <p:cNvSpPr txBox="true"/>
          <p:nvPr/>
        </p:nvSpPr>
        <p:spPr>
          <a:xfrm rot="0">
            <a:off x="12852940" y="5398008"/>
            <a:ext cx="158696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66.58</a:t>
            </a:r>
          </a:p>
        </p:txBody>
      </p:sp>
      <p:sp>
        <p:nvSpPr>
          <p:cNvPr name="AutoShape 288" id="288"/>
          <p:cNvSpPr/>
          <p:nvPr/>
        </p:nvSpPr>
        <p:spPr>
          <a:xfrm rot="0">
            <a:off x="800100" y="5917120"/>
            <a:ext cx="2193703" cy="9525"/>
          </a:xfrm>
          <a:prstGeom prst="rect">
            <a:avLst/>
          </a:prstGeom>
          <a:solidFill>
            <a:srgbClr val="D8DFDD"/>
          </a:solidFill>
        </p:spPr>
      </p:sp>
      <p:sp>
        <p:nvSpPr>
          <p:cNvPr name="TextBox 289" id="289"/>
          <p:cNvSpPr txBox="true"/>
          <p:nvPr/>
        </p:nvSpPr>
        <p:spPr>
          <a:xfrm rot="0">
            <a:off x="800100" y="565042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290" id="290"/>
          <p:cNvSpPr/>
          <p:nvPr/>
        </p:nvSpPr>
        <p:spPr>
          <a:xfrm rot="0">
            <a:off x="2993803" y="5917120"/>
            <a:ext cx="3187922" cy="9525"/>
          </a:xfrm>
          <a:prstGeom prst="rect">
            <a:avLst/>
          </a:prstGeom>
          <a:solidFill>
            <a:srgbClr val="D8DFDD"/>
          </a:solidFill>
        </p:spPr>
      </p:sp>
      <p:sp>
        <p:nvSpPr>
          <p:cNvPr name="TextBox 291" id="291"/>
          <p:cNvSpPr txBox="true"/>
          <p:nvPr/>
        </p:nvSpPr>
        <p:spPr>
          <a:xfrm rot="0">
            <a:off x="2993803" y="565042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292" id="292"/>
          <p:cNvSpPr/>
          <p:nvPr/>
        </p:nvSpPr>
        <p:spPr>
          <a:xfrm rot="0">
            <a:off x="6181725" y="5917120"/>
            <a:ext cx="1088803" cy="9525"/>
          </a:xfrm>
          <a:prstGeom prst="rect">
            <a:avLst/>
          </a:prstGeom>
          <a:solidFill>
            <a:srgbClr val="D8DFDD"/>
          </a:solidFill>
        </p:spPr>
      </p:sp>
      <p:sp>
        <p:nvSpPr>
          <p:cNvPr name="TextBox 293" id="293"/>
          <p:cNvSpPr txBox="true"/>
          <p:nvPr/>
        </p:nvSpPr>
        <p:spPr>
          <a:xfrm rot="0">
            <a:off x="6181725" y="565042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94" id="294"/>
          <p:cNvSpPr/>
          <p:nvPr/>
        </p:nvSpPr>
        <p:spPr>
          <a:xfrm rot="0">
            <a:off x="7270528" y="5917120"/>
            <a:ext cx="1281970" cy="9525"/>
          </a:xfrm>
          <a:prstGeom prst="rect">
            <a:avLst/>
          </a:prstGeom>
          <a:solidFill>
            <a:srgbClr val="D8DFDD"/>
          </a:solidFill>
        </p:spPr>
      </p:sp>
      <p:sp>
        <p:nvSpPr>
          <p:cNvPr name="TextBox 295" id="295"/>
          <p:cNvSpPr txBox="true"/>
          <p:nvPr/>
        </p:nvSpPr>
        <p:spPr>
          <a:xfrm rot="0">
            <a:off x="7270528" y="56504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88.45</a:t>
            </a:r>
          </a:p>
        </p:txBody>
      </p:sp>
      <p:sp>
        <p:nvSpPr>
          <p:cNvPr name="AutoShape 296" id="296"/>
          <p:cNvSpPr/>
          <p:nvPr/>
        </p:nvSpPr>
        <p:spPr>
          <a:xfrm rot="0">
            <a:off x="8552593" y="5917120"/>
            <a:ext cx="1568101" cy="9525"/>
          </a:xfrm>
          <a:prstGeom prst="rect">
            <a:avLst/>
          </a:prstGeom>
          <a:solidFill>
            <a:srgbClr val="D8DFDD"/>
          </a:solidFill>
        </p:spPr>
      </p:sp>
      <p:sp>
        <p:nvSpPr>
          <p:cNvPr name="TextBox 297" id="297"/>
          <p:cNvSpPr txBox="true"/>
          <p:nvPr/>
        </p:nvSpPr>
        <p:spPr>
          <a:xfrm rot="0">
            <a:off x="8552593" y="565042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79.73</a:t>
            </a:r>
          </a:p>
        </p:txBody>
      </p:sp>
      <p:sp>
        <p:nvSpPr>
          <p:cNvPr name="AutoShape 298" id="298"/>
          <p:cNvSpPr/>
          <p:nvPr/>
        </p:nvSpPr>
        <p:spPr>
          <a:xfrm rot="0">
            <a:off x="10120598" y="5917120"/>
            <a:ext cx="1450372" cy="9525"/>
          </a:xfrm>
          <a:prstGeom prst="rect">
            <a:avLst/>
          </a:prstGeom>
          <a:solidFill>
            <a:srgbClr val="D8DFDD"/>
          </a:solidFill>
        </p:spPr>
      </p:sp>
      <p:sp>
        <p:nvSpPr>
          <p:cNvPr name="TextBox 299" id="299"/>
          <p:cNvSpPr txBox="true"/>
          <p:nvPr/>
        </p:nvSpPr>
        <p:spPr>
          <a:xfrm rot="0">
            <a:off x="10120598" y="565042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86.71</a:t>
            </a:r>
          </a:p>
        </p:txBody>
      </p:sp>
      <p:sp>
        <p:nvSpPr>
          <p:cNvPr name="AutoShape 300" id="300"/>
          <p:cNvSpPr/>
          <p:nvPr/>
        </p:nvSpPr>
        <p:spPr>
          <a:xfrm rot="0">
            <a:off x="11570970" y="5917120"/>
            <a:ext cx="1281970" cy="9525"/>
          </a:xfrm>
          <a:prstGeom prst="rect">
            <a:avLst/>
          </a:prstGeom>
          <a:solidFill>
            <a:srgbClr val="D8DFDD"/>
          </a:solidFill>
        </p:spPr>
      </p:sp>
      <p:sp>
        <p:nvSpPr>
          <p:cNvPr name="TextBox 301" id="301"/>
          <p:cNvSpPr txBox="true"/>
          <p:nvPr/>
        </p:nvSpPr>
        <p:spPr>
          <a:xfrm rot="0">
            <a:off x="11570970" y="56504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81.99</a:t>
            </a:r>
          </a:p>
        </p:txBody>
      </p:sp>
      <p:sp>
        <p:nvSpPr>
          <p:cNvPr name="AutoShape 302" id="302"/>
          <p:cNvSpPr/>
          <p:nvPr/>
        </p:nvSpPr>
        <p:spPr>
          <a:xfrm rot="0">
            <a:off x="12852940" y="5917120"/>
            <a:ext cx="1586960" cy="9525"/>
          </a:xfrm>
          <a:prstGeom prst="rect">
            <a:avLst/>
          </a:prstGeom>
          <a:solidFill>
            <a:srgbClr val="D8DFDD"/>
          </a:solidFill>
        </p:spPr>
      </p:sp>
      <p:sp>
        <p:nvSpPr>
          <p:cNvPr name="TextBox 303" id="303"/>
          <p:cNvSpPr txBox="true"/>
          <p:nvPr/>
        </p:nvSpPr>
        <p:spPr>
          <a:xfrm rot="0">
            <a:off x="12852940" y="565042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70.23</a:t>
            </a:r>
          </a:p>
        </p:txBody>
      </p:sp>
      <p:sp>
        <p:nvSpPr>
          <p:cNvPr name="AutoShape 304" id="304"/>
          <p:cNvSpPr/>
          <p:nvPr/>
        </p:nvSpPr>
        <p:spPr>
          <a:xfrm rot="0">
            <a:off x="800100" y="6164770"/>
            <a:ext cx="2193703" cy="9525"/>
          </a:xfrm>
          <a:prstGeom prst="rect">
            <a:avLst/>
          </a:prstGeom>
          <a:solidFill>
            <a:srgbClr val="D8DFDD"/>
          </a:solidFill>
        </p:spPr>
      </p:sp>
      <p:sp>
        <p:nvSpPr>
          <p:cNvPr name="TextBox 305" id="305"/>
          <p:cNvSpPr txBox="true"/>
          <p:nvPr/>
        </p:nvSpPr>
        <p:spPr>
          <a:xfrm rot="0">
            <a:off x="800100" y="58980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06" id="306"/>
          <p:cNvSpPr/>
          <p:nvPr/>
        </p:nvSpPr>
        <p:spPr>
          <a:xfrm rot="0">
            <a:off x="2993803" y="6164770"/>
            <a:ext cx="3187922" cy="9525"/>
          </a:xfrm>
          <a:prstGeom prst="rect">
            <a:avLst/>
          </a:prstGeom>
          <a:solidFill>
            <a:srgbClr val="D8DFDD"/>
          </a:solidFill>
        </p:spPr>
      </p:sp>
      <p:sp>
        <p:nvSpPr>
          <p:cNvPr name="TextBox 307" id="307"/>
          <p:cNvSpPr txBox="true"/>
          <p:nvPr/>
        </p:nvSpPr>
        <p:spPr>
          <a:xfrm rot="0">
            <a:off x="2993803" y="58980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308" id="308"/>
          <p:cNvSpPr/>
          <p:nvPr/>
        </p:nvSpPr>
        <p:spPr>
          <a:xfrm rot="0">
            <a:off x="6181725" y="6164770"/>
            <a:ext cx="1088803" cy="9525"/>
          </a:xfrm>
          <a:prstGeom prst="rect">
            <a:avLst/>
          </a:prstGeom>
          <a:solidFill>
            <a:srgbClr val="D8DFDD"/>
          </a:solidFill>
        </p:spPr>
      </p:sp>
      <p:sp>
        <p:nvSpPr>
          <p:cNvPr name="TextBox 309" id="309"/>
          <p:cNvSpPr txBox="true"/>
          <p:nvPr/>
        </p:nvSpPr>
        <p:spPr>
          <a:xfrm rot="0">
            <a:off x="6181725" y="58980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10" id="310"/>
          <p:cNvSpPr/>
          <p:nvPr/>
        </p:nvSpPr>
        <p:spPr>
          <a:xfrm rot="0">
            <a:off x="7270528" y="6164770"/>
            <a:ext cx="1281970" cy="9525"/>
          </a:xfrm>
          <a:prstGeom prst="rect">
            <a:avLst/>
          </a:prstGeom>
          <a:solidFill>
            <a:srgbClr val="D8DFDD"/>
          </a:solidFill>
        </p:spPr>
      </p:sp>
      <p:sp>
        <p:nvSpPr>
          <p:cNvPr name="TextBox 311" id="311"/>
          <p:cNvSpPr txBox="true"/>
          <p:nvPr/>
        </p:nvSpPr>
        <p:spPr>
          <a:xfrm rot="0">
            <a:off x="7270528" y="58980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88.40</a:t>
            </a:r>
          </a:p>
        </p:txBody>
      </p:sp>
      <p:sp>
        <p:nvSpPr>
          <p:cNvPr name="AutoShape 312" id="312"/>
          <p:cNvSpPr/>
          <p:nvPr/>
        </p:nvSpPr>
        <p:spPr>
          <a:xfrm rot="0">
            <a:off x="8552593" y="6164770"/>
            <a:ext cx="1568101" cy="9525"/>
          </a:xfrm>
          <a:prstGeom prst="rect">
            <a:avLst/>
          </a:prstGeom>
          <a:solidFill>
            <a:srgbClr val="D8DFDD"/>
          </a:solidFill>
        </p:spPr>
      </p:sp>
      <p:sp>
        <p:nvSpPr>
          <p:cNvPr name="TextBox 313" id="313"/>
          <p:cNvSpPr txBox="true"/>
          <p:nvPr/>
        </p:nvSpPr>
        <p:spPr>
          <a:xfrm rot="0">
            <a:off x="8552593" y="58980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79.90</a:t>
            </a:r>
          </a:p>
        </p:txBody>
      </p:sp>
      <p:sp>
        <p:nvSpPr>
          <p:cNvPr name="AutoShape 314" id="314"/>
          <p:cNvSpPr/>
          <p:nvPr/>
        </p:nvSpPr>
        <p:spPr>
          <a:xfrm rot="0">
            <a:off x="10120598" y="6164770"/>
            <a:ext cx="1450372" cy="9525"/>
          </a:xfrm>
          <a:prstGeom prst="rect">
            <a:avLst/>
          </a:prstGeom>
          <a:solidFill>
            <a:srgbClr val="D8DFDD"/>
          </a:solidFill>
        </p:spPr>
      </p:sp>
      <p:sp>
        <p:nvSpPr>
          <p:cNvPr name="TextBox 315" id="315"/>
          <p:cNvSpPr txBox="true"/>
          <p:nvPr/>
        </p:nvSpPr>
        <p:spPr>
          <a:xfrm rot="0">
            <a:off x="10120598" y="58980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87.66</a:t>
            </a:r>
          </a:p>
        </p:txBody>
      </p:sp>
      <p:sp>
        <p:nvSpPr>
          <p:cNvPr name="AutoShape 316" id="316"/>
          <p:cNvSpPr/>
          <p:nvPr/>
        </p:nvSpPr>
        <p:spPr>
          <a:xfrm rot="0">
            <a:off x="11570970" y="6164770"/>
            <a:ext cx="1281970" cy="9525"/>
          </a:xfrm>
          <a:prstGeom prst="rect">
            <a:avLst/>
          </a:prstGeom>
          <a:solidFill>
            <a:srgbClr val="D8DFDD"/>
          </a:solidFill>
        </p:spPr>
      </p:sp>
      <p:sp>
        <p:nvSpPr>
          <p:cNvPr name="TextBox 317" id="317"/>
          <p:cNvSpPr txBox="true"/>
          <p:nvPr/>
        </p:nvSpPr>
        <p:spPr>
          <a:xfrm rot="0">
            <a:off x="11570970" y="58980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82.80</a:t>
            </a:r>
          </a:p>
        </p:txBody>
      </p:sp>
      <p:sp>
        <p:nvSpPr>
          <p:cNvPr name="AutoShape 318" id="318"/>
          <p:cNvSpPr/>
          <p:nvPr/>
        </p:nvSpPr>
        <p:spPr>
          <a:xfrm rot="0">
            <a:off x="12852940" y="6164770"/>
            <a:ext cx="1586960" cy="9525"/>
          </a:xfrm>
          <a:prstGeom prst="rect">
            <a:avLst/>
          </a:prstGeom>
          <a:solidFill>
            <a:srgbClr val="D8DFDD"/>
          </a:solidFill>
        </p:spPr>
      </p:sp>
      <p:sp>
        <p:nvSpPr>
          <p:cNvPr name="TextBox 319" id="319"/>
          <p:cNvSpPr txBox="true"/>
          <p:nvPr/>
        </p:nvSpPr>
        <p:spPr>
          <a:xfrm rot="0">
            <a:off x="12852940" y="58980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71.37</a:t>
            </a:r>
          </a:p>
        </p:txBody>
      </p:sp>
      <p:sp>
        <p:nvSpPr>
          <p:cNvPr name="AutoShape 320" id="320"/>
          <p:cNvSpPr/>
          <p:nvPr/>
        </p:nvSpPr>
        <p:spPr>
          <a:xfrm rot="0">
            <a:off x="800100" y="6412420"/>
            <a:ext cx="2193703" cy="9525"/>
          </a:xfrm>
          <a:prstGeom prst="rect">
            <a:avLst/>
          </a:prstGeom>
          <a:solidFill>
            <a:srgbClr val="D8DFDD"/>
          </a:solidFill>
        </p:spPr>
      </p:sp>
      <p:sp>
        <p:nvSpPr>
          <p:cNvPr name="TextBox 321" id="321"/>
          <p:cNvSpPr txBox="true"/>
          <p:nvPr/>
        </p:nvSpPr>
        <p:spPr>
          <a:xfrm rot="0">
            <a:off x="800100" y="614572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22" id="322"/>
          <p:cNvSpPr/>
          <p:nvPr/>
        </p:nvSpPr>
        <p:spPr>
          <a:xfrm rot="0">
            <a:off x="2993803" y="6412420"/>
            <a:ext cx="3187922" cy="9525"/>
          </a:xfrm>
          <a:prstGeom prst="rect">
            <a:avLst/>
          </a:prstGeom>
          <a:solidFill>
            <a:srgbClr val="D8DFDD"/>
          </a:solidFill>
        </p:spPr>
      </p:sp>
      <p:sp>
        <p:nvSpPr>
          <p:cNvPr name="TextBox 323" id="323"/>
          <p:cNvSpPr txBox="true"/>
          <p:nvPr/>
        </p:nvSpPr>
        <p:spPr>
          <a:xfrm rot="0">
            <a:off x="2993803" y="614572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324" id="324"/>
          <p:cNvSpPr/>
          <p:nvPr/>
        </p:nvSpPr>
        <p:spPr>
          <a:xfrm rot="0">
            <a:off x="6181725" y="6412420"/>
            <a:ext cx="1088803" cy="9525"/>
          </a:xfrm>
          <a:prstGeom prst="rect">
            <a:avLst/>
          </a:prstGeom>
          <a:solidFill>
            <a:srgbClr val="D8DFDD"/>
          </a:solidFill>
        </p:spPr>
      </p:sp>
      <p:sp>
        <p:nvSpPr>
          <p:cNvPr name="TextBox 325" id="325"/>
          <p:cNvSpPr txBox="true"/>
          <p:nvPr/>
        </p:nvSpPr>
        <p:spPr>
          <a:xfrm rot="0">
            <a:off x="6181725" y="614572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26" id="326"/>
          <p:cNvSpPr/>
          <p:nvPr/>
        </p:nvSpPr>
        <p:spPr>
          <a:xfrm rot="0">
            <a:off x="7270528" y="6412420"/>
            <a:ext cx="1281970" cy="9525"/>
          </a:xfrm>
          <a:prstGeom prst="rect">
            <a:avLst/>
          </a:prstGeom>
          <a:solidFill>
            <a:srgbClr val="D8DFDD"/>
          </a:solidFill>
        </p:spPr>
      </p:sp>
      <p:sp>
        <p:nvSpPr>
          <p:cNvPr name="TextBox 327" id="327"/>
          <p:cNvSpPr txBox="true"/>
          <p:nvPr/>
        </p:nvSpPr>
        <p:spPr>
          <a:xfrm rot="0">
            <a:off x="7270528" y="61457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77.54</a:t>
            </a:r>
          </a:p>
        </p:txBody>
      </p:sp>
      <p:sp>
        <p:nvSpPr>
          <p:cNvPr name="AutoShape 328" id="328"/>
          <p:cNvSpPr/>
          <p:nvPr/>
        </p:nvSpPr>
        <p:spPr>
          <a:xfrm rot="0">
            <a:off x="8552593" y="6412420"/>
            <a:ext cx="1568101" cy="9525"/>
          </a:xfrm>
          <a:prstGeom prst="rect">
            <a:avLst/>
          </a:prstGeom>
          <a:solidFill>
            <a:srgbClr val="D8DFDD"/>
          </a:solidFill>
        </p:spPr>
      </p:sp>
      <p:sp>
        <p:nvSpPr>
          <p:cNvPr name="TextBox 329" id="329"/>
          <p:cNvSpPr txBox="true"/>
          <p:nvPr/>
        </p:nvSpPr>
        <p:spPr>
          <a:xfrm rot="0">
            <a:off x="8552593" y="614572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72.03</a:t>
            </a:r>
          </a:p>
        </p:txBody>
      </p:sp>
      <p:sp>
        <p:nvSpPr>
          <p:cNvPr name="AutoShape 330" id="330"/>
          <p:cNvSpPr/>
          <p:nvPr/>
        </p:nvSpPr>
        <p:spPr>
          <a:xfrm rot="0">
            <a:off x="10120598" y="6412420"/>
            <a:ext cx="1450372" cy="9525"/>
          </a:xfrm>
          <a:prstGeom prst="rect">
            <a:avLst/>
          </a:prstGeom>
          <a:solidFill>
            <a:srgbClr val="D8DFDD"/>
          </a:solidFill>
        </p:spPr>
      </p:sp>
      <p:sp>
        <p:nvSpPr>
          <p:cNvPr name="TextBox 331" id="331"/>
          <p:cNvSpPr txBox="true"/>
          <p:nvPr/>
        </p:nvSpPr>
        <p:spPr>
          <a:xfrm rot="0">
            <a:off x="10120598" y="614572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74.54</a:t>
            </a:r>
          </a:p>
        </p:txBody>
      </p:sp>
      <p:sp>
        <p:nvSpPr>
          <p:cNvPr name="AutoShape 332" id="332"/>
          <p:cNvSpPr/>
          <p:nvPr/>
        </p:nvSpPr>
        <p:spPr>
          <a:xfrm rot="0">
            <a:off x="11570970" y="6412420"/>
            <a:ext cx="1281970" cy="9525"/>
          </a:xfrm>
          <a:prstGeom prst="rect">
            <a:avLst/>
          </a:prstGeom>
          <a:solidFill>
            <a:srgbClr val="D8DFDD"/>
          </a:solidFill>
        </p:spPr>
      </p:sp>
      <p:sp>
        <p:nvSpPr>
          <p:cNvPr name="TextBox 333" id="333"/>
          <p:cNvSpPr txBox="true"/>
          <p:nvPr/>
        </p:nvSpPr>
        <p:spPr>
          <a:xfrm rot="0">
            <a:off x="11570970" y="61457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71.35</a:t>
            </a:r>
          </a:p>
        </p:txBody>
      </p:sp>
      <p:sp>
        <p:nvSpPr>
          <p:cNvPr name="AutoShape 334" id="334"/>
          <p:cNvSpPr/>
          <p:nvPr/>
        </p:nvSpPr>
        <p:spPr>
          <a:xfrm rot="0">
            <a:off x="12852940" y="6412420"/>
            <a:ext cx="1586960" cy="9525"/>
          </a:xfrm>
          <a:prstGeom prst="rect">
            <a:avLst/>
          </a:prstGeom>
          <a:solidFill>
            <a:srgbClr val="D8DFDD"/>
          </a:solidFill>
        </p:spPr>
      </p:sp>
      <p:sp>
        <p:nvSpPr>
          <p:cNvPr name="TextBox 335" id="335"/>
          <p:cNvSpPr txBox="true"/>
          <p:nvPr/>
        </p:nvSpPr>
        <p:spPr>
          <a:xfrm rot="0">
            <a:off x="12852940" y="614572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56.36</a:t>
            </a:r>
          </a:p>
        </p:txBody>
      </p:sp>
      <p:sp>
        <p:nvSpPr>
          <p:cNvPr name="AutoShape 336" id="336"/>
          <p:cNvSpPr/>
          <p:nvPr/>
        </p:nvSpPr>
        <p:spPr>
          <a:xfrm rot="0">
            <a:off x="800100" y="6660070"/>
            <a:ext cx="2193703" cy="9525"/>
          </a:xfrm>
          <a:prstGeom prst="rect">
            <a:avLst/>
          </a:prstGeom>
          <a:solidFill>
            <a:srgbClr val="D8DFDD"/>
          </a:solidFill>
        </p:spPr>
      </p:sp>
      <p:sp>
        <p:nvSpPr>
          <p:cNvPr name="TextBox 337" id="337"/>
          <p:cNvSpPr txBox="true"/>
          <p:nvPr/>
        </p:nvSpPr>
        <p:spPr>
          <a:xfrm rot="0">
            <a:off x="800100" y="63933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38" id="338"/>
          <p:cNvSpPr/>
          <p:nvPr/>
        </p:nvSpPr>
        <p:spPr>
          <a:xfrm rot="0">
            <a:off x="2993803" y="6660070"/>
            <a:ext cx="3187922" cy="9525"/>
          </a:xfrm>
          <a:prstGeom prst="rect">
            <a:avLst/>
          </a:prstGeom>
          <a:solidFill>
            <a:srgbClr val="D8DFDD"/>
          </a:solidFill>
        </p:spPr>
      </p:sp>
      <p:sp>
        <p:nvSpPr>
          <p:cNvPr name="TextBox 339" id="339"/>
          <p:cNvSpPr txBox="true"/>
          <p:nvPr/>
        </p:nvSpPr>
        <p:spPr>
          <a:xfrm rot="0">
            <a:off x="2993803" y="63933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340" id="340"/>
          <p:cNvSpPr/>
          <p:nvPr/>
        </p:nvSpPr>
        <p:spPr>
          <a:xfrm rot="0">
            <a:off x="6181725" y="6660070"/>
            <a:ext cx="1088803" cy="9525"/>
          </a:xfrm>
          <a:prstGeom prst="rect">
            <a:avLst/>
          </a:prstGeom>
          <a:solidFill>
            <a:srgbClr val="D8DFDD"/>
          </a:solidFill>
        </p:spPr>
      </p:sp>
      <p:sp>
        <p:nvSpPr>
          <p:cNvPr name="TextBox 341" id="341"/>
          <p:cNvSpPr txBox="true"/>
          <p:nvPr/>
        </p:nvSpPr>
        <p:spPr>
          <a:xfrm rot="0">
            <a:off x="6181725" y="63933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342" id="342"/>
          <p:cNvSpPr/>
          <p:nvPr/>
        </p:nvSpPr>
        <p:spPr>
          <a:xfrm rot="0">
            <a:off x="7270528" y="6660070"/>
            <a:ext cx="1281970" cy="9525"/>
          </a:xfrm>
          <a:prstGeom prst="rect">
            <a:avLst/>
          </a:prstGeom>
          <a:solidFill>
            <a:srgbClr val="D8DFDD"/>
          </a:solidFill>
        </p:spPr>
      </p:sp>
      <p:sp>
        <p:nvSpPr>
          <p:cNvPr name="TextBox 343" id="343"/>
          <p:cNvSpPr txBox="true"/>
          <p:nvPr/>
        </p:nvSpPr>
        <p:spPr>
          <a:xfrm rot="0">
            <a:off x="7270528" y="63933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87.31</a:t>
            </a:r>
          </a:p>
        </p:txBody>
      </p:sp>
      <p:sp>
        <p:nvSpPr>
          <p:cNvPr name="AutoShape 344" id="344"/>
          <p:cNvSpPr/>
          <p:nvPr/>
        </p:nvSpPr>
        <p:spPr>
          <a:xfrm rot="0">
            <a:off x="8552593" y="6660070"/>
            <a:ext cx="1568101" cy="9525"/>
          </a:xfrm>
          <a:prstGeom prst="rect">
            <a:avLst/>
          </a:prstGeom>
          <a:solidFill>
            <a:srgbClr val="D8DFDD"/>
          </a:solidFill>
        </p:spPr>
      </p:sp>
      <p:sp>
        <p:nvSpPr>
          <p:cNvPr name="TextBox 345" id="345"/>
          <p:cNvSpPr txBox="true"/>
          <p:nvPr/>
        </p:nvSpPr>
        <p:spPr>
          <a:xfrm rot="0">
            <a:off x="8552593" y="63933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79.74</a:t>
            </a:r>
          </a:p>
        </p:txBody>
      </p:sp>
      <p:sp>
        <p:nvSpPr>
          <p:cNvPr name="AutoShape 346" id="346"/>
          <p:cNvSpPr/>
          <p:nvPr/>
        </p:nvSpPr>
        <p:spPr>
          <a:xfrm rot="0">
            <a:off x="10120598" y="6660070"/>
            <a:ext cx="1450372" cy="9525"/>
          </a:xfrm>
          <a:prstGeom prst="rect">
            <a:avLst/>
          </a:prstGeom>
          <a:solidFill>
            <a:srgbClr val="D8DFDD"/>
          </a:solidFill>
        </p:spPr>
      </p:sp>
      <p:sp>
        <p:nvSpPr>
          <p:cNvPr name="TextBox 347" id="347"/>
          <p:cNvSpPr txBox="true"/>
          <p:nvPr/>
        </p:nvSpPr>
        <p:spPr>
          <a:xfrm rot="0">
            <a:off x="10120598" y="63933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78.46</a:t>
            </a:r>
          </a:p>
        </p:txBody>
      </p:sp>
      <p:sp>
        <p:nvSpPr>
          <p:cNvPr name="AutoShape 348" id="348"/>
          <p:cNvSpPr/>
          <p:nvPr/>
        </p:nvSpPr>
        <p:spPr>
          <a:xfrm rot="0">
            <a:off x="11570970" y="6660070"/>
            <a:ext cx="1281970" cy="9525"/>
          </a:xfrm>
          <a:prstGeom prst="rect">
            <a:avLst/>
          </a:prstGeom>
          <a:solidFill>
            <a:srgbClr val="D8DFDD"/>
          </a:solidFill>
        </p:spPr>
      </p:sp>
      <p:sp>
        <p:nvSpPr>
          <p:cNvPr name="TextBox 349" id="349"/>
          <p:cNvSpPr txBox="true"/>
          <p:nvPr/>
        </p:nvSpPr>
        <p:spPr>
          <a:xfrm rot="0">
            <a:off x="11570970" y="63933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78.89</a:t>
            </a:r>
          </a:p>
        </p:txBody>
      </p:sp>
      <p:sp>
        <p:nvSpPr>
          <p:cNvPr name="AutoShape 350" id="350"/>
          <p:cNvSpPr/>
          <p:nvPr/>
        </p:nvSpPr>
        <p:spPr>
          <a:xfrm rot="0">
            <a:off x="12852940" y="6660070"/>
            <a:ext cx="1586960" cy="9525"/>
          </a:xfrm>
          <a:prstGeom prst="rect">
            <a:avLst/>
          </a:prstGeom>
          <a:solidFill>
            <a:srgbClr val="D8DFDD"/>
          </a:solidFill>
        </p:spPr>
      </p:sp>
      <p:sp>
        <p:nvSpPr>
          <p:cNvPr name="TextBox 351" id="351"/>
          <p:cNvSpPr txBox="true"/>
          <p:nvPr/>
        </p:nvSpPr>
        <p:spPr>
          <a:xfrm rot="0">
            <a:off x="12852940" y="63933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66.61</a:t>
            </a:r>
          </a:p>
        </p:txBody>
      </p:sp>
      <p:sp>
        <p:nvSpPr>
          <p:cNvPr name="AutoShape 352" id="352"/>
          <p:cNvSpPr/>
          <p:nvPr/>
        </p:nvSpPr>
        <p:spPr>
          <a:xfrm rot="0">
            <a:off x="800100" y="6907720"/>
            <a:ext cx="2193703" cy="9525"/>
          </a:xfrm>
          <a:prstGeom prst="rect">
            <a:avLst/>
          </a:prstGeom>
          <a:solidFill>
            <a:srgbClr val="D8DFDD"/>
          </a:solidFill>
        </p:spPr>
      </p:sp>
      <p:sp>
        <p:nvSpPr>
          <p:cNvPr name="TextBox 353" id="353"/>
          <p:cNvSpPr txBox="true"/>
          <p:nvPr/>
        </p:nvSpPr>
        <p:spPr>
          <a:xfrm rot="0">
            <a:off x="800100" y="664102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54" id="354"/>
          <p:cNvSpPr/>
          <p:nvPr/>
        </p:nvSpPr>
        <p:spPr>
          <a:xfrm rot="0">
            <a:off x="2993803" y="6907720"/>
            <a:ext cx="3187922" cy="9525"/>
          </a:xfrm>
          <a:prstGeom prst="rect">
            <a:avLst/>
          </a:prstGeom>
          <a:solidFill>
            <a:srgbClr val="D8DFDD"/>
          </a:solidFill>
        </p:spPr>
      </p:sp>
      <p:sp>
        <p:nvSpPr>
          <p:cNvPr name="TextBox 355" id="355"/>
          <p:cNvSpPr txBox="true"/>
          <p:nvPr/>
        </p:nvSpPr>
        <p:spPr>
          <a:xfrm rot="0">
            <a:off x="2993803" y="664102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356" id="356"/>
          <p:cNvSpPr/>
          <p:nvPr/>
        </p:nvSpPr>
        <p:spPr>
          <a:xfrm rot="0">
            <a:off x="6181725" y="6907720"/>
            <a:ext cx="1088803" cy="9525"/>
          </a:xfrm>
          <a:prstGeom prst="rect">
            <a:avLst/>
          </a:prstGeom>
          <a:solidFill>
            <a:srgbClr val="D8DFDD"/>
          </a:solidFill>
        </p:spPr>
      </p:sp>
      <p:sp>
        <p:nvSpPr>
          <p:cNvPr name="TextBox 357" id="357"/>
          <p:cNvSpPr txBox="true"/>
          <p:nvPr/>
        </p:nvSpPr>
        <p:spPr>
          <a:xfrm rot="0">
            <a:off x="6181725" y="664102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58" id="358"/>
          <p:cNvSpPr/>
          <p:nvPr/>
        </p:nvSpPr>
        <p:spPr>
          <a:xfrm rot="0">
            <a:off x="7270528" y="6907720"/>
            <a:ext cx="1281970" cy="9525"/>
          </a:xfrm>
          <a:prstGeom prst="rect">
            <a:avLst/>
          </a:prstGeom>
          <a:solidFill>
            <a:srgbClr val="D8DFDD"/>
          </a:solidFill>
        </p:spPr>
      </p:sp>
      <p:sp>
        <p:nvSpPr>
          <p:cNvPr name="TextBox 359" id="359"/>
          <p:cNvSpPr txBox="true"/>
          <p:nvPr/>
        </p:nvSpPr>
        <p:spPr>
          <a:xfrm rot="0">
            <a:off x="7270528" y="66410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87.02</a:t>
            </a:r>
          </a:p>
        </p:txBody>
      </p:sp>
      <p:sp>
        <p:nvSpPr>
          <p:cNvPr name="AutoShape 360" id="360"/>
          <p:cNvSpPr/>
          <p:nvPr/>
        </p:nvSpPr>
        <p:spPr>
          <a:xfrm rot="0">
            <a:off x="8552593" y="6907720"/>
            <a:ext cx="1568101" cy="9525"/>
          </a:xfrm>
          <a:prstGeom prst="rect">
            <a:avLst/>
          </a:prstGeom>
          <a:solidFill>
            <a:srgbClr val="D8DFDD"/>
          </a:solidFill>
        </p:spPr>
      </p:sp>
      <p:sp>
        <p:nvSpPr>
          <p:cNvPr name="TextBox 361" id="361"/>
          <p:cNvSpPr txBox="true"/>
          <p:nvPr/>
        </p:nvSpPr>
        <p:spPr>
          <a:xfrm rot="0">
            <a:off x="8552593" y="664102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84.87</a:t>
            </a:r>
          </a:p>
        </p:txBody>
      </p:sp>
      <p:sp>
        <p:nvSpPr>
          <p:cNvPr name="AutoShape 362" id="362"/>
          <p:cNvSpPr/>
          <p:nvPr/>
        </p:nvSpPr>
        <p:spPr>
          <a:xfrm rot="0">
            <a:off x="10120598" y="6907720"/>
            <a:ext cx="1450372" cy="9525"/>
          </a:xfrm>
          <a:prstGeom prst="rect">
            <a:avLst/>
          </a:prstGeom>
          <a:solidFill>
            <a:srgbClr val="D8DFDD"/>
          </a:solidFill>
        </p:spPr>
      </p:sp>
      <p:sp>
        <p:nvSpPr>
          <p:cNvPr name="TextBox 363" id="363"/>
          <p:cNvSpPr txBox="true"/>
          <p:nvPr/>
        </p:nvSpPr>
        <p:spPr>
          <a:xfrm rot="0">
            <a:off x="10120598" y="664102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83.09</a:t>
            </a:r>
          </a:p>
        </p:txBody>
      </p:sp>
      <p:sp>
        <p:nvSpPr>
          <p:cNvPr name="AutoShape 364" id="364"/>
          <p:cNvSpPr/>
          <p:nvPr/>
        </p:nvSpPr>
        <p:spPr>
          <a:xfrm rot="0">
            <a:off x="11570970" y="6907720"/>
            <a:ext cx="1281970" cy="9525"/>
          </a:xfrm>
          <a:prstGeom prst="rect">
            <a:avLst/>
          </a:prstGeom>
          <a:solidFill>
            <a:srgbClr val="D8DFDD"/>
          </a:solidFill>
        </p:spPr>
      </p:sp>
      <p:sp>
        <p:nvSpPr>
          <p:cNvPr name="TextBox 365" id="365"/>
          <p:cNvSpPr txBox="true"/>
          <p:nvPr/>
        </p:nvSpPr>
        <p:spPr>
          <a:xfrm rot="0">
            <a:off x="11570970" y="664102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83.62</a:t>
            </a:r>
          </a:p>
        </p:txBody>
      </p:sp>
      <p:sp>
        <p:nvSpPr>
          <p:cNvPr name="AutoShape 366" id="366"/>
          <p:cNvSpPr/>
          <p:nvPr/>
        </p:nvSpPr>
        <p:spPr>
          <a:xfrm rot="0">
            <a:off x="12852940" y="6907720"/>
            <a:ext cx="1586960" cy="9525"/>
          </a:xfrm>
          <a:prstGeom prst="rect">
            <a:avLst/>
          </a:prstGeom>
          <a:solidFill>
            <a:srgbClr val="D8DFDD"/>
          </a:solidFill>
        </p:spPr>
      </p:sp>
      <p:sp>
        <p:nvSpPr>
          <p:cNvPr name="TextBox 367" id="367"/>
          <p:cNvSpPr txBox="true"/>
          <p:nvPr/>
        </p:nvSpPr>
        <p:spPr>
          <a:xfrm rot="0">
            <a:off x="12852940" y="664102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72.18</a:t>
            </a:r>
          </a:p>
        </p:txBody>
      </p:sp>
      <p:sp>
        <p:nvSpPr>
          <p:cNvPr name="AutoShape 368" id="368"/>
          <p:cNvSpPr/>
          <p:nvPr/>
        </p:nvSpPr>
        <p:spPr>
          <a:xfrm rot="0">
            <a:off x="800100" y="7155370"/>
            <a:ext cx="2193703" cy="9525"/>
          </a:xfrm>
          <a:prstGeom prst="rect">
            <a:avLst/>
          </a:prstGeom>
          <a:solidFill>
            <a:srgbClr val="D8DFDD"/>
          </a:solidFill>
        </p:spPr>
      </p:sp>
      <p:sp>
        <p:nvSpPr>
          <p:cNvPr name="TextBox 369" id="369"/>
          <p:cNvSpPr txBox="true"/>
          <p:nvPr/>
        </p:nvSpPr>
        <p:spPr>
          <a:xfrm rot="0">
            <a:off x="800100" y="6888671"/>
            <a:ext cx="21937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70" id="370"/>
          <p:cNvSpPr/>
          <p:nvPr/>
        </p:nvSpPr>
        <p:spPr>
          <a:xfrm rot="0">
            <a:off x="2993803" y="7155370"/>
            <a:ext cx="3187922" cy="9525"/>
          </a:xfrm>
          <a:prstGeom prst="rect">
            <a:avLst/>
          </a:prstGeom>
          <a:solidFill>
            <a:srgbClr val="D8DFDD"/>
          </a:solidFill>
        </p:spPr>
      </p:sp>
      <p:sp>
        <p:nvSpPr>
          <p:cNvPr name="TextBox 371" id="371"/>
          <p:cNvSpPr txBox="true"/>
          <p:nvPr/>
        </p:nvSpPr>
        <p:spPr>
          <a:xfrm rot="0">
            <a:off x="2993803" y="6888671"/>
            <a:ext cx="318792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372" id="372"/>
          <p:cNvSpPr/>
          <p:nvPr/>
        </p:nvSpPr>
        <p:spPr>
          <a:xfrm rot="0">
            <a:off x="6181725" y="7155370"/>
            <a:ext cx="1088803" cy="9525"/>
          </a:xfrm>
          <a:prstGeom prst="rect">
            <a:avLst/>
          </a:prstGeom>
          <a:solidFill>
            <a:srgbClr val="D8DFDD"/>
          </a:solidFill>
        </p:spPr>
      </p:sp>
      <p:sp>
        <p:nvSpPr>
          <p:cNvPr name="TextBox 373" id="373"/>
          <p:cNvSpPr txBox="true"/>
          <p:nvPr/>
        </p:nvSpPr>
        <p:spPr>
          <a:xfrm rot="0">
            <a:off x="6181725" y="6888671"/>
            <a:ext cx="108880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grpSp>
        <p:nvGrpSpPr>
          <p:cNvPr name="Group 374" id="374"/>
          <p:cNvGrpSpPr/>
          <p:nvPr/>
        </p:nvGrpSpPr>
        <p:grpSpPr>
          <a:xfrm rot="0">
            <a:off x="7270528" y="6917246"/>
            <a:ext cx="1281970" cy="247650"/>
            <a:chOff x="0" y="0"/>
            <a:chExt cx="1709293" cy="330200"/>
          </a:xfrm>
        </p:grpSpPr>
        <p:sp>
          <p:nvSpPr>
            <p:cNvPr name="Freeform 375" id="375"/>
            <p:cNvSpPr/>
            <p:nvPr/>
          </p:nvSpPr>
          <p:spPr>
            <a:xfrm flipH="false" flipV="false" rot="0">
              <a:off x="0" y="0"/>
              <a:ext cx="1709293" cy="330200"/>
            </a:xfrm>
            <a:custGeom>
              <a:avLst/>
              <a:gdLst/>
              <a:ahLst/>
              <a:cxnLst/>
              <a:rect r="r" b="b" t="t" l="l"/>
              <a:pathLst>
                <a:path h="330200" w="1709293">
                  <a:moveTo>
                    <a:pt x="0" y="0"/>
                  </a:moveTo>
                  <a:lnTo>
                    <a:pt x="1709293" y="0"/>
                  </a:lnTo>
                  <a:lnTo>
                    <a:pt x="1709293" y="330200"/>
                  </a:lnTo>
                  <a:lnTo>
                    <a:pt x="0" y="330200"/>
                  </a:lnTo>
                  <a:lnTo>
                    <a:pt x="0" y="0"/>
                  </a:lnTo>
                  <a:close/>
                </a:path>
              </a:pathLst>
            </a:custGeom>
            <a:solidFill>
              <a:srgbClr val="2DD4BF">
                <a:alpha val="1176"/>
              </a:srgbClr>
            </a:solidFill>
          </p:spPr>
        </p:sp>
        <p:sp>
          <p:nvSpPr>
            <p:cNvPr name="TextBox 376" id="376"/>
            <p:cNvSpPr txBox="true"/>
            <p:nvPr/>
          </p:nvSpPr>
          <p:spPr>
            <a:xfrm>
              <a:off x="0" y="-28575"/>
              <a:ext cx="1709293"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92.12</a:t>
              </a:r>
            </a:p>
          </p:txBody>
        </p:sp>
      </p:grpSp>
      <p:sp>
        <p:nvSpPr>
          <p:cNvPr name="AutoShape 377" id="377"/>
          <p:cNvSpPr/>
          <p:nvPr/>
        </p:nvSpPr>
        <p:spPr>
          <a:xfrm rot="0">
            <a:off x="7270528" y="7155370"/>
            <a:ext cx="1281970" cy="9525"/>
          </a:xfrm>
          <a:prstGeom prst="rect">
            <a:avLst/>
          </a:prstGeom>
          <a:solidFill>
            <a:srgbClr val="D8DFDD"/>
          </a:solidFill>
        </p:spPr>
      </p:sp>
      <p:sp>
        <p:nvSpPr>
          <p:cNvPr name="AutoShape 378" id="378"/>
          <p:cNvSpPr/>
          <p:nvPr/>
        </p:nvSpPr>
        <p:spPr>
          <a:xfrm rot="0">
            <a:off x="8552593" y="7155370"/>
            <a:ext cx="1568101" cy="9525"/>
          </a:xfrm>
          <a:prstGeom prst="rect">
            <a:avLst/>
          </a:prstGeom>
          <a:solidFill>
            <a:srgbClr val="D8DFDD"/>
          </a:solidFill>
        </p:spPr>
      </p:sp>
      <p:sp>
        <p:nvSpPr>
          <p:cNvPr name="TextBox 379" id="379"/>
          <p:cNvSpPr txBox="true"/>
          <p:nvPr/>
        </p:nvSpPr>
        <p:spPr>
          <a:xfrm rot="0">
            <a:off x="8552593" y="6888671"/>
            <a:ext cx="156810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87.16</a:t>
            </a:r>
          </a:p>
        </p:txBody>
      </p:sp>
      <p:sp>
        <p:nvSpPr>
          <p:cNvPr name="AutoShape 380" id="380"/>
          <p:cNvSpPr/>
          <p:nvPr/>
        </p:nvSpPr>
        <p:spPr>
          <a:xfrm rot="0">
            <a:off x="10120598" y="7155370"/>
            <a:ext cx="1450372" cy="9525"/>
          </a:xfrm>
          <a:prstGeom prst="rect">
            <a:avLst/>
          </a:prstGeom>
          <a:solidFill>
            <a:srgbClr val="D8DFDD"/>
          </a:solidFill>
        </p:spPr>
      </p:sp>
      <p:sp>
        <p:nvSpPr>
          <p:cNvPr name="TextBox 381" id="381"/>
          <p:cNvSpPr txBox="true"/>
          <p:nvPr/>
        </p:nvSpPr>
        <p:spPr>
          <a:xfrm rot="0">
            <a:off x="10120598" y="6888671"/>
            <a:ext cx="145037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87.70</a:t>
            </a:r>
          </a:p>
        </p:txBody>
      </p:sp>
      <p:sp>
        <p:nvSpPr>
          <p:cNvPr name="AutoShape 382" id="382"/>
          <p:cNvSpPr/>
          <p:nvPr/>
        </p:nvSpPr>
        <p:spPr>
          <a:xfrm rot="0">
            <a:off x="11570970" y="7155370"/>
            <a:ext cx="1281970" cy="9525"/>
          </a:xfrm>
          <a:prstGeom prst="rect">
            <a:avLst/>
          </a:prstGeom>
          <a:solidFill>
            <a:srgbClr val="D8DFDD"/>
          </a:solidFill>
        </p:spPr>
      </p:sp>
      <p:sp>
        <p:nvSpPr>
          <p:cNvPr name="TextBox 383" id="383"/>
          <p:cNvSpPr txBox="true"/>
          <p:nvPr/>
        </p:nvSpPr>
        <p:spPr>
          <a:xfrm rot="0">
            <a:off x="11570970" y="6888671"/>
            <a:ext cx="128197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87.34</a:t>
            </a:r>
          </a:p>
        </p:txBody>
      </p:sp>
      <p:sp>
        <p:nvSpPr>
          <p:cNvPr name="AutoShape 384" id="384"/>
          <p:cNvSpPr/>
          <p:nvPr/>
        </p:nvSpPr>
        <p:spPr>
          <a:xfrm rot="0">
            <a:off x="12852940" y="7155370"/>
            <a:ext cx="1586960" cy="9525"/>
          </a:xfrm>
          <a:prstGeom prst="rect">
            <a:avLst/>
          </a:prstGeom>
          <a:solidFill>
            <a:srgbClr val="D8DFDD"/>
          </a:solidFill>
        </p:spPr>
      </p:sp>
      <p:sp>
        <p:nvSpPr>
          <p:cNvPr name="TextBox 385" id="385"/>
          <p:cNvSpPr txBox="true"/>
          <p:nvPr/>
        </p:nvSpPr>
        <p:spPr>
          <a:xfrm rot="0">
            <a:off x="12852940" y="6888671"/>
            <a:ext cx="158696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77.98</a:t>
            </a:r>
          </a:p>
        </p:txBody>
      </p:sp>
      <p:sp>
        <p:nvSpPr>
          <p:cNvPr name="AutoShape 386" id="386"/>
          <p:cNvSpPr/>
          <p:nvPr/>
        </p:nvSpPr>
        <p:spPr>
          <a:xfrm rot="0">
            <a:off x="800100" y="8039100"/>
            <a:ext cx="13639800" cy="9525"/>
          </a:xfrm>
          <a:prstGeom prst="rect">
            <a:avLst/>
          </a:prstGeom>
          <a:solidFill>
            <a:srgbClr val="061217">
              <a:alpha val="14902"/>
            </a:srgbClr>
          </a:solidFill>
        </p:spPr>
      </p:sp>
      <p:sp>
        <p:nvSpPr>
          <p:cNvPr name="TextBox 387" id="387"/>
          <p:cNvSpPr txBox="true"/>
          <p:nvPr/>
        </p:nvSpPr>
        <p:spPr>
          <a:xfrm rot="0">
            <a:off x="800100" y="7791450"/>
            <a:ext cx="3253550"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Table 5.1 · values in percent</a:t>
            </a:r>
          </a:p>
        </p:txBody>
      </p:sp>
      <p:sp>
        <p:nvSpPr>
          <p:cNvPr name="TextBox 388" id="388"/>
          <p:cNvSpPr txBox="true"/>
          <p:nvPr/>
        </p:nvSpPr>
        <p:spPr>
          <a:xfrm rot="0">
            <a:off x="800100" y="8153400"/>
            <a:ext cx="47672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Backup</a:t>
            </a:r>
          </a:p>
        </p:txBody>
      </p:sp>
      <p:sp>
        <p:nvSpPr>
          <p:cNvPr name="TextBox 389" id="389"/>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BACKUP · COMPLETE REPORT RESULTS</a:t>
            </a:r>
          </a:p>
        </p:txBody>
      </p:sp>
      <p:sp>
        <p:nvSpPr>
          <p:cNvPr name="TextBox 7" id="7"/>
          <p:cNvSpPr txBox="true"/>
          <p:nvPr/>
        </p:nvSpPr>
        <p:spPr>
          <a:xfrm rot="0">
            <a:off x="800100" y="1104900"/>
            <a:ext cx="12763500" cy="397383"/>
          </a:xfrm>
          <a:prstGeom prst="rect">
            <a:avLst/>
          </a:prstGeom>
        </p:spPr>
        <p:txBody>
          <a:bodyPr anchor="t" rtlCol="false" tIns="0" lIns="0" bIns="0" rIns="0">
            <a:spAutoFit/>
          </a:bodyPr>
          <a:lstStyle/>
          <a:p>
            <a:pPr algn="l">
              <a:lnSpc>
                <a:spcPts val="3354"/>
              </a:lnSpc>
            </a:pPr>
            <a:r>
              <a:rPr lang="en-US" b="true" sz="3225" spc="-141">
                <a:solidFill>
                  <a:srgbClr val="102126"/>
                </a:solidFill>
                <a:latin typeface="Arial Bold"/>
                <a:ea typeface="Arial Bold"/>
                <a:cs typeface="Arial Bold"/>
                <a:sym typeface="Arial Bold"/>
              </a:rPr>
              <a:t>Temporal segmentation metrics on the test set</a:t>
            </a:r>
          </a:p>
        </p:txBody>
      </p:sp>
      <p:sp>
        <p:nvSpPr>
          <p:cNvPr name="AutoShape 8" id="8"/>
          <p:cNvSpPr/>
          <p:nvPr/>
        </p:nvSpPr>
        <p:spPr>
          <a:xfrm rot="0">
            <a:off x="800100" y="1921383"/>
            <a:ext cx="2049208" cy="19050"/>
          </a:xfrm>
          <a:prstGeom prst="rect">
            <a:avLst/>
          </a:prstGeom>
          <a:solidFill>
            <a:srgbClr val="AEBDBB"/>
          </a:solidFill>
        </p:spPr>
      </p:sp>
      <p:sp>
        <p:nvSpPr>
          <p:cNvPr name="TextBox 9" id="9"/>
          <p:cNvSpPr txBox="true"/>
          <p:nvPr/>
        </p:nvSpPr>
        <p:spPr>
          <a:xfrm rot="0">
            <a:off x="800100" y="1645158"/>
            <a:ext cx="2049208"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Feature</a:t>
            </a:r>
          </a:p>
        </p:txBody>
      </p:sp>
      <p:sp>
        <p:nvSpPr>
          <p:cNvPr name="AutoShape 10" id="10"/>
          <p:cNvSpPr/>
          <p:nvPr/>
        </p:nvSpPr>
        <p:spPr>
          <a:xfrm rot="0">
            <a:off x="2849308" y="1921383"/>
            <a:ext cx="2977801" cy="19050"/>
          </a:xfrm>
          <a:prstGeom prst="rect">
            <a:avLst/>
          </a:prstGeom>
          <a:solidFill>
            <a:srgbClr val="AEBDBB"/>
          </a:solidFill>
        </p:spPr>
      </p:sp>
      <p:sp>
        <p:nvSpPr>
          <p:cNvPr name="TextBox 11" id="11"/>
          <p:cNvSpPr txBox="true"/>
          <p:nvPr/>
        </p:nvSpPr>
        <p:spPr>
          <a:xfrm rot="0">
            <a:off x="2849308" y="1645158"/>
            <a:ext cx="2977801"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Model</a:t>
            </a:r>
          </a:p>
        </p:txBody>
      </p:sp>
      <p:sp>
        <p:nvSpPr>
          <p:cNvPr name="AutoShape 12" id="12"/>
          <p:cNvSpPr/>
          <p:nvPr/>
        </p:nvSpPr>
        <p:spPr>
          <a:xfrm rot="0">
            <a:off x="5827109" y="1921383"/>
            <a:ext cx="1017080" cy="19050"/>
          </a:xfrm>
          <a:prstGeom prst="rect">
            <a:avLst/>
          </a:prstGeom>
          <a:solidFill>
            <a:srgbClr val="AEBDBB"/>
          </a:solidFill>
        </p:spPr>
      </p:sp>
      <p:sp>
        <p:nvSpPr>
          <p:cNvPr name="TextBox 13" id="13"/>
          <p:cNvSpPr txBox="true"/>
          <p:nvPr/>
        </p:nvSpPr>
        <p:spPr>
          <a:xfrm rot="0">
            <a:off x="5827109" y="1645158"/>
            <a:ext cx="1017080"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Post</a:t>
            </a:r>
          </a:p>
        </p:txBody>
      </p:sp>
      <p:sp>
        <p:nvSpPr>
          <p:cNvPr name="AutoShape 14" id="14"/>
          <p:cNvSpPr/>
          <p:nvPr/>
        </p:nvSpPr>
        <p:spPr>
          <a:xfrm rot="0">
            <a:off x="6844189" y="1921383"/>
            <a:ext cx="1197483" cy="19050"/>
          </a:xfrm>
          <a:prstGeom prst="rect">
            <a:avLst/>
          </a:prstGeom>
          <a:solidFill>
            <a:srgbClr val="AEBDBB"/>
          </a:solidFill>
        </p:spPr>
      </p:sp>
      <p:sp>
        <p:nvSpPr>
          <p:cNvPr name="TextBox 15" id="15"/>
          <p:cNvSpPr txBox="true"/>
          <p:nvPr/>
        </p:nvSpPr>
        <p:spPr>
          <a:xfrm rot="0">
            <a:off x="6844189" y="1645158"/>
            <a:ext cx="1197483"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Edit</a:t>
            </a:r>
          </a:p>
        </p:txBody>
      </p:sp>
      <p:sp>
        <p:nvSpPr>
          <p:cNvPr name="AutoShape 16" id="16"/>
          <p:cNvSpPr/>
          <p:nvPr/>
        </p:nvSpPr>
        <p:spPr>
          <a:xfrm rot="0">
            <a:off x="8041672" y="1921383"/>
            <a:ext cx="1354741" cy="19050"/>
          </a:xfrm>
          <a:prstGeom prst="rect">
            <a:avLst/>
          </a:prstGeom>
          <a:solidFill>
            <a:srgbClr val="AEBDBB"/>
          </a:solidFill>
        </p:spPr>
      </p:sp>
      <p:sp>
        <p:nvSpPr>
          <p:cNvPr name="TextBox 17" id="17"/>
          <p:cNvSpPr txBox="true"/>
          <p:nvPr/>
        </p:nvSpPr>
        <p:spPr>
          <a:xfrm rot="0">
            <a:off x="8041672" y="1645158"/>
            <a:ext cx="135474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F1@10</a:t>
            </a:r>
          </a:p>
        </p:txBody>
      </p:sp>
      <p:sp>
        <p:nvSpPr>
          <p:cNvPr name="AutoShape 18" id="18"/>
          <p:cNvSpPr/>
          <p:nvPr/>
        </p:nvSpPr>
        <p:spPr>
          <a:xfrm rot="0">
            <a:off x="9396412" y="1921383"/>
            <a:ext cx="1354741" cy="19050"/>
          </a:xfrm>
          <a:prstGeom prst="rect">
            <a:avLst/>
          </a:prstGeom>
          <a:solidFill>
            <a:srgbClr val="AEBDBB"/>
          </a:solidFill>
        </p:spPr>
      </p:sp>
      <p:sp>
        <p:nvSpPr>
          <p:cNvPr name="TextBox 19" id="19"/>
          <p:cNvSpPr txBox="true"/>
          <p:nvPr/>
        </p:nvSpPr>
        <p:spPr>
          <a:xfrm rot="0">
            <a:off x="9396412" y="1645158"/>
            <a:ext cx="135474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F1@25</a:t>
            </a:r>
          </a:p>
        </p:txBody>
      </p:sp>
      <p:sp>
        <p:nvSpPr>
          <p:cNvPr name="AutoShape 20" id="20"/>
          <p:cNvSpPr/>
          <p:nvPr/>
        </p:nvSpPr>
        <p:spPr>
          <a:xfrm rot="0">
            <a:off x="10751153" y="1921383"/>
            <a:ext cx="1354741" cy="19050"/>
          </a:xfrm>
          <a:prstGeom prst="rect">
            <a:avLst/>
          </a:prstGeom>
          <a:solidFill>
            <a:srgbClr val="AEBDBB"/>
          </a:solidFill>
        </p:spPr>
      </p:sp>
      <p:sp>
        <p:nvSpPr>
          <p:cNvPr name="TextBox 21" id="21"/>
          <p:cNvSpPr txBox="true"/>
          <p:nvPr/>
        </p:nvSpPr>
        <p:spPr>
          <a:xfrm rot="0">
            <a:off x="10751153" y="1645158"/>
            <a:ext cx="135474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F1@50</a:t>
            </a:r>
          </a:p>
        </p:txBody>
      </p:sp>
      <p:sp>
        <p:nvSpPr>
          <p:cNvPr name="AutoShape 22" id="22"/>
          <p:cNvSpPr/>
          <p:nvPr/>
        </p:nvSpPr>
        <p:spPr>
          <a:xfrm rot="0">
            <a:off x="12105989" y="1921383"/>
            <a:ext cx="2333911" cy="19050"/>
          </a:xfrm>
          <a:prstGeom prst="rect">
            <a:avLst/>
          </a:prstGeom>
          <a:solidFill>
            <a:srgbClr val="AEBDBB"/>
          </a:solidFill>
        </p:spPr>
      </p:sp>
      <p:sp>
        <p:nvSpPr>
          <p:cNvPr name="TextBox 23" id="23"/>
          <p:cNvSpPr txBox="true"/>
          <p:nvPr/>
        </p:nvSpPr>
        <p:spPr>
          <a:xfrm rot="0">
            <a:off x="12105989" y="1645158"/>
            <a:ext cx="233391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Mean seg. F1</a:t>
            </a:r>
          </a:p>
        </p:txBody>
      </p:sp>
      <p:sp>
        <p:nvSpPr>
          <p:cNvPr name="AutoShape 24" id="24"/>
          <p:cNvSpPr/>
          <p:nvPr/>
        </p:nvSpPr>
        <p:spPr>
          <a:xfrm rot="0">
            <a:off x="800100" y="2183320"/>
            <a:ext cx="2049208" cy="9525"/>
          </a:xfrm>
          <a:prstGeom prst="rect">
            <a:avLst/>
          </a:prstGeom>
          <a:solidFill>
            <a:srgbClr val="D8DFDD"/>
          </a:solidFill>
        </p:spPr>
      </p:sp>
      <p:sp>
        <p:nvSpPr>
          <p:cNvPr name="TextBox 25" id="25"/>
          <p:cNvSpPr txBox="true"/>
          <p:nvPr/>
        </p:nvSpPr>
        <p:spPr>
          <a:xfrm rot="0">
            <a:off x="800100" y="1911858"/>
            <a:ext cx="204920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26" id="26"/>
          <p:cNvSpPr/>
          <p:nvPr/>
        </p:nvSpPr>
        <p:spPr>
          <a:xfrm rot="0">
            <a:off x="2849308" y="2183320"/>
            <a:ext cx="2977801" cy="9525"/>
          </a:xfrm>
          <a:prstGeom prst="rect">
            <a:avLst/>
          </a:prstGeom>
          <a:solidFill>
            <a:srgbClr val="D8DFDD"/>
          </a:solidFill>
        </p:spPr>
      </p:sp>
      <p:sp>
        <p:nvSpPr>
          <p:cNvPr name="TextBox 27" id="27"/>
          <p:cNvSpPr txBox="true"/>
          <p:nvPr/>
        </p:nvSpPr>
        <p:spPr>
          <a:xfrm rot="0">
            <a:off x="2849308" y="1911858"/>
            <a:ext cx="2977801"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28" id="28"/>
          <p:cNvSpPr/>
          <p:nvPr/>
        </p:nvSpPr>
        <p:spPr>
          <a:xfrm rot="0">
            <a:off x="5827109" y="2183320"/>
            <a:ext cx="1017080" cy="9525"/>
          </a:xfrm>
          <a:prstGeom prst="rect">
            <a:avLst/>
          </a:prstGeom>
          <a:solidFill>
            <a:srgbClr val="D8DFDD"/>
          </a:solidFill>
        </p:spPr>
      </p:sp>
      <p:sp>
        <p:nvSpPr>
          <p:cNvPr name="TextBox 29" id="29"/>
          <p:cNvSpPr txBox="true"/>
          <p:nvPr/>
        </p:nvSpPr>
        <p:spPr>
          <a:xfrm rot="0">
            <a:off x="5827109" y="1911858"/>
            <a:ext cx="101708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0" id="30"/>
          <p:cNvSpPr/>
          <p:nvPr/>
        </p:nvSpPr>
        <p:spPr>
          <a:xfrm rot="0">
            <a:off x="6844189" y="2183320"/>
            <a:ext cx="1197483" cy="9525"/>
          </a:xfrm>
          <a:prstGeom prst="rect">
            <a:avLst/>
          </a:prstGeom>
          <a:solidFill>
            <a:srgbClr val="D8DFDD"/>
          </a:solidFill>
        </p:spPr>
      </p:sp>
      <p:sp>
        <p:nvSpPr>
          <p:cNvPr name="TextBox 31" id="31"/>
          <p:cNvSpPr txBox="true"/>
          <p:nvPr/>
        </p:nvSpPr>
        <p:spPr>
          <a:xfrm rot="0">
            <a:off x="6844189" y="1911858"/>
            <a:ext cx="1197483"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65.06</a:t>
            </a:r>
          </a:p>
        </p:txBody>
      </p:sp>
      <p:sp>
        <p:nvSpPr>
          <p:cNvPr name="AutoShape 32" id="32"/>
          <p:cNvSpPr/>
          <p:nvPr/>
        </p:nvSpPr>
        <p:spPr>
          <a:xfrm rot="0">
            <a:off x="8041672" y="2183320"/>
            <a:ext cx="1354741" cy="9525"/>
          </a:xfrm>
          <a:prstGeom prst="rect">
            <a:avLst/>
          </a:prstGeom>
          <a:solidFill>
            <a:srgbClr val="D8DFDD"/>
          </a:solidFill>
        </p:spPr>
      </p:sp>
      <p:sp>
        <p:nvSpPr>
          <p:cNvPr name="TextBox 33" id="33"/>
          <p:cNvSpPr txBox="true"/>
          <p:nvPr/>
        </p:nvSpPr>
        <p:spPr>
          <a:xfrm rot="0">
            <a:off x="8041672" y="191185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72.99</a:t>
            </a:r>
          </a:p>
        </p:txBody>
      </p:sp>
      <p:sp>
        <p:nvSpPr>
          <p:cNvPr name="AutoShape 34" id="34"/>
          <p:cNvSpPr/>
          <p:nvPr/>
        </p:nvSpPr>
        <p:spPr>
          <a:xfrm rot="0">
            <a:off x="9396412" y="2183320"/>
            <a:ext cx="1354741" cy="9525"/>
          </a:xfrm>
          <a:prstGeom prst="rect">
            <a:avLst/>
          </a:prstGeom>
          <a:solidFill>
            <a:srgbClr val="D8DFDD"/>
          </a:solidFill>
        </p:spPr>
      </p:sp>
      <p:sp>
        <p:nvSpPr>
          <p:cNvPr name="TextBox 35" id="35"/>
          <p:cNvSpPr txBox="true"/>
          <p:nvPr/>
        </p:nvSpPr>
        <p:spPr>
          <a:xfrm rot="0">
            <a:off x="9396412" y="191185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71.55</a:t>
            </a:r>
          </a:p>
        </p:txBody>
      </p:sp>
      <p:sp>
        <p:nvSpPr>
          <p:cNvPr name="AutoShape 36" id="36"/>
          <p:cNvSpPr/>
          <p:nvPr/>
        </p:nvSpPr>
        <p:spPr>
          <a:xfrm rot="0">
            <a:off x="10751153" y="2183320"/>
            <a:ext cx="1354741" cy="9525"/>
          </a:xfrm>
          <a:prstGeom prst="rect">
            <a:avLst/>
          </a:prstGeom>
          <a:solidFill>
            <a:srgbClr val="D8DFDD"/>
          </a:solidFill>
        </p:spPr>
      </p:sp>
      <p:sp>
        <p:nvSpPr>
          <p:cNvPr name="TextBox 37" id="37"/>
          <p:cNvSpPr txBox="true"/>
          <p:nvPr/>
        </p:nvSpPr>
        <p:spPr>
          <a:xfrm rot="0">
            <a:off x="10751153" y="191185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62.64</a:t>
            </a:r>
          </a:p>
        </p:txBody>
      </p:sp>
      <p:sp>
        <p:nvSpPr>
          <p:cNvPr name="AutoShape 38" id="38"/>
          <p:cNvSpPr/>
          <p:nvPr/>
        </p:nvSpPr>
        <p:spPr>
          <a:xfrm rot="0">
            <a:off x="12105989" y="2183320"/>
            <a:ext cx="2333911" cy="9525"/>
          </a:xfrm>
          <a:prstGeom prst="rect">
            <a:avLst/>
          </a:prstGeom>
          <a:solidFill>
            <a:srgbClr val="D8DFDD"/>
          </a:solidFill>
        </p:spPr>
      </p:sp>
      <p:sp>
        <p:nvSpPr>
          <p:cNvPr name="TextBox 39" id="39"/>
          <p:cNvSpPr txBox="true"/>
          <p:nvPr/>
        </p:nvSpPr>
        <p:spPr>
          <a:xfrm rot="0">
            <a:off x="12105989" y="1911858"/>
            <a:ext cx="233391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69.06</a:t>
            </a:r>
          </a:p>
        </p:txBody>
      </p:sp>
      <p:sp>
        <p:nvSpPr>
          <p:cNvPr name="AutoShape 40" id="40"/>
          <p:cNvSpPr/>
          <p:nvPr/>
        </p:nvSpPr>
        <p:spPr>
          <a:xfrm rot="0">
            <a:off x="800100" y="2430970"/>
            <a:ext cx="2049208" cy="9525"/>
          </a:xfrm>
          <a:prstGeom prst="rect">
            <a:avLst/>
          </a:prstGeom>
          <a:solidFill>
            <a:srgbClr val="D8DFDD"/>
          </a:solidFill>
        </p:spPr>
      </p:sp>
      <p:sp>
        <p:nvSpPr>
          <p:cNvPr name="TextBox 41" id="41"/>
          <p:cNvSpPr txBox="true"/>
          <p:nvPr/>
        </p:nvSpPr>
        <p:spPr>
          <a:xfrm rot="0">
            <a:off x="800100" y="21642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42" id="42"/>
          <p:cNvSpPr/>
          <p:nvPr/>
        </p:nvSpPr>
        <p:spPr>
          <a:xfrm rot="0">
            <a:off x="2849308" y="2430970"/>
            <a:ext cx="2977801" cy="9525"/>
          </a:xfrm>
          <a:prstGeom prst="rect">
            <a:avLst/>
          </a:prstGeom>
          <a:solidFill>
            <a:srgbClr val="D8DFDD"/>
          </a:solidFill>
        </p:spPr>
      </p:sp>
      <p:sp>
        <p:nvSpPr>
          <p:cNvPr name="TextBox 43" id="43"/>
          <p:cNvSpPr txBox="true"/>
          <p:nvPr/>
        </p:nvSpPr>
        <p:spPr>
          <a:xfrm rot="0">
            <a:off x="2849308" y="21642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44" id="44"/>
          <p:cNvSpPr/>
          <p:nvPr/>
        </p:nvSpPr>
        <p:spPr>
          <a:xfrm rot="0">
            <a:off x="5827109" y="2430970"/>
            <a:ext cx="1017080" cy="9525"/>
          </a:xfrm>
          <a:prstGeom prst="rect">
            <a:avLst/>
          </a:prstGeom>
          <a:solidFill>
            <a:srgbClr val="D8DFDD"/>
          </a:solidFill>
        </p:spPr>
      </p:sp>
      <p:sp>
        <p:nvSpPr>
          <p:cNvPr name="TextBox 45" id="45"/>
          <p:cNvSpPr txBox="true"/>
          <p:nvPr/>
        </p:nvSpPr>
        <p:spPr>
          <a:xfrm rot="0">
            <a:off x="5827109" y="21642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46" id="46"/>
          <p:cNvSpPr/>
          <p:nvPr/>
        </p:nvSpPr>
        <p:spPr>
          <a:xfrm rot="0">
            <a:off x="6844189" y="2430970"/>
            <a:ext cx="1197483" cy="9525"/>
          </a:xfrm>
          <a:prstGeom prst="rect">
            <a:avLst/>
          </a:prstGeom>
          <a:solidFill>
            <a:srgbClr val="D8DFDD"/>
          </a:solidFill>
        </p:spPr>
      </p:sp>
      <p:sp>
        <p:nvSpPr>
          <p:cNvPr name="TextBox 47" id="47"/>
          <p:cNvSpPr txBox="true"/>
          <p:nvPr/>
        </p:nvSpPr>
        <p:spPr>
          <a:xfrm rot="0">
            <a:off x="6844189" y="21642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79.09</a:t>
            </a:r>
          </a:p>
        </p:txBody>
      </p:sp>
      <p:sp>
        <p:nvSpPr>
          <p:cNvPr name="AutoShape 48" id="48"/>
          <p:cNvSpPr/>
          <p:nvPr/>
        </p:nvSpPr>
        <p:spPr>
          <a:xfrm rot="0">
            <a:off x="8041672" y="2430970"/>
            <a:ext cx="1354741" cy="9525"/>
          </a:xfrm>
          <a:prstGeom prst="rect">
            <a:avLst/>
          </a:prstGeom>
          <a:solidFill>
            <a:srgbClr val="D8DFDD"/>
          </a:solidFill>
        </p:spPr>
      </p:sp>
      <p:sp>
        <p:nvSpPr>
          <p:cNvPr name="TextBox 49" id="49"/>
          <p:cNvSpPr txBox="true"/>
          <p:nvPr/>
        </p:nvSpPr>
        <p:spPr>
          <a:xfrm rot="0">
            <a:off x="8041672" y="21642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83.62</a:t>
            </a:r>
          </a:p>
        </p:txBody>
      </p:sp>
      <p:sp>
        <p:nvSpPr>
          <p:cNvPr name="AutoShape 50" id="50"/>
          <p:cNvSpPr/>
          <p:nvPr/>
        </p:nvSpPr>
        <p:spPr>
          <a:xfrm rot="0">
            <a:off x="9396412" y="2430970"/>
            <a:ext cx="1354741" cy="9525"/>
          </a:xfrm>
          <a:prstGeom prst="rect">
            <a:avLst/>
          </a:prstGeom>
          <a:solidFill>
            <a:srgbClr val="D8DFDD"/>
          </a:solidFill>
        </p:spPr>
      </p:sp>
      <p:sp>
        <p:nvSpPr>
          <p:cNvPr name="TextBox 51" id="51"/>
          <p:cNvSpPr txBox="true"/>
          <p:nvPr/>
        </p:nvSpPr>
        <p:spPr>
          <a:xfrm rot="0">
            <a:off x="9396412" y="21642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79.25</a:t>
            </a:r>
          </a:p>
        </p:txBody>
      </p:sp>
      <p:sp>
        <p:nvSpPr>
          <p:cNvPr name="AutoShape 52" id="52"/>
          <p:cNvSpPr/>
          <p:nvPr/>
        </p:nvSpPr>
        <p:spPr>
          <a:xfrm rot="0">
            <a:off x="10751153" y="2430970"/>
            <a:ext cx="1354741" cy="9525"/>
          </a:xfrm>
          <a:prstGeom prst="rect">
            <a:avLst/>
          </a:prstGeom>
          <a:solidFill>
            <a:srgbClr val="D8DFDD"/>
          </a:solidFill>
        </p:spPr>
      </p:sp>
      <p:sp>
        <p:nvSpPr>
          <p:cNvPr name="TextBox 53" id="53"/>
          <p:cNvSpPr txBox="true"/>
          <p:nvPr/>
        </p:nvSpPr>
        <p:spPr>
          <a:xfrm rot="0">
            <a:off x="10751153" y="21642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67.39</a:t>
            </a:r>
          </a:p>
        </p:txBody>
      </p:sp>
      <p:sp>
        <p:nvSpPr>
          <p:cNvPr name="AutoShape 54" id="54"/>
          <p:cNvSpPr/>
          <p:nvPr/>
        </p:nvSpPr>
        <p:spPr>
          <a:xfrm rot="0">
            <a:off x="12105989" y="2430970"/>
            <a:ext cx="2333911" cy="9525"/>
          </a:xfrm>
          <a:prstGeom prst="rect">
            <a:avLst/>
          </a:prstGeom>
          <a:solidFill>
            <a:srgbClr val="D8DFDD"/>
          </a:solidFill>
        </p:spPr>
      </p:sp>
      <p:sp>
        <p:nvSpPr>
          <p:cNvPr name="TextBox 55" id="55"/>
          <p:cNvSpPr txBox="true"/>
          <p:nvPr/>
        </p:nvSpPr>
        <p:spPr>
          <a:xfrm rot="0">
            <a:off x="12105989" y="21642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76.76</a:t>
            </a:r>
          </a:p>
        </p:txBody>
      </p:sp>
      <p:sp>
        <p:nvSpPr>
          <p:cNvPr name="AutoShape 56" id="56"/>
          <p:cNvSpPr/>
          <p:nvPr/>
        </p:nvSpPr>
        <p:spPr>
          <a:xfrm rot="0">
            <a:off x="800100" y="2678621"/>
            <a:ext cx="2049208" cy="9525"/>
          </a:xfrm>
          <a:prstGeom prst="rect">
            <a:avLst/>
          </a:prstGeom>
          <a:solidFill>
            <a:srgbClr val="D8DFDD"/>
          </a:solidFill>
        </p:spPr>
      </p:sp>
      <p:sp>
        <p:nvSpPr>
          <p:cNvPr name="TextBox 57" id="57"/>
          <p:cNvSpPr txBox="true"/>
          <p:nvPr/>
        </p:nvSpPr>
        <p:spPr>
          <a:xfrm rot="0">
            <a:off x="800100" y="241192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58" id="58"/>
          <p:cNvSpPr/>
          <p:nvPr/>
        </p:nvSpPr>
        <p:spPr>
          <a:xfrm rot="0">
            <a:off x="2849308" y="2678621"/>
            <a:ext cx="2977801" cy="9525"/>
          </a:xfrm>
          <a:prstGeom prst="rect">
            <a:avLst/>
          </a:prstGeom>
          <a:solidFill>
            <a:srgbClr val="D8DFDD"/>
          </a:solidFill>
        </p:spPr>
      </p:sp>
      <p:sp>
        <p:nvSpPr>
          <p:cNvPr name="TextBox 59" id="59"/>
          <p:cNvSpPr txBox="true"/>
          <p:nvPr/>
        </p:nvSpPr>
        <p:spPr>
          <a:xfrm rot="0">
            <a:off x="2849308" y="241192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60" id="60"/>
          <p:cNvSpPr/>
          <p:nvPr/>
        </p:nvSpPr>
        <p:spPr>
          <a:xfrm rot="0">
            <a:off x="5827109" y="2678621"/>
            <a:ext cx="1017080" cy="9525"/>
          </a:xfrm>
          <a:prstGeom prst="rect">
            <a:avLst/>
          </a:prstGeom>
          <a:solidFill>
            <a:srgbClr val="D8DFDD"/>
          </a:solidFill>
        </p:spPr>
      </p:sp>
      <p:sp>
        <p:nvSpPr>
          <p:cNvPr name="TextBox 61" id="61"/>
          <p:cNvSpPr txBox="true"/>
          <p:nvPr/>
        </p:nvSpPr>
        <p:spPr>
          <a:xfrm rot="0">
            <a:off x="5827109" y="241192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62" id="62"/>
          <p:cNvSpPr/>
          <p:nvPr/>
        </p:nvSpPr>
        <p:spPr>
          <a:xfrm rot="0">
            <a:off x="6844189" y="2678621"/>
            <a:ext cx="1197483" cy="9525"/>
          </a:xfrm>
          <a:prstGeom prst="rect">
            <a:avLst/>
          </a:prstGeom>
          <a:solidFill>
            <a:srgbClr val="D8DFDD"/>
          </a:solidFill>
        </p:spPr>
      </p:sp>
      <p:sp>
        <p:nvSpPr>
          <p:cNvPr name="TextBox 63" id="63"/>
          <p:cNvSpPr txBox="true"/>
          <p:nvPr/>
        </p:nvSpPr>
        <p:spPr>
          <a:xfrm rot="0">
            <a:off x="6844189" y="241192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85.71</a:t>
            </a:r>
          </a:p>
        </p:txBody>
      </p:sp>
      <p:sp>
        <p:nvSpPr>
          <p:cNvPr name="AutoShape 64" id="64"/>
          <p:cNvSpPr/>
          <p:nvPr/>
        </p:nvSpPr>
        <p:spPr>
          <a:xfrm rot="0">
            <a:off x="8041672" y="2678621"/>
            <a:ext cx="1354741" cy="9525"/>
          </a:xfrm>
          <a:prstGeom prst="rect">
            <a:avLst/>
          </a:prstGeom>
          <a:solidFill>
            <a:srgbClr val="D8DFDD"/>
          </a:solidFill>
        </p:spPr>
      </p:sp>
      <p:sp>
        <p:nvSpPr>
          <p:cNvPr name="TextBox 65" id="65"/>
          <p:cNvSpPr txBox="true"/>
          <p:nvPr/>
        </p:nvSpPr>
        <p:spPr>
          <a:xfrm rot="0">
            <a:off x="8041672" y="24119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89.67</a:t>
            </a:r>
          </a:p>
        </p:txBody>
      </p:sp>
      <p:sp>
        <p:nvSpPr>
          <p:cNvPr name="AutoShape 66" id="66"/>
          <p:cNvSpPr/>
          <p:nvPr/>
        </p:nvSpPr>
        <p:spPr>
          <a:xfrm rot="0">
            <a:off x="9396412" y="2678621"/>
            <a:ext cx="1354741" cy="9525"/>
          </a:xfrm>
          <a:prstGeom prst="rect">
            <a:avLst/>
          </a:prstGeom>
          <a:solidFill>
            <a:srgbClr val="D8DFDD"/>
          </a:solidFill>
        </p:spPr>
      </p:sp>
      <p:sp>
        <p:nvSpPr>
          <p:cNvPr name="TextBox 67" id="67"/>
          <p:cNvSpPr txBox="true"/>
          <p:nvPr/>
        </p:nvSpPr>
        <p:spPr>
          <a:xfrm rot="0">
            <a:off x="9396412" y="24119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87.67</a:t>
            </a:r>
          </a:p>
        </p:txBody>
      </p:sp>
      <p:sp>
        <p:nvSpPr>
          <p:cNvPr name="AutoShape 68" id="68"/>
          <p:cNvSpPr/>
          <p:nvPr/>
        </p:nvSpPr>
        <p:spPr>
          <a:xfrm rot="0">
            <a:off x="10751153" y="2678621"/>
            <a:ext cx="1354741" cy="9525"/>
          </a:xfrm>
          <a:prstGeom prst="rect">
            <a:avLst/>
          </a:prstGeom>
          <a:solidFill>
            <a:srgbClr val="D8DFDD"/>
          </a:solidFill>
        </p:spPr>
      </p:sp>
      <p:sp>
        <p:nvSpPr>
          <p:cNvPr name="TextBox 69" id="69"/>
          <p:cNvSpPr txBox="true"/>
          <p:nvPr/>
        </p:nvSpPr>
        <p:spPr>
          <a:xfrm rot="0">
            <a:off x="10751153" y="24119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79.67</a:t>
            </a:r>
          </a:p>
        </p:txBody>
      </p:sp>
      <p:sp>
        <p:nvSpPr>
          <p:cNvPr name="AutoShape 70" id="70"/>
          <p:cNvSpPr/>
          <p:nvPr/>
        </p:nvSpPr>
        <p:spPr>
          <a:xfrm rot="0">
            <a:off x="12105989" y="2678621"/>
            <a:ext cx="2333911" cy="9525"/>
          </a:xfrm>
          <a:prstGeom prst="rect">
            <a:avLst/>
          </a:prstGeom>
          <a:solidFill>
            <a:srgbClr val="D8DFDD"/>
          </a:solidFill>
        </p:spPr>
      </p:sp>
      <p:sp>
        <p:nvSpPr>
          <p:cNvPr name="TextBox 71" id="71"/>
          <p:cNvSpPr txBox="true"/>
          <p:nvPr/>
        </p:nvSpPr>
        <p:spPr>
          <a:xfrm rot="0">
            <a:off x="12105989" y="241192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85.67</a:t>
            </a:r>
          </a:p>
        </p:txBody>
      </p:sp>
      <p:sp>
        <p:nvSpPr>
          <p:cNvPr name="AutoShape 72" id="72"/>
          <p:cNvSpPr/>
          <p:nvPr/>
        </p:nvSpPr>
        <p:spPr>
          <a:xfrm rot="0">
            <a:off x="800100" y="2926271"/>
            <a:ext cx="2049208" cy="9525"/>
          </a:xfrm>
          <a:prstGeom prst="rect">
            <a:avLst/>
          </a:prstGeom>
          <a:solidFill>
            <a:srgbClr val="D8DFDD"/>
          </a:solidFill>
        </p:spPr>
      </p:sp>
      <p:sp>
        <p:nvSpPr>
          <p:cNvPr name="TextBox 73" id="73"/>
          <p:cNvSpPr txBox="true"/>
          <p:nvPr/>
        </p:nvSpPr>
        <p:spPr>
          <a:xfrm rot="0">
            <a:off x="800100" y="26595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74" id="74"/>
          <p:cNvSpPr/>
          <p:nvPr/>
        </p:nvSpPr>
        <p:spPr>
          <a:xfrm rot="0">
            <a:off x="2849308" y="2926271"/>
            <a:ext cx="2977801" cy="9525"/>
          </a:xfrm>
          <a:prstGeom prst="rect">
            <a:avLst/>
          </a:prstGeom>
          <a:solidFill>
            <a:srgbClr val="D8DFDD"/>
          </a:solidFill>
        </p:spPr>
      </p:sp>
      <p:sp>
        <p:nvSpPr>
          <p:cNvPr name="TextBox 75" id="75"/>
          <p:cNvSpPr txBox="true"/>
          <p:nvPr/>
        </p:nvSpPr>
        <p:spPr>
          <a:xfrm rot="0">
            <a:off x="2849308" y="26595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76" id="76"/>
          <p:cNvSpPr/>
          <p:nvPr/>
        </p:nvSpPr>
        <p:spPr>
          <a:xfrm rot="0">
            <a:off x="5827109" y="2926271"/>
            <a:ext cx="1017080" cy="9525"/>
          </a:xfrm>
          <a:prstGeom prst="rect">
            <a:avLst/>
          </a:prstGeom>
          <a:solidFill>
            <a:srgbClr val="D8DFDD"/>
          </a:solidFill>
        </p:spPr>
      </p:sp>
      <p:sp>
        <p:nvSpPr>
          <p:cNvPr name="TextBox 77" id="77"/>
          <p:cNvSpPr txBox="true"/>
          <p:nvPr/>
        </p:nvSpPr>
        <p:spPr>
          <a:xfrm rot="0">
            <a:off x="5827109" y="26595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78" id="78"/>
          <p:cNvSpPr/>
          <p:nvPr/>
        </p:nvSpPr>
        <p:spPr>
          <a:xfrm rot="0">
            <a:off x="6844189" y="2926271"/>
            <a:ext cx="1197483" cy="9525"/>
          </a:xfrm>
          <a:prstGeom prst="rect">
            <a:avLst/>
          </a:prstGeom>
          <a:solidFill>
            <a:srgbClr val="D8DFDD"/>
          </a:solidFill>
        </p:spPr>
      </p:sp>
      <p:sp>
        <p:nvSpPr>
          <p:cNvPr name="TextBox 79" id="79"/>
          <p:cNvSpPr txBox="true"/>
          <p:nvPr/>
        </p:nvSpPr>
        <p:spPr>
          <a:xfrm rot="0">
            <a:off x="6844189" y="26595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44.63</a:t>
            </a:r>
          </a:p>
        </p:txBody>
      </p:sp>
      <p:sp>
        <p:nvSpPr>
          <p:cNvPr name="AutoShape 80" id="80"/>
          <p:cNvSpPr/>
          <p:nvPr/>
        </p:nvSpPr>
        <p:spPr>
          <a:xfrm rot="0">
            <a:off x="8041672" y="2926271"/>
            <a:ext cx="1354741" cy="9525"/>
          </a:xfrm>
          <a:prstGeom prst="rect">
            <a:avLst/>
          </a:prstGeom>
          <a:solidFill>
            <a:srgbClr val="D8DFDD"/>
          </a:solidFill>
        </p:spPr>
      </p:sp>
      <p:sp>
        <p:nvSpPr>
          <p:cNvPr name="TextBox 81" id="81"/>
          <p:cNvSpPr txBox="true"/>
          <p:nvPr/>
        </p:nvSpPr>
        <p:spPr>
          <a:xfrm rot="0">
            <a:off x="8041672" y="26595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52.49</a:t>
            </a:r>
          </a:p>
        </p:txBody>
      </p:sp>
      <p:sp>
        <p:nvSpPr>
          <p:cNvPr name="AutoShape 82" id="82"/>
          <p:cNvSpPr/>
          <p:nvPr/>
        </p:nvSpPr>
        <p:spPr>
          <a:xfrm rot="0">
            <a:off x="9396412" y="2926271"/>
            <a:ext cx="1354741" cy="9525"/>
          </a:xfrm>
          <a:prstGeom prst="rect">
            <a:avLst/>
          </a:prstGeom>
          <a:solidFill>
            <a:srgbClr val="D8DFDD"/>
          </a:solidFill>
        </p:spPr>
      </p:sp>
      <p:sp>
        <p:nvSpPr>
          <p:cNvPr name="TextBox 83" id="83"/>
          <p:cNvSpPr txBox="true"/>
          <p:nvPr/>
        </p:nvSpPr>
        <p:spPr>
          <a:xfrm rot="0">
            <a:off x="9396412" y="26595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47.41</a:t>
            </a:r>
          </a:p>
        </p:txBody>
      </p:sp>
      <p:sp>
        <p:nvSpPr>
          <p:cNvPr name="AutoShape 84" id="84"/>
          <p:cNvSpPr/>
          <p:nvPr/>
        </p:nvSpPr>
        <p:spPr>
          <a:xfrm rot="0">
            <a:off x="10751153" y="2926271"/>
            <a:ext cx="1354741" cy="9525"/>
          </a:xfrm>
          <a:prstGeom prst="rect">
            <a:avLst/>
          </a:prstGeom>
          <a:solidFill>
            <a:srgbClr val="D8DFDD"/>
          </a:solidFill>
        </p:spPr>
      </p:sp>
      <p:sp>
        <p:nvSpPr>
          <p:cNvPr name="TextBox 85" id="85"/>
          <p:cNvSpPr txBox="true"/>
          <p:nvPr/>
        </p:nvSpPr>
        <p:spPr>
          <a:xfrm rot="0">
            <a:off x="10751153" y="26595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38.73</a:t>
            </a:r>
          </a:p>
        </p:txBody>
      </p:sp>
      <p:sp>
        <p:nvSpPr>
          <p:cNvPr name="AutoShape 86" id="86"/>
          <p:cNvSpPr/>
          <p:nvPr/>
        </p:nvSpPr>
        <p:spPr>
          <a:xfrm rot="0">
            <a:off x="12105989" y="2926271"/>
            <a:ext cx="2333911" cy="9525"/>
          </a:xfrm>
          <a:prstGeom prst="rect">
            <a:avLst/>
          </a:prstGeom>
          <a:solidFill>
            <a:srgbClr val="D8DFDD"/>
          </a:solidFill>
        </p:spPr>
      </p:sp>
      <p:sp>
        <p:nvSpPr>
          <p:cNvPr name="TextBox 87" id="87"/>
          <p:cNvSpPr txBox="true"/>
          <p:nvPr/>
        </p:nvSpPr>
        <p:spPr>
          <a:xfrm rot="0">
            <a:off x="12105989" y="26595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46.21</a:t>
            </a:r>
          </a:p>
        </p:txBody>
      </p:sp>
      <p:sp>
        <p:nvSpPr>
          <p:cNvPr name="AutoShape 88" id="88"/>
          <p:cNvSpPr/>
          <p:nvPr/>
        </p:nvSpPr>
        <p:spPr>
          <a:xfrm rot="0">
            <a:off x="800100" y="3173921"/>
            <a:ext cx="2049208" cy="9525"/>
          </a:xfrm>
          <a:prstGeom prst="rect">
            <a:avLst/>
          </a:prstGeom>
          <a:solidFill>
            <a:srgbClr val="D8DFDD"/>
          </a:solidFill>
        </p:spPr>
      </p:sp>
      <p:sp>
        <p:nvSpPr>
          <p:cNvPr name="TextBox 89" id="89"/>
          <p:cNvSpPr txBox="true"/>
          <p:nvPr/>
        </p:nvSpPr>
        <p:spPr>
          <a:xfrm rot="0">
            <a:off x="800100" y="290722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90" id="90"/>
          <p:cNvSpPr/>
          <p:nvPr/>
        </p:nvSpPr>
        <p:spPr>
          <a:xfrm rot="0">
            <a:off x="2849308" y="3173921"/>
            <a:ext cx="2977801" cy="9525"/>
          </a:xfrm>
          <a:prstGeom prst="rect">
            <a:avLst/>
          </a:prstGeom>
          <a:solidFill>
            <a:srgbClr val="D8DFDD"/>
          </a:solidFill>
        </p:spPr>
      </p:sp>
      <p:sp>
        <p:nvSpPr>
          <p:cNvPr name="TextBox 91" id="91"/>
          <p:cNvSpPr txBox="true"/>
          <p:nvPr/>
        </p:nvSpPr>
        <p:spPr>
          <a:xfrm rot="0">
            <a:off x="2849308" y="290722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92" id="92"/>
          <p:cNvSpPr/>
          <p:nvPr/>
        </p:nvSpPr>
        <p:spPr>
          <a:xfrm rot="0">
            <a:off x="5827109" y="3173921"/>
            <a:ext cx="1017080" cy="9525"/>
          </a:xfrm>
          <a:prstGeom prst="rect">
            <a:avLst/>
          </a:prstGeom>
          <a:solidFill>
            <a:srgbClr val="D8DFDD"/>
          </a:solidFill>
        </p:spPr>
      </p:sp>
      <p:sp>
        <p:nvSpPr>
          <p:cNvPr name="TextBox 93" id="93"/>
          <p:cNvSpPr txBox="true"/>
          <p:nvPr/>
        </p:nvSpPr>
        <p:spPr>
          <a:xfrm rot="0">
            <a:off x="5827109" y="290722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grpSp>
        <p:nvGrpSpPr>
          <p:cNvPr name="Group 94" id="94"/>
          <p:cNvGrpSpPr/>
          <p:nvPr/>
        </p:nvGrpSpPr>
        <p:grpSpPr>
          <a:xfrm rot="0">
            <a:off x="6844189" y="2935796"/>
            <a:ext cx="1197483" cy="247650"/>
            <a:chOff x="0" y="0"/>
            <a:chExt cx="1596644" cy="330200"/>
          </a:xfrm>
        </p:grpSpPr>
        <p:sp>
          <p:nvSpPr>
            <p:cNvPr name="Freeform 95" id="95"/>
            <p:cNvSpPr/>
            <p:nvPr/>
          </p:nvSpPr>
          <p:spPr>
            <a:xfrm flipH="false" flipV="false" rot="0">
              <a:off x="0" y="0"/>
              <a:ext cx="1596644" cy="330200"/>
            </a:xfrm>
            <a:custGeom>
              <a:avLst/>
              <a:gdLst/>
              <a:ahLst/>
              <a:cxnLst/>
              <a:rect r="r" b="b" t="t" l="l"/>
              <a:pathLst>
                <a:path h="330200" w="1596644">
                  <a:moveTo>
                    <a:pt x="0" y="0"/>
                  </a:moveTo>
                  <a:lnTo>
                    <a:pt x="1596644" y="0"/>
                  </a:lnTo>
                  <a:lnTo>
                    <a:pt x="1596644" y="330200"/>
                  </a:lnTo>
                  <a:lnTo>
                    <a:pt x="0" y="330200"/>
                  </a:lnTo>
                  <a:lnTo>
                    <a:pt x="0" y="0"/>
                  </a:lnTo>
                  <a:close/>
                </a:path>
              </a:pathLst>
            </a:custGeom>
            <a:solidFill>
              <a:srgbClr val="2DD4BF">
                <a:alpha val="1176"/>
              </a:srgbClr>
            </a:solidFill>
          </p:spPr>
        </p:sp>
        <p:sp>
          <p:nvSpPr>
            <p:cNvPr name="TextBox 96" id="96"/>
            <p:cNvSpPr txBox="true"/>
            <p:nvPr/>
          </p:nvSpPr>
          <p:spPr>
            <a:xfrm>
              <a:off x="0" y="-28575"/>
              <a:ext cx="1596644"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86.69</a:t>
              </a:r>
            </a:p>
          </p:txBody>
        </p:sp>
      </p:grpSp>
      <p:sp>
        <p:nvSpPr>
          <p:cNvPr name="AutoShape 97" id="97"/>
          <p:cNvSpPr/>
          <p:nvPr/>
        </p:nvSpPr>
        <p:spPr>
          <a:xfrm rot="0">
            <a:off x="6844189" y="3173921"/>
            <a:ext cx="1197483" cy="9525"/>
          </a:xfrm>
          <a:prstGeom prst="rect">
            <a:avLst/>
          </a:prstGeom>
          <a:solidFill>
            <a:srgbClr val="D8DFDD"/>
          </a:solidFill>
        </p:spPr>
      </p:sp>
      <p:grpSp>
        <p:nvGrpSpPr>
          <p:cNvPr name="Group 98" id="98"/>
          <p:cNvGrpSpPr/>
          <p:nvPr/>
        </p:nvGrpSpPr>
        <p:grpSpPr>
          <a:xfrm rot="0">
            <a:off x="8041672" y="2935796"/>
            <a:ext cx="1354741" cy="247650"/>
            <a:chOff x="0" y="0"/>
            <a:chExt cx="1806321" cy="330200"/>
          </a:xfrm>
        </p:grpSpPr>
        <p:sp>
          <p:nvSpPr>
            <p:cNvPr name="Freeform 99" id="99"/>
            <p:cNvSpPr/>
            <p:nvPr/>
          </p:nvSpPr>
          <p:spPr>
            <a:xfrm flipH="false" flipV="false" rot="0">
              <a:off x="0" y="0"/>
              <a:ext cx="1806321" cy="330200"/>
            </a:xfrm>
            <a:custGeom>
              <a:avLst/>
              <a:gdLst/>
              <a:ahLst/>
              <a:cxnLst/>
              <a:rect r="r" b="b" t="t" l="l"/>
              <a:pathLst>
                <a:path h="330200" w="1806321">
                  <a:moveTo>
                    <a:pt x="0" y="0"/>
                  </a:moveTo>
                  <a:lnTo>
                    <a:pt x="1806321" y="0"/>
                  </a:lnTo>
                  <a:lnTo>
                    <a:pt x="1806321" y="330200"/>
                  </a:lnTo>
                  <a:lnTo>
                    <a:pt x="0" y="330200"/>
                  </a:lnTo>
                  <a:lnTo>
                    <a:pt x="0" y="0"/>
                  </a:lnTo>
                  <a:close/>
                </a:path>
              </a:pathLst>
            </a:custGeom>
            <a:solidFill>
              <a:srgbClr val="2DD4BF">
                <a:alpha val="1176"/>
              </a:srgbClr>
            </a:solidFill>
          </p:spPr>
        </p:sp>
        <p:sp>
          <p:nvSpPr>
            <p:cNvPr name="TextBox 100" id="100"/>
            <p:cNvSpPr txBox="true"/>
            <p:nvPr/>
          </p:nvSpPr>
          <p:spPr>
            <a:xfrm>
              <a:off x="0" y="-28575"/>
              <a:ext cx="1806321"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91.40</a:t>
              </a:r>
            </a:p>
          </p:txBody>
        </p:sp>
      </p:grpSp>
      <p:sp>
        <p:nvSpPr>
          <p:cNvPr name="AutoShape 101" id="101"/>
          <p:cNvSpPr/>
          <p:nvPr/>
        </p:nvSpPr>
        <p:spPr>
          <a:xfrm rot="0">
            <a:off x="8041672" y="3173921"/>
            <a:ext cx="1354741" cy="9525"/>
          </a:xfrm>
          <a:prstGeom prst="rect">
            <a:avLst/>
          </a:prstGeom>
          <a:solidFill>
            <a:srgbClr val="D8DFDD"/>
          </a:solidFill>
        </p:spPr>
      </p:sp>
      <p:grpSp>
        <p:nvGrpSpPr>
          <p:cNvPr name="Group 102" id="102"/>
          <p:cNvGrpSpPr/>
          <p:nvPr/>
        </p:nvGrpSpPr>
        <p:grpSpPr>
          <a:xfrm rot="0">
            <a:off x="9396412" y="2935796"/>
            <a:ext cx="1354741" cy="247650"/>
            <a:chOff x="0" y="0"/>
            <a:chExt cx="1806321" cy="330200"/>
          </a:xfrm>
        </p:grpSpPr>
        <p:sp>
          <p:nvSpPr>
            <p:cNvPr name="Freeform 103" id="103"/>
            <p:cNvSpPr/>
            <p:nvPr/>
          </p:nvSpPr>
          <p:spPr>
            <a:xfrm flipH="false" flipV="false" rot="0">
              <a:off x="0" y="0"/>
              <a:ext cx="1806321" cy="330200"/>
            </a:xfrm>
            <a:custGeom>
              <a:avLst/>
              <a:gdLst/>
              <a:ahLst/>
              <a:cxnLst/>
              <a:rect r="r" b="b" t="t" l="l"/>
              <a:pathLst>
                <a:path h="330200" w="1806321">
                  <a:moveTo>
                    <a:pt x="0" y="0"/>
                  </a:moveTo>
                  <a:lnTo>
                    <a:pt x="1806321" y="0"/>
                  </a:lnTo>
                  <a:lnTo>
                    <a:pt x="1806321" y="330200"/>
                  </a:lnTo>
                  <a:lnTo>
                    <a:pt x="0" y="330200"/>
                  </a:lnTo>
                  <a:lnTo>
                    <a:pt x="0" y="0"/>
                  </a:lnTo>
                  <a:close/>
                </a:path>
              </a:pathLst>
            </a:custGeom>
            <a:solidFill>
              <a:srgbClr val="2DD4BF">
                <a:alpha val="1176"/>
              </a:srgbClr>
            </a:solidFill>
          </p:spPr>
        </p:sp>
        <p:sp>
          <p:nvSpPr>
            <p:cNvPr name="TextBox 104" id="104"/>
            <p:cNvSpPr txBox="true"/>
            <p:nvPr/>
          </p:nvSpPr>
          <p:spPr>
            <a:xfrm>
              <a:off x="0" y="-28575"/>
              <a:ext cx="1806321"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91.06</a:t>
              </a:r>
            </a:p>
          </p:txBody>
        </p:sp>
      </p:grpSp>
      <p:sp>
        <p:nvSpPr>
          <p:cNvPr name="AutoShape 105" id="105"/>
          <p:cNvSpPr/>
          <p:nvPr/>
        </p:nvSpPr>
        <p:spPr>
          <a:xfrm rot="0">
            <a:off x="9396412" y="3173921"/>
            <a:ext cx="1354741" cy="9525"/>
          </a:xfrm>
          <a:prstGeom prst="rect">
            <a:avLst/>
          </a:prstGeom>
          <a:solidFill>
            <a:srgbClr val="D8DFDD"/>
          </a:solidFill>
        </p:spPr>
      </p:sp>
      <p:grpSp>
        <p:nvGrpSpPr>
          <p:cNvPr name="Group 106" id="106"/>
          <p:cNvGrpSpPr/>
          <p:nvPr/>
        </p:nvGrpSpPr>
        <p:grpSpPr>
          <a:xfrm rot="0">
            <a:off x="10751153" y="2935796"/>
            <a:ext cx="1354741" cy="247650"/>
            <a:chOff x="0" y="0"/>
            <a:chExt cx="1806321" cy="330200"/>
          </a:xfrm>
        </p:grpSpPr>
        <p:sp>
          <p:nvSpPr>
            <p:cNvPr name="Freeform 107" id="107"/>
            <p:cNvSpPr/>
            <p:nvPr/>
          </p:nvSpPr>
          <p:spPr>
            <a:xfrm flipH="false" flipV="false" rot="0">
              <a:off x="0" y="0"/>
              <a:ext cx="1806321" cy="330200"/>
            </a:xfrm>
            <a:custGeom>
              <a:avLst/>
              <a:gdLst/>
              <a:ahLst/>
              <a:cxnLst/>
              <a:rect r="r" b="b" t="t" l="l"/>
              <a:pathLst>
                <a:path h="330200" w="1806321">
                  <a:moveTo>
                    <a:pt x="0" y="0"/>
                  </a:moveTo>
                  <a:lnTo>
                    <a:pt x="1806321" y="0"/>
                  </a:lnTo>
                  <a:lnTo>
                    <a:pt x="1806321" y="330200"/>
                  </a:lnTo>
                  <a:lnTo>
                    <a:pt x="0" y="330200"/>
                  </a:lnTo>
                  <a:lnTo>
                    <a:pt x="0" y="0"/>
                  </a:lnTo>
                  <a:close/>
                </a:path>
              </a:pathLst>
            </a:custGeom>
            <a:solidFill>
              <a:srgbClr val="2DD4BF">
                <a:alpha val="1176"/>
              </a:srgbClr>
            </a:solidFill>
          </p:spPr>
        </p:sp>
        <p:sp>
          <p:nvSpPr>
            <p:cNvPr name="TextBox 108" id="108"/>
            <p:cNvSpPr txBox="true"/>
            <p:nvPr/>
          </p:nvSpPr>
          <p:spPr>
            <a:xfrm>
              <a:off x="0" y="-28575"/>
              <a:ext cx="1806321"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82.63</a:t>
              </a:r>
            </a:p>
          </p:txBody>
        </p:sp>
      </p:grpSp>
      <p:sp>
        <p:nvSpPr>
          <p:cNvPr name="AutoShape 109" id="109"/>
          <p:cNvSpPr/>
          <p:nvPr/>
        </p:nvSpPr>
        <p:spPr>
          <a:xfrm rot="0">
            <a:off x="10751153" y="3173921"/>
            <a:ext cx="1354741" cy="9525"/>
          </a:xfrm>
          <a:prstGeom prst="rect">
            <a:avLst/>
          </a:prstGeom>
          <a:solidFill>
            <a:srgbClr val="D8DFDD"/>
          </a:solidFill>
        </p:spPr>
      </p:sp>
      <p:grpSp>
        <p:nvGrpSpPr>
          <p:cNvPr name="Group 110" id="110"/>
          <p:cNvGrpSpPr/>
          <p:nvPr/>
        </p:nvGrpSpPr>
        <p:grpSpPr>
          <a:xfrm rot="0">
            <a:off x="12105989" y="2935796"/>
            <a:ext cx="2333911" cy="247650"/>
            <a:chOff x="0" y="0"/>
            <a:chExt cx="3111881" cy="330200"/>
          </a:xfrm>
        </p:grpSpPr>
        <p:sp>
          <p:nvSpPr>
            <p:cNvPr name="Freeform 111" id="111"/>
            <p:cNvSpPr/>
            <p:nvPr/>
          </p:nvSpPr>
          <p:spPr>
            <a:xfrm flipH="false" flipV="false" rot="0">
              <a:off x="0" y="0"/>
              <a:ext cx="3111881" cy="330200"/>
            </a:xfrm>
            <a:custGeom>
              <a:avLst/>
              <a:gdLst/>
              <a:ahLst/>
              <a:cxnLst/>
              <a:rect r="r" b="b" t="t" l="l"/>
              <a:pathLst>
                <a:path h="330200" w="3111881">
                  <a:moveTo>
                    <a:pt x="0" y="0"/>
                  </a:moveTo>
                  <a:lnTo>
                    <a:pt x="3111881" y="0"/>
                  </a:lnTo>
                  <a:lnTo>
                    <a:pt x="3111881" y="330200"/>
                  </a:lnTo>
                  <a:lnTo>
                    <a:pt x="0" y="330200"/>
                  </a:lnTo>
                  <a:lnTo>
                    <a:pt x="0" y="0"/>
                  </a:lnTo>
                  <a:close/>
                </a:path>
              </a:pathLst>
            </a:custGeom>
            <a:solidFill>
              <a:srgbClr val="2DD4BF">
                <a:alpha val="1176"/>
              </a:srgbClr>
            </a:solidFill>
          </p:spPr>
        </p:sp>
        <p:sp>
          <p:nvSpPr>
            <p:cNvPr name="TextBox 112" id="112"/>
            <p:cNvSpPr txBox="true"/>
            <p:nvPr/>
          </p:nvSpPr>
          <p:spPr>
            <a:xfrm>
              <a:off x="0" y="-28575"/>
              <a:ext cx="3111881"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88.36</a:t>
              </a:r>
            </a:p>
          </p:txBody>
        </p:sp>
      </p:grpSp>
      <p:sp>
        <p:nvSpPr>
          <p:cNvPr name="AutoShape 113" id="113"/>
          <p:cNvSpPr/>
          <p:nvPr/>
        </p:nvSpPr>
        <p:spPr>
          <a:xfrm rot="0">
            <a:off x="12105989" y="3173921"/>
            <a:ext cx="2333911" cy="9525"/>
          </a:xfrm>
          <a:prstGeom prst="rect">
            <a:avLst/>
          </a:prstGeom>
          <a:solidFill>
            <a:srgbClr val="D8DFDD"/>
          </a:solidFill>
        </p:spPr>
      </p:sp>
      <p:sp>
        <p:nvSpPr>
          <p:cNvPr name="AutoShape 114" id="114"/>
          <p:cNvSpPr/>
          <p:nvPr/>
        </p:nvSpPr>
        <p:spPr>
          <a:xfrm rot="0">
            <a:off x="800100" y="3421571"/>
            <a:ext cx="2049208" cy="9525"/>
          </a:xfrm>
          <a:prstGeom prst="rect">
            <a:avLst/>
          </a:prstGeom>
          <a:solidFill>
            <a:srgbClr val="D8DFDD"/>
          </a:solidFill>
        </p:spPr>
      </p:sp>
      <p:sp>
        <p:nvSpPr>
          <p:cNvPr name="TextBox 115" id="115"/>
          <p:cNvSpPr txBox="true"/>
          <p:nvPr/>
        </p:nvSpPr>
        <p:spPr>
          <a:xfrm rot="0">
            <a:off x="800100" y="31548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116" id="116"/>
          <p:cNvSpPr/>
          <p:nvPr/>
        </p:nvSpPr>
        <p:spPr>
          <a:xfrm rot="0">
            <a:off x="2849308" y="3421571"/>
            <a:ext cx="2977801" cy="9525"/>
          </a:xfrm>
          <a:prstGeom prst="rect">
            <a:avLst/>
          </a:prstGeom>
          <a:solidFill>
            <a:srgbClr val="D8DFDD"/>
          </a:solidFill>
        </p:spPr>
      </p:sp>
      <p:sp>
        <p:nvSpPr>
          <p:cNvPr name="TextBox 117" id="117"/>
          <p:cNvSpPr txBox="true"/>
          <p:nvPr/>
        </p:nvSpPr>
        <p:spPr>
          <a:xfrm rot="0">
            <a:off x="2849308" y="31548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118" id="118"/>
          <p:cNvSpPr/>
          <p:nvPr/>
        </p:nvSpPr>
        <p:spPr>
          <a:xfrm rot="0">
            <a:off x="5827109" y="3421571"/>
            <a:ext cx="1017080" cy="9525"/>
          </a:xfrm>
          <a:prstGeom prst="rect">
            <a:avLst/>
          </a:prstGeom>
          <a:solidFill>
            <a:srgbClr val="D8DFDD"/>
          </a:solidFill>
        </p:spPr>
      </p:sp>
      <p:sp>
        <p:nvSpPr>
          <p:cNvPr name="TextBox 119" id="119"/>
          <p:cNvSpPr txBox="true"/>
          <p:nvPr/>
        </p:nvSpPr>
        <p:spPr>
          <a:xfrm rot="0">
            <a:off x="5827109" y="31548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120" id="120"/>
          <p:cNvSpPr/>
          <p:nvPr/>
        </p:nvSpPr>
        <p:spPr>
          <a:xfrm rot="0">
            <a:off x="6844189" y="3421571"/>
            <a:ext cx="1197483" cy="9525"/>
          </a:xfrm>
          <a:prstGeom prst="rect">
            <a:avLst/>
          </a:prstGeom>
          <a:solidFill>
            <a:srgbClr val="D8DFDD"/>
          </a:solidFill>
        </p:spPr>
      </p:sp>
      <p:sp>
        <p:nvSpPr>
          <p:cNvPr name="TextBox 121" id="121"/>
          <p:cNvSpPr txBox="true"/>
          <p:nvPr/>
        </p:nvSpPr>
        <p:spPr>
          <a:xfrm rot="0">
            <a:off x="6844189" y="31548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77.22</a:t>
            </a:r>
          </a:p>
        </p:txBody>
      </p:sp>
      <p:sp>
        <p:nvSpPr>
          <p:cNvPr name="AutoShape 122" id="122"/>
          <p:cNvSpPr/>
          <p:nvPr/>
        </p:nvSpPr>
        <p:spPr>
          <a:xfrm rot="0">
            <a:off x="8041672" y="3421571"/>
            <a:ext cx="1354741" cy="9525"/>
          </a:xfrm>
          <a:prstGeom prst="rect">
            <a:avLst/>
          </a:prstGeom>
          <a:solidFill>
            <a:srgbClr val="D8DFDD"/>
          </a:solidFill>
        </p:spPr>
      </p:sp>
      <p:sp>
        <p:nvSpPr>
          <p:cNvPr name="TextBox 123" id="123"/>
          <p:cNvSpPr txBox="true"/>
          <p:nvPr/>
        </p:nvSpPr>
        <p:spPr>
          <a:xfrm rot="0">
            <a:off x="8041672" y="31548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79.35</a:t>
            </a:r>
          </a:p>
        </p:txBody>
      </p:sp>
      <p:sp>
        <p:nvSpPr>
          <p:cNvPr name="AutoShape 124" id="124"/>
          <p:cNvSpPr/>
          <p:nvPr/>
        </p:nvSpPr>
        <p:spPr>
          <a:xfrm rot="0">
            <a:off x="9396412" y="3421571"/>
            <a:ext cx="1354741" cy="9525"/>
          </a:xfrm>
          <a:prstGeom prst="rect">
            <a:avLst/>
          </a:prstGeom>
          <a:solidFill>
            <a:srgbClr val="D8DFDD"/>
          </a:solidFill>
        </p:spPr>
      </p:sp>
      <p:sp>
        <p:nvSpPr>
          <p:cNvPr name="TextBox 125" id="125"/>
          <p:cNvSpPr txBox="true"/>
          <p:nvPr/>
        </p:nvSpPr>
        <p:spPr>
          <a:xfrm rot="0">
            <a:off x="9396412" y="31548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78.17</a:t>
            </a:r>
          </a:p>
        </p:txBody>
      </p:sp>
      <p:sp>
        <p:nvSpPr>
          <p:cNvPr name="AutoShape 126" id="126"/>
          <p:cNvSpPr/>
          <p:nvPr/>
        </p:nvSpPr>
        <p:spPr>
          <a:xfrm rot="0">
            <a:off x="10751153" y="3421571"/>
            <a:ext cx="1354741" cy="9525"/>
          </a:xfrm>
          <a:prstGeom prst="rect">
            <a:avLst/>
          </a:prstGeom>
          <a:solidFill>
            <a:srgbClr val="D8DFDD"/>
          </a:solidFill>
        </p:spPr>
      </p:sp>
      <p:sp>
        <p:nvSpPr>
          <p:cNvPr name="TextBox 127" id="127"/>
          <p:cNvSpPr txBox="true"/>
          <p:nvPr/>
        </p:nvSpPr>
        <p:spPr>
          <a:xfrm rot="0">
            <a:off x="10751153" y="31548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71.09</a:t>
            </a:r>
          </a:p>
        </p:txBody>
      </p:sp>
      <p:sp>
        <p:nvSpPr>
          <p:cNvPr name="AutoShape 128" id="128"/>
          <p:cNvSpPr/>
          <p:nvPr/>
        </p:nvSpPr>
        <p:spPr>
          <a:xfrm rot="0">
            <a:off x="12105989" y="3421571"/>
            <a:ext cx="2333911" cy="9525"/>
          </a:xfrm>
          <a:prstGeom prst="rect">
            <a:avLst/>
          </a:prstGeom>
          <a:solidFill>
            <a:srgbClr val="D8DFDD"/>
          </a:solidFill>
        </p:spPr>
      </p:sp>
      <p:sp>
        <p:nvSpPr>
          <p:cNvPr name="TextBox 129" id="129"/>
          <p:cNvSpPr txBox="true"/>
          <p:nvPr/>
        </p:nvSpPr>
        <p:spPr>
          <a:xfrm rot="0">
            <a:off x="12105989" y="31548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76.20</a:t>
            </a:r>
          </a:p>
        </p:txBody>
      </p:sp>
      <p:sp>
        <p:nvSpPr>
          <p:cNvPr name="AutoShape 130" id="130"/>
          <p:cNvSpPr/>
          <p:nvPr/>
        </p:nvSpPr>
        <p:spPr>
          <a:xfrm rot="0">
            <a:off x="800100" y="3673983"/>
            <a:ext cx="2049208" cy="9525"/>
          </a:xfrm>
          <a:prstGeom prst="rect">
            <a:avLst/>
          </a:prstGeom>
          <a:solidFill>
            <a:srgbClr val="D8DFDD"/>
          </a:solidFill>
        </p:spPr>
      </p:sp>
      <p:sp>
        <p:nvSpPr>
          <p:cNvPr name="TextBox 131" id="131"/>
          <p:cNvSpPr txBox="true"/>
          <p:nvPr/>
        </p:nvSpPr>
        <p:spPr>
          <a:xfrm rot="0">
            <a:off x="800100" y="3402521"/>
            <a:ext cx="204920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a:t>
            </a:r>
          </a:p>
        </p:txBody>
      </p:sp>
      <p:sp>
        <p:nvSpPr>
          <p:cNvPr name="AutoShape 132" id="132"/>
          <p:cNvSpPr/>
          <p:nvPr/>
        </p:nvSpPr>
        <p:spPr>
          <a:xfrm rot="0">
            <a:off x="2849308" y="3673983"/>
            <a:ext cx="2977801" cy="9525"/>
          </a:xfrm>
          <a:prstGeom prst="rect">
            <a:avLst/>
          </a:prstGeom>
          <a:solidFill>
            <a:srgbClr val="D8DFDD"/>
          </a:solidFill>
        </p:spPr>
      </p:sp>
      <p:sp>
        <p:nvSpPr>
          <p:cNvPr name="TextBox 133" id="133"/>
          <p:cNvSpPr txBox="true"/>
          <p:nvPr/>
        </p:nvSpPr>
        <p:spPr>
          <a:xfrm rot="0">
            <a:off x="2849308" y="3402521"/>
            <a:ext cx="2977801"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134" id="134"/>
          <p:cNvSpPr/>
          <p:nvPr/>
        </p:nvSpPr>
        <p:spPr>
          <a:xfrm rot="0">
            <a:off x="5827109" y="3673983"/>
            <a:ext cx="1017080" cy="9525"/>
          </a:xfrm>
          <a:prstGeom prst="rect">
            <a:avLst/>
          </a:prstGeom>
          <a:solidFill>
            <a:srgbClr val="D8DFDD"/>
          </a:solidFill>
        </p:spPr>
      </p:sp>
      <p:sp>
        <p:nvSpPr>
          <p:cNvPr name="TextBox 135" id="135"/>
          <p:cNvSpPr txBox="true"/>
          <p:nvPr/>
        </p:nvSpPr>
        <p:spPr>
          <a:xfrm rot="0">
            <a:off x="5827109" y="3402521"/>
            <a:ext cx="101708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36" id="136"/>
          <p:cNvSpPr/>
          <p:nvPr/>
        </p:nvSpPr>
        <p:spPr>
          <a:xfrm rot="0">
            <a:off x="6844189" y="3673983"/>
            <a:ext cx="1197483" cy="9525"/>
          </a:xfrm>
          <a:prstGeom prst="rect">
            <a:avLst/>
          </a:prstGeom>
          <a:solidFill>
            <a:srgbClr val="D8DFDD"/>
          </a:solidFill>
        </p:spPr>
      </p:sp>
      <p:sp>
        <p:nvSpPr>
          <p:cNvPr name="TextBox 137" id="137"/>
          <p:cNvSpPr txBox="true"/>
          <p:nvPr/>
        </p:nvSpPr>
        <p:spPr>
          <a:xfrm rot="0">
            <a:off x="6844189" y="3402521"/>
            <a:ext cx="1197483"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81.78</a:t>
            </a:r>
          </a:p>
        </p:txBody>
      </p:sp>
      <p:sp>
        <p:nvSpPr>
          <p:cNvPr name="AutoShape 138" id="138"/>
          <p:cNvSpPr/>
          <p:nvPr/>
        </p:nvSpPr>
        <p:spPr>
          <a:xfrm rot="0">
            <a:off x="8041672" y="3673983"/>
            <a:ext cx="1354741" cy="9525"/>
          </a:xfrm>
          <a:prstGeom prst="rect">
            <a:avLst/>
          </a:prstGeom>
          <a:solidFill>
            <a:srgbClr val="D8DFDD"/>
          </a:solidFill>
        </p:spPr>
      </p:sp>
      <p:sp>
        <p:nvSpPr>
          <p:cNvPr name="TextBox 139" id="139"/>
          <p:cNvSpPr txBox="true"/>
          <p:nvPr/>
        </p:nvSpPr>
        <p:spPr>
          <a:xfrm rot="0">
            <a:off x="8041672" y="3402521"/>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87.17</a:t>
            </a:r>
          </a:p>
        </p:txBody>
      </p:sp>
      <p:sp>
        <p:nvSpPr>
          <p:cNvPr name="AutoShape 140" id="140"/>
          <p:cNvSpPr/>
          <p:nvPr/>
        </p:nvSpPr>
        <p:spPr>
          <a:xfrm rot="0">
            <a:off x="9396412" y="3673983"/>
            <a:ext cx="1354741" cy="9525"/>
          </a:xfrm>
          <a:prstGeom prst="rect">
            <a:avLst/>
          </a:prstGeom>
          <a:solidFill>
            <a:srgbClr val="D8DFDD"/>
          </a:solidFill>
        </p:spPr>
      </p:sp>
      <p:sp>
        <p:nvSpPr>
          <p:cNvPr name="TextBox 141" id="141"/>
          <p:cNvSpPr txBox="true"/>
          <p:nvPr/>
        </p:nvSpPr>
        <p:spPr>
          <a:xfrm rot="0">
            <a:off x="9396412" y="3402521"/>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86.51</a:t>
            </a:r>
          </a:p>
        </p:txBody>
      </p:sp>
      <p:sp>
        <p:nvSpPr>
          <p:cNvPr name="AutoShape 142" id="142"/>
          <p:cNvSpPr/>
          <p:nvPr/>
        </p:nvSpPr>
        <p:spPr>
          <a:xfrm rot="0">
            <a:off x="10751153" y="3673983"/>
            <a:ext cx="1354741" cy="9525"/>
          </a:xfrm>
          <a:prstGeom prst="rect">
            <a:avLst/>
          </a:prstGeom>
          <a:solidFill>
            <a:srgbClr val="D8DFDD"/>
          </a:solidFill>
        </p:spPr>
      </p:sp>
      <p:sp>
        <p:nvSpPr>
          <p:cNvPr name="TextBox 143" id="143"/>
          <p:cNvSpPr txBox="true"/>
          <p:nvPr/>
        </p:nvSpPr>
        <p:spPr>
          <a:xfrm rot="0">
            <a:off x="10751153" y="3402521"/>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78.95</a:t>
            </a:r>
          </a:p>
        </p:txBody>
      </p:sp>
      <p:sp>
        <p:nvSpPr>
          <p:cNvPr name="AutoShape 144" id="144"/>
          <p:cNvSpPr/>
          <p:nvPr/>
        </p:nvSpPr>
        <p:spPr>
          <a:xfrm rot="0">
            <a:off x="12105989" y="3673983"/>
            <a:ext cx="2333911" cy="9525"/>
          </a:xfrm>
          <a:prstGeom prst="rect">
            <a:avLst/>
          </a:prstGeom>
          <a:solidFill>
            <a:srgbClr val="D8DFDD"/>
          </a:solidFill>
        </p:spPr>
      </p:sp>
      <p:sp>
        <p:nvSpPr>
          <p:cNvPr name="TextBox 145" id="145"/>
          <p:cNvSpPr txBox="true"/>
          <p:nvPr/>
        </p:nvSpPr>
        <p:spPr>
          <a:xfrm rot="0">
            <a:off x="12105989" y="3402521"/>
            <a:ext cx="233391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84.21</a:t>
            </a:r>
          </a:p>
        </p:txBody>
      </p:sp>
      <p:sp>
        <p:nvSpPr>
          <p:cNvPr name="AutoShape 146" id="146"/>
          <p:cNvSpPr/>
          <p:nvPr/>
        </p:nvSpPr>
        <p:spPr>
          <a:xfrm rot="0">
            <a:off x="800100" y="3683508"/>
            <a:ext cx="2049208" cy="19050"/>
          </a:xfrm>
          <a:prstGeom prst="rect">
            <a:avLst/>
          </a:prstGeom>
          <a:solidFill>
            <a:srgbClr val="AEBDBB"/>
          </a:solidFill>
        </p:spPr>
      </p:sp>
      <p:sp>
        <p:nvSpPr>
          <p:cNvPr name="AutoShape 147" id="147"/>
          <p:cNvSpPr/>
          <p:nvPr/>
        </p:nvSpPr>
        <p:spPr>
          <a:xfrm rot="0">
            <a:off x="800100" y="3926396"/>
            <a:ext cx="2049208" cy="9525"/>
          </a:xfrm>
          <a:prstGeom prst="rect">
            <a:avLst/>
          </a:prstGeom>
          <a:solidFill>
            <a:srgbClr val="D8DFDD"/>
          </a:solidFill>
        </p:spPr>
      </p:sp>
      <p:sp>
        <p:nvSpPr>
          <p:cNvPr name="TextBox 148" id="148"/>
          <p:cNvSpPr txBox="true"/>
          <p:nvPr/>
        </p:nvSpPr>
        <p:spPr>
          <a:xfrm rot="0">
            <a:off x="800100" y="3654933"/>
            <a:ext cx="204920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49" id="149"/>
          <p:cNvSpPr/>
          <p:nvPr/>
        </p:nvSpPr>
        <p:spPr>
          <a:xfrm rot="0">
            <a:off x="2849308" y="3683508"/>
            <a:ext cx="2977801" cy="19050"/>
          </a:xfrm>
          <a:prstGeom prst="rect">
            <a:avLst/>
          </a:prstGeom>
          <a:solidFill>
            <a:srgbClr val="AEBDBB"/>
          </a:solidFill>
        </p:spPr>
      </p:sp>
      <p:sp>
        <p:nvSpPr>
          <p:cNvPr name="AutoShape 150" id="150"/>
          <p:cNvSpPr/>
          <p:nvPr/>
        </p:nvSpPr>
        <p:spPr>
          <a:xfrm rot="0">
            <a:off x="2849308" y="3926396"/>
            <a:ext cx="2977801" cy="9525"/>
          </a:xfrm>
          <a:prstGeom prst="rect">
            <a:avLst/>
          </a:prstGeom>
          <a:solidFill>
            <a:srgbClr val="D8DFDD"/>
          </a:solidFill>
        </p:spPr>
      </p:sp>
      <p:sp>
        <p:nvSpPr>
          <p:cNvPr name="TextBox 151" id="151"/>
          <p:cNvSpPr txBox="true"/>
          <p:nvPr/>
        </p:nvSpPr>
        <p:spPr>
          <a:xfrm rot="0">
            <a:off x="2849308" y="3654933"/>
            <a:ext cx="2977801"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152" id="152"/>
          <p:cNvSpPr/>
          <p:nvPr/>
        </p:nvSpPr>
        <p:spPr>
          <a:xfrm rot="0">
            <a:off x="5827109" y="3683508"/>
            <a:ext cx="1017080" cy="19050"/>
          </a:xfrm>
          <a:prstGeom prst="rect">
            <a:avLst/>
          </a:prstGeom>
          <a:solidFill>
            <a:srgbClr val="AEBDBB"/>
          </a:solidFill>
        </p:spPr>
      </p:sp>
      <p:sp>
        <p:nvSpPr>
          <p:cNvPr name="AutoShape 153" id="153"/>
          <p:cNvSpPr/>
          <p:nvPr/>
        </p:nvSpPr>
        <p:spPr>
          <a:xfrm rot="0">
            <a:off x="5827109" y="3926396"/>
            <a:ext cx="1017080" cy="9525"/>
          </a:xfrm>
          <a:prstGeom prst="rect">
            <a:avLst/>
          </a:prstGeom>
          <a:solidFill>
            <a:srgbClr val="D8DFDD"/>
          </a:solidFill>
        </p:spPr>
      </p:sp>
      <p:sp>
        <p:nvSpPr>
          <p:cNvPr name="TextBox 154" id="154"/>
          <p:cNvSpPr txBox="true"/>
          <p:nvPr/>
        </p:nvSpPr>
        <p:spPr>
          <a:xfrm rot="0">
            <a:off x="5827109" y="3654933"/>
            <a:ext cx="101708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55" id="155"/>
          <p:cNvSpPr/>
          <p:nvPr/>
        </p:nvSpPr>
        <p:spPr>
          <a:xfrm rot="0">
            <a:off x="6844189" y="3683508"/>
            <a:ext cx="1197483" cy="19050"/>
          </a:xfrm>
          <a:prstGeom prst="rect">
            <a:avLst/>
          </a:prstGeom>
          <a:solidFill>
            <a:srgbClr val="AEBDBB"/>
          </a:solidFill>
        </p:spPr>
      </p:sp>
      <p:sp>
        <p:nvSpPr>
          <p:cNvPr name="AutoShape 156" id="156"/>
          <p:cNvSpPr/>
          <p:nvPr/>
        </p:nvSpPr>
        <p:spPr>
          <a:xfrm rot="0">
            <a:off x="6844189" y="3926396"/>
            <a:ext cx="1197483" cy="9525"/>
          </a:xfrm>
          <a:prstGeom prst="rect">
            <a:avLst/>
          </a:prstGeom>
          <a:solidFill>
            <a:srgbClr val="D8DFDD"/>
          </a:solidFill>
        </p:spPr>
      </p:sp>
      <p:sp>
        <p:nvSpPr>
          <p:cNvPr name="TextBox 157" id="157"/>
          <p:cNvSpPr txBox="true"/>
          <p:nvPr/>
        </p:nvSpPr>
        <p:spPr>
          <a:xfrm rot="0">
            <a:off x="6844189" y="3654933"/>
            <a:ext cx="1197483"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57.21</a:t>
            </a:r>
          </a:p>
        </p:txBody>
      </p:sp>
      <p:sp>
        <p:nvSpPr>
          <p:cNvPr name="AutoShape 158" id="158"/>
          <p:cNvSpPr/>
          <p:nvPr/>
        </p:nvSpPr>
        <p:spPr>
          <a:xfrm rot="0">
            <a:off x="8041672" y="3683508"/>
            <a:ext cx="1354741" cy="19050"/>
          </a:xfrm>
          <a:prstGeom prst="rect">
            <a:avLst/>
          </a:prstGeom>
          <a:solidFill>
            <a:srgbClr val="AEBDBB"/>
          </a:solidFill>
        </p:spPr>
      </p:sp>
      <p:sp>
        <p:nvSpPr>
          <p:cNvPr name="AutoShape 159" id="159"/>
          <p:cNvSpPr/>
          <p:nvPr/>
        </p:nvSpPr>
        <p:spPr>
          <a:xfrm rot="0">
            <a:off x="8041672" y="3926396"/>
            <a:ext cx="1354741" cy="9525"/>
          </a:xfrm>
          <a:prstGeom prst="rect">
            <a:avLst/>
          </a:prstGeom>
          <a:solidFill>
            <a:srgbClr val="D8DFDD"/>
          </a:solidFill>
        </p:spPr>
      </p:sp>
      <p:sp>
        <p:nvSpPr>
          <p:cNvPr name="TextBox 160" id="160"/>
          <p:cNvSpPr txBox="true"/>
          <p:nvPr/>
        </p:nvSpPr>
        <p:spPr>
          <a:xfrm rot="0">
            <a:off x="8041672" y="3654933"/>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67.08</a:t>
            </a:r>
          </a:p>
        </p:txBody>
      </p:sp>
      <p:sp>
        <p:nvSpPr>
          <p:cNvPr name="AutoShape 161" id="161"/>
          <p:cNvSpPr/>
          <p:nvPr/>
        </p:nvSpPr>
        <p:spPr>
          <a:xfrm rot="0">
            <a:off x="9396412" y="3683508"/>
            <a:ext cx="1354741" cy="19050"/>
          </a:xfrm>
          <a:prstGeom prst="rect">
            <a:avLst/>
          </a:prstGeom>
          <a:solidFill>
            <a:srgbClr val="AEBDBB"/>
          </a:solidFill>
        </p:spPr>
      </p:sp>
      <p:sp>
        <p:nvSpPr>
          <p:cNvPr name="AutoShape 162" id="162"/>
          <p:cNvSpPr/>
          <p:nvPr/>
        </p:nvSpPr>
        <p:spPr>
          <a:xfrm rot="0">
            <a:off x="9396412" y="3926396"/>
            <a:ext cx="1354741" cy="9525"/>
          </a:xfrm>
          <a:prstGeom prst="rect">
            <a:avLst/>
          </a:prstGeom>
          <a:solidFill>
            <a:srgbClr val="D8DFDD"/>
          </a:solidFill>
        </p:spPr>
      </p:sp>
      <p:sp>
        <p:nvSpPr>
          <p:cNvPr name="TextBox 163" id="163"/>
          <p:cNvSpPr txBox="true"/>
          <p:nvPr/>
        </p:nvSpPr>
        <p:spPr>
          <a:xfrm rot="0">
            <a:off x="9396412" y="3654933"/>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64.36</a:t>
            </a:r>
          </a:p>
        </p:txBody>
      </p:sp>
      <p:sp>
        <p:nvSpPr>
          <p:cNvPr name="AutoShape 164" id="164"/>
          <p:cNvSpPr/>
          <p:nvPr/>
        </p:nvSpPr>
        <p:spPr>
          <a:xfrm rot="0">
            <a:off x="10751153" y="3683508"/>
            <a:ext cx="1354741" cy="19050"/>
          </a:xfrm>
          <a:prstGeom prst="rect">
            <a:avLst/>
          </a:prstGeom>
          <a:solidFill>
            <a:srgbClr val="AEBDBB"/>
          </a:solidFill>
        </p:spPr>
      </p:sp>
      <p:sp>
        <p:nvSpPr>
          <p:cNvPr name="AutoShape 165" id="165"/>
          <p:cNvSpPr/>
          <p:nvPr/>
        </p:nvSpPr>
        <p:spPr>
          <a:xfrm rot="0">
            <a:off x="10751153" y="3926396"/>
            <a:ext cx="1354741" cy="9525"/>
          </a:xfrm>
          <a:prstGeom prst="rect">
            <a:avLst/>
          </a:prstGeom>
          <a:solidFill>
            <a:srgbClr val="D8DFDD"/>
          </a:solidFill>
        </p:spPr>
      </p:sp>
      <p:sp>
        <p:nvSpPr>
          <p:cNvPr name="TextBox 166" id="166"/>
          <p:cNvSpPr txBox="true"/>
          <p:nvPr/>
        </p:nvSpPr>
        <p:spPr>
          <a:xfrm rot="0">
            <a:off x="10751153" y="3654933"/>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55.94</a:t>
            </a:r>
          </a:p>
        </p:txBody>
      </p:sp>
      <p:sp>
        <p:nvSpPr>
          <p:cNvPr name="AutoShape 167" id="167"/>
          <p:cNvSpPr/>
          <p:nvPr/>
        </p:nvSpPr>
        <p:spPr>
          <a:xfrm rot="0">
            <a:off x="12105989" y="3683508"/>
            <a:ext cx="2333911" cy="19050"/>
          </a:xfrm>
          <a:prstGeom prst="rect">
            <a:avLst/>
          </a:prstGeom>
          <a:solidFill>
            <a:srgbClr val="AEBDBB"/>
          </a:solidFill>
        </p:spPr>
      </p:sp>
      <p:sp>
        <p:nvSpPr>
          <p:cNvPr name="AutoShape 168" id="168"/>
          <p:cNvSpPr/>
          <p:nvPr/>
        </p:nvSpPr>
        <p:spPr>
          <a:xfrm rot="0">
            <a:off x="12105989" y="3926396"/>
            <a:ext cx="2333911" cy="9525"/>
          </a:xfrm>
          <a:prstGeom prst="rect">
            <a:avLst/>
          </a:prstGeom>
          <a:solidFill>
            <a:srgbClr val="D8DFDD"/>
          </a:solidFill>
        </p:spPr>
      </p:sp>
      <p:sp>
        <p:nvSpPr>
          <p:cNvPr name="TextBox 169" id="169"/>
          <p:cNvSpPr txBox="true"/>
          <p:nvPr/>
        </p:nvSpPr>
        <p:spPr>
          <a:xfrm rot="0">
            <a:off x="12105989" y="3654933"/>
            <a:ext cx="233391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62.46</a:t>
            </a:r>
          </a:p>
        </p:txBody>
      </p:sp>
      <p:sp>
        <p:nvSpPr>
          <p:cNvPr name="AutoShape 170" id="170"/>
          <p:cNvSpPr/>
          <p:nvPr/>
        </p:nvSpPr>
        <p:spPr>
          <a:xfrm rot="0">
            <a:off x="800100" y="4174046"/>
            <a:ext cx="2049208" cy="9525"/>
          </a:xfrm>
          <a:prstGeom prst="rect">
            <a:avLst/>
          </a:prstGeom>
          <a:solidFill>
            <a:srgbClr val="D8DFDD"/>
          </a:solidFill>
        </p:spPr>
      </p:sp>
      <p:sp>
        <p:nvSpPr>
          <p:cNvPr name="TextBox 171" id="171"/>
          <p:cNvSpPr txBox="true"/>
          <p:nvPr/>
        </p:nvSpPr>
        <p:spPr>
          <a:xfrm rot="0">
            <a:off x="800100" y="3907346"/>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72" id="172"/>
          <p:cNvSpPr/>
          <p:nvPr/>
        </p:nvSpPr>
        <p:spPr>
          <a:xfrm rot="0">
            <a:off x="2849308" y="4174046"/>
            <a:ext cx="2977801" cy="9525"/>
          </a:xfrm>
          <a:prstGeom prst="rect">
            <a:avLst/>
          </a:prstGeom>
          <a:solidFill>
            <a:srgbClr val="D8DFDD"/>
          </a:solidFill>
        </p:spPr>
      </p:sp>
      <p:sp>
        <p:nvSpPr>
          <p:cNvPr name="TextBox 173" id="173"/>
          <p:cNvSpPr txBox="true"/>
          <p:nvPr/>
        </p:nvSpPr>
        <p:spPr>
          <a:xfrm rot="0">
            <a:off x="2849308" y="3907346"/>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174" id="174"/>
          <p:cNvSpPr/>
          <p:nvPr/>
        </p:nvSpPr>
        <p:spPr>
          <a:xfrm rot="0">
            <a:off x="5827109" y="4174046"/>
            <a:ext cx="1017080" cy="9525"/>
          </a:xfrm>
          <a:prstGeom prst="rect">
            <a:avLst/>
          </a:prstGeom>
          <a:solidFill>
            <a:srgbClr val="D8DFDD"/>
          </a:solidFill>
        </p:spPr>
      </p:sp>
      <p:sp>
        <p:nvSpPr>
          <p:cNvPr name="TextBox 175" id="175"/>
          <p:cNvSpPr txBox="true"/>
          <p:nvPr/>
        </p:nvSpPr>
        <p:spPr>
          <a:xfrm rot="0">
            <a:off x="5827109" y="3907346"/>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76" id="176"/>
          <p:cNvSpPr/>
          <p:nvPr/>
        </p:nvSpPr>
        <p:spPr>
          <a:xfrm rot="0">
            <a:off x="6844189" y="4174046"/>
            <a:ext cx="1197483" cy="9525"/>
          </a:xfrm>
          <a:prstGeom prst="rect">
            <a:avLst/>
          </a:prstGeom>
          <a:solidFill>
            <a:srgbClr val="D8DFDD"/>
          </a:solidFill>
        </p:spPr>
      </p:sp>
      <p:sp>
        <p:nvSpPr>
          <p:cNvPr name="TextBox 177" id="177"/>
          <p:cNvSpPr txBox="true"/>
          <p:nvPr/>
        </p:nvSpPr>
        <p:spPr>
          <a:xfrm rot="0">
            <a:off x="6844189" y="3907346"/>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64.36</a:t>
            </a:r>
          </a:p>
        </p:txBody>
      </p:sp>
      <p:sp>
        <p:nvSpPr>
          <p:cNvPr name="AutoShape 178" id="178"/>
          <p:cNvSpPr/>
          <p:nvPr/>
        </p:nvSpPr>
        <p:spPr>
          <a:xfrm rot="0">
            <a:off x="8041672" y="4174046"/>
            <a:ext cx="1354741" cy="9525"/>
          </a:xfrm>
          <a:prstGeom prst="rect">
            <a:avLst/>
          </a:prstGeom>
          <a:solidFill>
            <a:srgbClr val="D8DFDD"/>
          </a:solidFill>
        </p:spPr>
      </p:sp>
      <p:sp>
        <p:nvSpPr>
          <p:cNvPr name="TextBox 179" id="179"/>
          <p:cNvSpPr txBox="true"/>
          <p:nvPr/>
        </p:nvSpPr>
        <p:spPr>
          <a:xfrm rot="0">
            <a:off x="8041672" y="390734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72.68</a:t>
            </a:r>
          </a:p>
        </p:txBody>
      </p:sp>
      <p:sp>
        <p:nvSpPr>
          <p:cNvPr name="AutoShape 180" id="180"/>
          <p:cNvSpPr/>
          <p:nvPr/>
        </p:nvSpPr>
        <p:spPr>
          <a:xfrm rot="0">
            <a:off x="9396412" y="4174046"/>
            <a:ext cx="1354741" cy="9525"/>
          </a:xfrm>
          <a:prstGeom prst="rect">
            <a:avLst/>
          </a:prstGeom>
          <a:solidFill>
            <a:srgbClr val="D8DFDD"/>
          </a:solidFill>
        </p:spPr>
      </p:sp>
      <p:sp>
        <p:nvSpPr>
          <p:cNvPr name="TextBox 181" id="181"/>
          <p:cNvSpPr txBox="true"/>
          <p:nvPr/>
        </p:nvSpPr>
        <p:spPr>
          <a:xfrm rot="0">
            <a:off x="9396412" y="390734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70.79</a:t>
            </a:r>
          </a:p>
        </p:txBody>
      </p:sp>
      <p:sp>
        <p:nvSpPr>
          <p:cNvPr name="AutoShape 182" id="182"/>
          <p:cNvSpPr/>
          <p:nvPr/>
        </p:nvSpPr>
        <p:spPr>
          <a:xfrm rot="0">
            <a:off x="10751153" y="4174046"/>
            <a:ext cx="1354741" cy="9525"/>
          </a:xfrm>
          <a:prstGeom prst="rect">
            <a:avLst/>
          </a:prstGeom>
          <a:solidFill>
            <a:srgbClr val="D8DFDD"/>
          </a:solidFill>
        </p:spPr>
      </p:sp>
      <p:sp>
        <p:nvSpPr>
          <p:cNvPr name="TextBox 183" id="183"/>
          <p:cNvSpPr txBox="true"/>
          <p:nvPr/>
        </p:nvSpPr>
        <p:spPr>
          <a:xfrm rot="0">
            <a:off x="10751153" y="390734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61.10</a:t>
            </a:r>
          </a:p>
        </p:txBody>
      </p:sp>
      <p:sp>
        <p:nvSpPr>
          <p:cNvPr name="AutoShape 184" id="184"/>
          <p:cNvSpPr/>
          <p:nvPr/>
        </p:nvSpPr>
        <p:spPr>
          <a:xfrm rot="0">
            <a:off x="12105989" y="4174046"/>
            <a:ext cx="2333911" cy="9525"/>
          </a:xfrm>
          <a:prstGeom prst="rect">
            <a:avLst/>
          </a:prstGeom>
          <a:solidFill>
            <a:srgbClr val="D8DFDD"/>
          </a:solidFill>
        </p:spPr>
      </p:sp>
      <p:sp>
        <p:nvSpPr>
          <p:cNvPr name="TextBox 185" id="185"/>
          <p:cNvSpPr txBox="true"/>
          <p:nvPr/>
        </p:nvSpPr>
        <p:spPr>
          <a:xfrm rot="0">
            <a:off x="12105989" y="3907346"/>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68.19</a:t>
            </a:r>
          </a:p>
        </p:txBody>
      </p:sp>
      <p:sp>
        <p:nvSpPr>
          <p:cNvPr name="AutoShape 186" id="186"/>
          <p:cNvSpPr/>
          <p:nvPr/>
        </p:nvSpPr>
        <p:spPr>
          <a:xfrm rot="0">
            <a:off x="800100" y="4421696"/>
            <a:ext cx="2049208" cy="9525"/>
          </a:xfrm>
          <a:prstGeom prst="rect">
            <a:avLst/>
          </a:prstGeom>
          <a:solidFill>
            <a:srgbClr val="D8DFDD"/>
          </a:solidFill>
        </p:spPr>
      </p:sp>
      <p:sp>
        <p:nvSpPr>
          <p:cNvPr name="TextBox 187" id="187"/>
          <p:cNvSpPr txBox="true"/>
          <p:nvPr/>
        </p:nvSpPr>
        <p:spPr>
          <a:xfrm rot="0">
            <a:off x="800100" y="4154996"/>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188" id="188"/>
          <p:cNvSpPr/>
          <p:nvPr/>
        </p:nvSpPr>
        <p:spPr>
          <a:xfrm rot="0">
            <a:off x="2849308" y="4421696"/>
            <a:ext cx="2977801" cy="9525"/>
          </a:xfrm>
          <a:prstGeom prst="rect">
            <a:avLst/>
          </a:prstGeom>
          <a:solidFill>
            <a:srgbClr val="D8DFDD"/>
          </a:solidFill>
        </p:spPr>
      </p:sp>
      <p:sp>
        <p:nvSpPr>
          <p:cNvPr name="TextBox 189" id="189"/>
          <p:cNvSpPr txBox="true"/>
          <p:nvPr/>
        </p:nvSpPr>
        <p:spPr>
          <a:xfrm rot="0">
            <a:off x="2849308" y="4154996"/>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190" id="190"/>
          <p:cNvSpPr/>
          <p:nvPr/>
        </p:nvSpPr>
        <p:spPr>
          <a:xfrm rot="0">
            <a:off x="5827109" y="4421696"/>
            <a:ext cx="1017080" cy="9525"/>
          </a:xfrm>
          <a:prstGeom prst="rect">
            <a:avLst/>
          </a:prstGeom>
          <a:solidFill>
            <a:srgbClr val="D8DFDD"/>
          </a:solidFill>
        </p:spPr>
      </p:sp>
      <p:sp>
        <p:nvSpPr>
          <p:cNvPr name="TextBox 191" id="191"/>
          <p:cNvSpPr txBox="true"/>
          <p:nvPr/>
        </p:nvSpPr>
        <p:spPr>
          <a:xfrm rot="0">
            <a:off x="5827109" y="4154996"/>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192" id="192"/>
          <p:cNvSpPr/>
          <p:nvPr/>
        </p:nvSpPr>
        <p:spPr>
          <a:xfrm rot="0">
            <a:off x="6844189" y="4421696"/>
            <a:ext cx="1197483" cy="9525"/>
          </a:xfrm>
          <a:prstGeom prst="rect">
            <a:avLst/>
          </a:prstGeom>
          <a:solidFill>
            <a:srgbClr val="D8DFDD"/>
          </a:solidFill>
        </p:spPr>
      </p:sp>
      <p:sp>
        <p:nvSpPr>
          <p:cNvPr name="TextBox 193" id="193"/>
          <p:cNvSpPr txBox="true"/>
          <p:nvPr/>
        </p:nvSpPr>
        <p:spPr>
          <a:xfrm rot="0">
            <a:off x="6844189" y="4154996"/>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63.85</a:t>
            </a:r>
          </a:p>
        </p:txBody>
      </p:sp>
      <p:sp>
        <p:nvSpPr>
          <p:cNvPr name="AutoShape 194" id="194"/>
          <p:cNvSpPr/>
          <p:nvPr/>
        </p:nvSpPr>
        <p:spPr>
          <a:xfrm rot="0">
            <a:off x="8041672" y="4421696"/>
            <a:ext cx="1354741" cy="9525"/>
          </a:xfrm>
          <a:prstGeom prst="rect">
            <a:avLst/>
          </a:prstGeom>
          <a:solidFill>
            <a:srgbClr val="D8DFDD"/>
          </a:solidFill>
        </p:spPr>
      </p:sp>
      <p:sp>
        <p:nvSpPr>
          <p:cNvPr name="TextBox 195" id="195"/>
          <p:cNvSpPr txBox="true"/>
          <p:nvPr/>
        </p:nvSpPr>
        <p:spPr>
          <a:xfrm rot="0">
            <a:off x="8041672" y="415499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72.41</a:t>
            </a:r>
          </a:p>
        </p:txBody>
      </p:sp>
      <p:sp>
        <p:nvSpPr>
          <p:cNvPr name="AutoShape 196" id="196"/>
          <p:cNvSpPr/>
          <p:nvPr/>
        </p:nvSpPr>
        <p:spPr>
          <a:xfrm rot="0">
            <a:off x="9396412" y="4421696"/>
            <a:ext cx="1354741" cy="9525"/>
          </a:xfrm>
          <a:prstGeom prst="rect">
            <a:avLst/>
          </a:prstGeom>
          <a:solidFill>
            <a:srgbClr val="D8DFDD"/>
          </a:solidFill>
        </p:spPr>
      </p:sp>
      <p:sp>
        <p:nvSpPr>
          <p:cNvPr name="TextBox 197" id="197"/>
          <p:cNvSpPr txBox="true"/>
          <p:nvPr/>
        </p:nvSpPr>
        <p:spPr>
          <a:xfrm rot="0">
            <a:off x="9396412" y="415499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71.06</a:t>
            </a:r>
          </a:p>
        </p:txBody>
      </p:sp>
      <p:sp>
        <p:nvSpPr>
          <p:cNvPr name="AutoShape 198" id="198"/>
          <p:cNvSpPr/>
          <p:nvPr/>
        </p:nvSpPr>
        <p:spPr>
          <a:xfrm rot="0">
            <a:off x="10751153" y="4421696"/>
            <a:ext cx="1354741" cy="9525"/>
          </a:xfrm>
          <a:prstGeom prst="rect">
            <a:avLst/>
          </a:prstGeom>
          <a:solidFill>
            <a:srgbClr val="D8DFDD"/>
          </a:solidFill>
        </p:spPr>
      </p:sp>
      <p:sp>
        <p:nvSpPr>
          <p:cNvPr name="TextBox 199" id="199"/>
          <p:cNvSpPr txBox="true"/>
          <p:nvPr/>
        </p:nvSpPr>
        <p:spPr>
          <a:xfrm rot="0">
            <a:off x="10751153" y="4154996"/>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61.91</a:t>
            </a:r>
          </a:p>
        </p:txBody>
      </p:sp>
      <p:sp>
        <p:nvSpPr>
          <p:cNvPr name="AutoShape 200" id="200"/>
          <p:cNvSpPr/>
          <p:nvPr/>
        </p:nvSpPr>
        <p:spPr>
          <a:xfrm rot="0">
            <a:off x="12105989" y="4421696"/>
            <a:ext cx="2333911" cy="9525"/>
          </a:xfrm>
          <a:prstGeom prst="rect">
            <a:avLst/>
          </a:prstGeom>
          <a:solidFill>
            <a:srgbClr val="D8DFDD"/>
          </a:solidFill>
        </p:spPr>
      </p:sp>
      <p:sp>
        <p:nvSpPr>
          <p:cNvPr name="TextBox 201" id="201"/>
          <p:cNvSpPr txBox="true"/>
          <p:nvPr/>
        </p:nvSpPr>
        <p:spPr>
          <a:xfrm rot="0">
            <a:off x="12105989" y="4154996"/>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68.46</a:t>
            </a:r>
          </a:p>
        </p:txBody>
      </p:sp>
      <p:sp>
        <p:nvSpPr>
          <p:cNvPr name="AutoShape 202" id="202"/>
          <p:cNvSpPr/>
          <p:nvPr/>
        </p:nvSpPr>
        <p:spPr>
          <a:xfrm rot="0">
            <a:off x="800100" y="4669346"/>
            <a:ext cx="2049208" cy="9525"/>
          </a:xfrm>
          <a:prstGeom prst="rect">
            <a:avLst/>
          </a:prstGeom>
          <a:solidFill>
            <a:srgbClr val="D8DFDD"/>
          </a:solidFill>
        </p:spPr>
      </p:sp>
      <p:sp>
        <p:nvSpPr>
          <p:cNvPr name="TextBox 203" id="203"/>
          <p:cNvSpPr txBox="true"/>
          <p:nvPr/>
        </p:nvSpPr>
        <p:spPr>
          <a:xfrm rot="0">
            <a:off x="800100" y="4402645"/>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04" id="204"/>
          <p:cNvSpPr/>
          <p:nvPr/>
        </p:nvSpPr>
        <p:spPr>
          <a:xfrm rot="0">
            <a:off x="2849308" y="4669346"/>
            <a:ext cx="2977801" cy="9525"/>
          </a:xfrm>
          <a:prstGeom prst="rect">
            <a:avLst/>
          </a:prstGeom>
          <a:solidFill>
            <a:srgbClr val="D8DFDD"/>
          </a:solidFill>
        </p:spPr>
      </p:sp>
      <p:sp>
        <p:nvSpPr>
          <p:cNvPr name="TextBox 205" id="205"/>
          <p:cNvSpPr txBox="true"/>
          <p:nvPr/>
        </p:nvSpPr>
        <p:spPr>
          <a:xfrm rot="0">
            <a:off x="2849308" y="4402645"/>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206" id="206"/>
          <p:cNvSpPr/>
          <p:nvPr/>
        </p:nvSpPr>
        <p:spPr>
          <a:xfrm rot="0">
            <a:off x="5827109" y="4669346"/>
            <a:ext cx="1017080" cy="9525"/>
          </a:xfrm>
          <a:prstGeom prst="rect">
            <a:avLst/>
          </a:prstGeom>
          <a:solidFill>
            <a:srgbClr val="D8DFDD"/>
          </a:solidFill>
        </p:spPr>
      </p:sp>
      <p:sp>
        <p:nvSpPr>
          <p:cNvPr name="TextBox 207" id="207"/>
          <p:cNvSpPr txBox="true"/>
          <p:nvPr/>
        </p:nvSpPr>
        <p:spPr>
          <a:xfrm rot="0">
            <a:off x="5827109" y="4402645"/>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08" id="208"/>
          <p:cNvSpPr/>
          <p:nvPr/>
        </p:nvSpPr>
        <p:spPr>
          <a:xfrm rot="0">
            <a:off x="6844189" y="4669346"/>
            <a:ext cx="1197483" cy="9525"/>
          </a:xfrm>
          <a:prstGeom prst="rect">
            <a:avLst/>
          </a:prstGeom>
          <a:solidFill>
            <a:srgbClr val="D8DFDD"/>
          </a:solidFill>
        </p:spPr>
      </p:sp>
      <p:sp>
        <p:nvSpPr>
          <p:cNvPr name="TextBox 209" id="209"/>
          <p:cNvSpPr txBox="true"/>
          <p:nvPr/>
        </p:nvSpPr>
        <p:spPr>
          <a:xfrm rot="0">
            <a:off x="6844189" y="4402645"/>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47.87</a:t>
            </a:r>
          </a:p>
        </p:txBody>
      </p:sp>
      <p:sp>
        <p:nvSpPr>
          <p:cNvPr name="AutoShape 210" id="210"/>
          <p:cNvSpPr/>
          <p:nvPr/>
        </p:nvSpPr>
        <p:spPr>
          <a:xfrm rot="0">
            <a:off x="8041672" y="4669346"/>
            <a:ext cx="1354741" cy="9525"/>
          </a:xfrm>
          <a:prstGeom prst="rect">
            <a:avLst/>
          </a:prstGeom>
          <a:solidFill>
            <a:srgbClr val="D8DFDD"/>
          </a:solidFill>
        </p:spPr>
      </p:sp>
      <p:sp>
        <p:nvSpPr>
          <p:cNvPr name="TextBox 211" id="211"/>
          <p:cNvSpPr txBox="true"/>
          <p:nvPr/>
        </p:nvSpPr>
        <p:spPr>
          <a:xfrm rot="0">
            <a:off x="8041672" y="44026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56.24</a:t>
            </a:r>
          </a:p>
        </p:txBody>
      </p:sp>
      <p:sp>
        <p:nvSpPr>
          <p:cNvPr name="AutoShape 212" id="212"/>
          <p:cNvSpPr/>
          <p:nvPr/>
        </p:nvSpPr>
        <p:spPr>
          <a:xfrm rot="0">
            <a:off x="9396412" y="4669346"/>
            <a:ext cx="1354741" cy="9525"/>
          </a:xfrm>
          <a:prstGeom prst="rect">
            <a:avLst/>
          </a:prstGeom>
          <a:solidFill>
            <a:srgbClr val="D8DFDD"/>
          </a:solidFill>
        </p:spPr>
      </p:sp>
      <p:sp>
        <p:nvSpPr>
          <p:cNvPr name="TextBox 213" id="213"/>
          <p:cNvSpPr txBox="true"/>
          <p:nvPr/>
        </p:nvSpPr>
        <p:spPr>
          <a:xfrm rot="0">
            <a:off x="9396412" y="44026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51.84</a:t>
            </a:r>
          </a:p>
        </p:txBody>
      </p:sp>
      <p:sp>
        <p:nvSpPr>
          <p:cNvPr name="AutoShape 214" id="214"/>
          <p:cNvSpPr/>
          <p:nvPr/>
        </p:nvSpPr>
        <p:spPr>
          <a:xfrm rot="0">
            <a:off x="10751153" y="4669346"/>
            <a:ext cx="1354741" cy="9525"/>
          </a:xfrm>
          <a:prstGeom prst="rect">
            <a:avLst/>
          </a:prstGeom>
          <a:solidFill>
            <a:srgbClr val="D8DFDD"/>
          </a:solidFill>
        </p:spPr>
      </p:sp>
      <p:sp>
        <p:nvSpPr>
          <p:cNvPr name="TextBox 215" id="215"/>
          <p:cNvSpPr txBox="true"/>
          <p:nvPr/>
        </p:nvSpPr>
        <p:spPr>
          <a:xfrm rot="0">
            <a:off x="10751153" y="44026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44.07</a:t>
            </a:r>
          </a:p>
        </p:txBody>
      </p:sp>
      <p:sp>
        <p:nvSpPr>
          <p:cNvPr name="AutoShape 216" id="216"/>
          <p:cNvSpPr/>
          <p:nvPr/>
        </p:nvSpPr>
        <p:spPr>
          <a:xfrm rot="0">
            <a:off x="12105989" y="4669346"/>
            <a:ext cx="2333911" cy="9525"/>
          </a:xfrm>
          <a:prstGeom prst="rect">
            <a:avLst/>
          </a:prstGeom>
          <a:solidFill>
            <a:srgbClr val="D8DFDD"/>
          </a:solidFill>
        </p:spPr>
      </p:sp>
      <p:sp>
        <p:nvSpPr>
          <p:cNvPr name="TextBox 217" id="217"/>
          <p:cNvSpPr txBox="true"/>
          <p:nvPr/>
        </p:nvSpPr>
        <p:spPr>
          <a:xfrm rot="0">
            <a:off x="12105989" y="4402645"/>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50.72</a:t>
            </a:r>
          </a:p>
        </p:txBody>
      </p:sp>
      <p:sp>
        <p:nvSpPr>
          <p:cNvPr name="AutoShape 218" id="218"/>
          <p:cNvSpPr/>
          <p:nvPr/>
        </p:nvSpPr>
        <p:spPr>
          <a:xfrm rot="0">
            <a:off x="800100" y="4916996"/>
            <a:ext cx="2049208" cy="9525"/>
          </a:xfrm>
          <a:prstGeom prst="rect">
            <a:avLst/>
          </a:prstGeom>
          <a:solidFill>
            <a:srgbClr val="D8DFDD"/>
          </a:solidFill>
        </p:spPr>
      </p:sp>
      <p:sp>
        <p:nvSpPr>
          <p:cNvPr name="TextBox 219" id="219"/>
          <p:cNvSpPr txBox="true"/>
          <p:nvPr/>
        </p:nvSpPr>
        <p:spPr>
          <a:xfrm rot="0">
            <a:off x="800100" y="4650295"/>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20" id="220"/>
          <p:cNvSpPr/>
          <p:nvPr/>
        </p:nvSpPr>
        <p:spPr>
          <a:xfrm rot="0">
            <a:off x="2849308" y="4916996"/>
            <a:ext cx="2977801" cy="9525"/>
          </a:xfrm>
          <a:prstGeom prst="rect">
            <a:avLst/>
          </a:prstGeom>
          <a:solidFill>
            <a:srgbClr val="D8DFDD"/>
          </a:solidFill>
        </p:spPr>
      </p:sp>
      <p:sp>
        <p:nvSpPr>
          <p:cNvPr name="TextBox 221" id="221"/>
          <p:cNvSpPr txBox="true"/>
          <p:nvPr/>
        </p:nvSpPr>
        <p:spPr>
          <a:xfrm rot="0">
            <a:off x="2849308" y="4650295"/>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222" id="222"/>
          <p:cNvSpPr/>
          <p:nvPr/>
        </p:nvSpPr>
        <p:spPr>
          <a:xfrm rot="0">
            <a:off x="5827109" y="4916996"/>
            <a:ext cx="1017080" cy="9525"/>
          </a:xfrm>
          <a:prstGeom prst="rect">
            <a:avLst/>
          </a:prstGeom>
          <a:solidFill>
            <a:srgbClr val="D8DFDD"/>
          </a:solidFill>
        </p:spPr>
      </p:sp>
      <p:sp>
        <p:nvSpPr>
          <p:cNvPr name="TextBox 223" id="223"/>
          <p:cNvSpPr txBox="true"/>
          <p:nvPr/>
        </p:nvSpPr>
        <p:spPr>
          <a:xfrm rot="0">
            <a:off x="5827109" y="4650295"/>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24" id="224"/>
          <p:cNvSpPr/>
          <p:nvPr/>
        </p:nvSpPr>
        <p:spPr>
          <a:xfrm rot="0">
            <a:off x="6844189" y="4916996"/>
            <a:ext cx="1197483" cy="9525"/>
          </a:xfrm>
          <a:prstGeom prst="rect">
            <a:avLst/>
          </a:prstGeom>
          <a:solidFill>
            <a:srgbClr val="D8DFDD"/>
          </a:solidFill>
        </p:spPr>
      </p:sp>
      <p:sp>
        <p:nvSpPr>
          <p:cNvPr name="TextBox 225" id="225"/>
          <p:cNvSpPr txBox="true"/>
          <p:nvPr/>
        </p:nvSpPr>
        <p:spPr>
          <a:xfrm rot="0">
            <a:off x="6844189" y="4650295"/>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85.73</a:t>
            </a:r>
          </a:p>
        </p:txBody>
      </p:sp>
      <p:sp>
        <p:nvSpPr>
          <p:cNvPr name="AutoShape 226" id="226"/>
          <p:cNvSpPr/>
          <p:nvPr/>
        </p:nvSpPr>
        <p:spPr>
          <a:xfrm rot="0">
            <a:off x="8041672" y="4916996"/>
            <a:ext cx="1354741" cy="9525"/>
          </a:xfrm>
          <a:prstGeom prst="rect">
            <a:avLst/>
          </a:prstGeom>
          <a:solidFill>
            <a:srgbClr val="D8DFDD"/>
          </a:solidFill>
        </p:spPr>
      </p:sp>
      <p:sp>
        <p:nvSpPr>
          <p:cNvPr name="TextBox 227" id="227"/>
          <p:cNvSpPr txBox="true"/>
          <p:nvPr/>
        </p:nvSpPr>
        <p:spPr>
          <a:xfrm rot="0">
            <a:off x="8041672" y="465029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89.11</a:t>
            </a:r>
          </a:p>
        </p:txBody>
      </p:sp>
      <p:sp>
        <p:nvSpPr>
          <p:cNvPr name="AutoShape 228" id="228"/>
          <p:cNvSpPr/>
          <p:nvPr/>
        </p:nvSpPr>
        <p:spPr>
          <a:xfrm rot="0">
            <a:off x="9396412" y="4916996"/>
            <a:ext cx="1354741" cy="9525"/>
          </a:xfrm>
          <a:prstGeom prst="rect">
            <a:avLst/>
          </a:prstGeom>
          <a:solidFill>
            <a:srgbClr val="D8DFDD"/>
          </a:solidFill>
        </p:spPr>
      </p:sp>
      <p:sp>
        <p:nvSpPr>
          <p:cNvPr name="TextBox 229" id="229"/>
          <p:cNvSpPr txBox="true"/>
          <p:nvPr/>
        </p:nvSpPr>
        <p:spPr>
          <a:xfrm rot="0">
            <a:off x="9396412" y="465029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87.79</a:t>
            </a:r>
          </a:p>
        </p:txBody>
      </p:sp>
      <p:sp>
        <p:nvSpPr>
          <p:cNvPr name="AutoShape 230" id="230"/>
          <p:cNvSpPr/>
          <p:nvPr/>
        </p:nvSpPr>
        <p:spPr>
          <a:xfrm rot="0">
            <a:off x="10751153" y="4916996"/>
            <a:ext cx="1354741" cy="9525"/>
          </a:xfrm>
          <a:prstGeom prst="rect">
            <a:avLst/>
          </a:prstGeom>
          <a:solidFill>
            <a:srgbClr val="D8DFDD"/>
          </a:solidFill>
        </p:spPr>
      </p:sp>
      <p:sp>
        <p:nvSpPr>
          <p:cNvPr name="TextBox 231" id="231"/>
          <p:cNvSpPr txBox="true"/>
          <p:nvPr/>
        </p:nvSpPr>
        <p:spPr>
          <a:xfrm rot="0">
            <a:off x="10751153" y="465029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80.20</a:t>
            </a:r>
          </a:p>
        </p:txBody>
      </p:sp>
      <p:sp>
        <p:nvSpPr>
          <p:cNvPr name="AutoShape 232" id="232"/>
          <p:cNvSpPr/>
          <p:nvPr/>
        </p:nvSpPr>
        <p:spPr>
          <a:xfrm rot="0">
            <a:off x="12105989" y="4916996"/>
            <a:ext cx="2333911" cy="9525"/>
          </a:xfrm>
          <a:prstGeom prst="rect">
            <a:avLst/>
          </a:prstGeom>
          <a:solidFill>
            <a:srgbClr val="D8DFDD"/>
          </a:solidFill>
        </p:spPr>
      </p:sp>
      <p:sp>
        <p:nvSpPr>
          <p:cNvPr name="TextBox 233" id="233"/>
          <p:cNvSpPr txBox="true"/>
          <p:nvPr/>
        </p:nvSpPr>
        <p:spPr>
          <a:xfrm rot="0">
            <a:off x="12105989" y="4650295"/>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85.70</a:t>
            </a:r>
          </a:p>
        </p:txBody>
      </p:sp>
      <p:sp>
        <p:nvSpPr>
          <p:cNvPr name="AutoShape 234" id="234"/>
          <p:cNvSpPr/>
          <p:nvPr/>
        </p:nvSpPr>
        <p:spPr>
          <a:xfrm rot="0">
            <a:off x="800100" y="5164646"/>
            <a:ext cx="2049208" cy="9525"/>
          </a:xfrm>
          <a:prstGeom prst="rect">
            <a:avLst/>
          </a:prstGeom>
          <a:solidFill>
            <a:srgbClr val="D8DFDD"/>
          </a:solidFill>
        </p:spPr>
      </p:sp>
      <p:sp>
        <p:nvSpPr>
          <p:cNvPr name="TextBox 235" id="235"/>
          <p:cNvSpPr txBox="true"/>
          <p:nvPr/>
        </p:nvSpPr>
        <p:spPr>
          <a:xfrm rot="0">
            <a:off x="800100" y="4897945"/>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36" id="236"/>
          <p:cNvSpPr/>
          <p:nvPr/>
        </p:nvSpPr>
        <p:spPr>
          <a:xfrm rot="0">
            <a:off x="2849308" y="5164646"/>
            <a:ext cx="2977801" cy="9525"/>
          </a:xfrm>
          <a:prstGeom prst="rect">
            <a:avLst/>
          </a:prstGeom>
          <a:solidFill>
            <a:srgbClr val="D8DFDD"/>
          </a:solidFill>
        </p:spPr>
      </p:sp>
      <p:sp>
        <p:nvSpPr>
          <p:cNvPr name="TextBox 237" id="237"/>
          <p:cNvSpPr txBox="true"/>
          <p:nvPr/>
        </p:nvSpPr>
        <p:spPr>
          <a:xfrm rot="0">
            <a:off x="2849308" y="4897945"/>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238" id="238"/>
          <p:cNvSpPr/>
          <p:nvPr/>
        </p:nvSpPr>
        <p:spPr>
          <a:xfrm rot="0">
            <a:off x="5827109" y="5164646"/>
            <a:ext cx="1017080" cy="9525"/>
          </a:xfrm>
          <a:prstGeom prst="rect">
            <a:avLst/>
          </a:prstGeom>
          <a:solidFill>
            <a:srgbClr val="D8DFDD"/>
          </a:solidFill>
        </p:spPr>
      </p:sp>
      <p:sp>
        <p:nvSpPr>
          <p:cNvPr name="TextBox 239" id="239"/>
          <p:cNvSpPr txBox="true"/>
          <p:nvPr/>
        </p:nvSpPr>
        <p:spPr>
          <a:xfrm rot="0">
            <a:off x="5827109" y="4897945"/>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40" id="240"/>
          <p:cNvSpPr/>
          <p:nvPr/>
        </p:nvSpPr>
        <p:spPr>
          <a:xfrm rot="0">
            <a:off x="6844189" y="5164646"/>
            <a:ext cx="1197483" cy="9525"/>
          </a:xfrm>
          <a:prstGeom prst="rect">
            <a:avLst/>
          </a:prstGeom>
          <a:solidFill>
            <a:srgbClr val="D8DFDD"/>
          </a:solidFill>
        </p:spPr>
      </p:sp>
      <p:sp>
        <p:nvSpPr>
          <p:cNvPr name="TextBox 241" id="241"/>
          <p:cNvSpPr txBox="true"/>
          <p:nvPr/>
        </p:nvSpPr>
        <p:spPr>
          <a:xfrm rot="0">
            <a:off x="6844189" y="4897945"/>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85.69</a:t>
            </a:r>
          </a:p>
        </p:txBody>
      </p:sp>
      <p:sp>
        <p:nvSpPr>
          <p:cNvPr name="AutoShape 242" id="242"/>
          <p:cNvSpPr/>
          <p:nvPr/>
        </p:nvSpPr>
        <p:spPr>
          <a:xfrm rot="0">
            <a:off x="8041672" y="5164646"/>
            <a:ext cx="1354741" cy="9525"/>
          </a:xfrm>
          <a:prstGeom prst="rect">
            <a:avLst/>
          </a:prstGeom>
          <a:solidFill>
            <a:srgbClr val="D8DFDD"/>
          </a:solidFill>
        </p:spPr>
      </p:sp>
      <p:sp>
        <p:nvSpPr>
          <p:cNvPr name="TextBox 243" id="243"/>
          <p:cNvSpPr txBox="true"/>
          <p:nvPr/>
        </p:nvSpPr>
        <p:spPr>
          <a:xfrm rot="0">
            <a:off x="8041672" y="48979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89.44</a:t>
            </a:r>
          </a:p>
        </p:txBody>
      </p:sp>
      <p:sp>
        <p:nvSpPr>
          <p:cNvPr name="AutoShape 244" id="244"/>
          <p:cNvSpPr/>
          <p:nvPr/>
        </p:nvSpPr>
        <p:spPr>
          <a:xfrm rot="0">
            <a:off x="9396412" y="5164646"/>
            <a:ext cx="1354741" cy="9525"/>
          </a:xfrm>
          <a:prstGeom prst="rect">
            <a:avLst/>
          </a:prstGeom>
          <a:solidFill>
            <a:srgbClr val="D8DFDD"/>
          </a:solidFill>
        </p:spPr>
      </p:sp>
      <p:sp>
        <p:nvSpPr>
          <p:cNvPr name="TextBox 245" id="245"/>
          <p:cNvSpPr txBox="true"/>
          <p:nvPr/>
        </p:nvSpPr>
        <p:spPr>
          <a:xfrm rot="0">
            <a:off x="9396412" y="48979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88.12</a:t>
            </a:r>
          </a:p>
        </p:txBody>
      </p:sp>
      <p:sp>
        <p:nvSpPr>
          <p:cNvPr name="AutoShape 246" id="246"/>
          <p:cNvSpPr/>
          <p:nvPr/>
        </p:nvSpPr>
        <p:spPr>
          <a:xfrm rot="0">
            <a:off x="10751153" y="5164646"/>
            <a:ext cx="1354741" cy="9525"/>
          </a:xfrm>
          <a:prstGeom prst="rect">
            <a:avLst/>
          </a:prstGeom>
          <a:solidFill>
            <a:srgbClr val="D8DFDD"/>
          </a:solidFill>
        </p:spPr>
      </p:sp>
      <p:sp>
        <p:nvSpPr>
          <p:cNvPr name="TextBox 247" id="247"/>
          <p:cNvSpPr txBox="true"/>
          <p:nvPr/>
        </p:nvSpPr>
        <p:spPr>
          <a:xfrm rot="0">
            <a:off x="10751153" y="4897945"/>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82.51</a:t>
            </a:r>
          </a:p>
        </p:txBody>
      </p:sp>
      <p:sp>
        <p:nvSpPr>
          <p:cNvPr name="AutoShape 248" id="248"/>
          <p:cNvSpPr/>
          <p:nvPr/>
        </p:nvSpPr>
        <p:spPr>
          <a:xfrm rot="0">
            <a:off x="12105989" y="5164646"/>
            <a:ext cx="2333911" cy="9525"/>
          </a:xfrm>
          <a:prstGeom prst="rect">
            <a:avLst/>
          </a:prstGeom>
          <a:solidFill>
            <a:srgbClr val="D8DFDD"/>
          </a:solidFill>
        </p:spPr>
      </p:sp>
      <p:sp>
        <p:nvSpPr>
          <p:cNvPr name="TextBox 249" id="249"/>
          <p:cNvSpPr txBox="true"/>
          <p:nvPr/>
        </p:nvSpPr>
        <p:spPr>
          <a:xfrm rot="0">
            <a:off x="12105989" y="4897945"/>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86.69</a:t>
            </a:r>
          </a:p>
        </p:txBody>
      </p:sp>
      <p:sp>
        <p:nvSpPr>
          <p:cNvPr name="AutoShape 250" id="250"/>
          <p:cNvSpPr/>
          <p:nvPr/>
        </p:nvSpPr>
        <p:spPr>
          <a:xfrm rot="0">
            <a:off x="800100" y="5417058"/>
            <a:ext cx="2049208" cy="9525"/>
          </a:xfrm>
          <a:prstGeom prst="rect">
            <a:avLst/>
          </a:prstGeom>
          <a:solidFill>
            <a:srgbClr val="D8DFDD"/>
          </a:solidFill>
        </p:spPr>
      </p:sp>
      <p:sp>
        <p:nvSpPr>
          <p:cNvPr name="TextBox 251" id="251"/>
          <p:cNvSpPr txBox="true"/>
          <p:nvPr/>
        </p:nvSpPr>
        <p:spPr>
          <a:xfrm rot="0">
            <a:off x="800100" y="5145595"/>
            <a:ext cx="204920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a:t>
            </a:r>
          </a:p>
        </p:txBody>
      </p:sp>
      <p:sp>
        <p:nvSpPr>
          <p:cNvPr name="AutoShape 252" id="252"/>
          <p:cNvSpPr/>
          <p:nvPr/>
        </p:nvSpPr>
        <p:spPr>
          <a:xfrm rot="0">
            <a:off x="2849308" y="5417058"/>
            <a:ext cx="2977801" cy="9525"/>
          </a:xfrm>
          <a:prstGeom prst="rect">
            <a:avLst/>
          </a:prstGeom>
          <a:solidFill>
            <a:srgbClr val="D8DFDD"/>
          </a:solidFill>
        </p:spPr>
      </p:sp>
      <p:sp>
        <p:nvSpPr>
          <p:cNvPr name="TextBox 253" id="253"/>
          <p:cNvSpPr txBox="true"/>
          <p:nvPr/>
        </p:nvSpPr>
        <p:spPr>
          <a:xfrm rot="0">
            <a:off x="2849308" y="5145595"/>
            <a:ext cx="2977801"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254" id="254"/>
          <p:cNvSpPr/>
          <p:nvPr/>
        </p:nvSpPr>
        <p:spPr>
          <a:xfrm rot="0">
            <a:off x="5827109" y="5417058"/>
            <a:ext cx="1017080" cy="9525"/>
          </a:xfrm>
          <a:prstGeom prst="rect">
            <a:avLst/>
          </a:prstGeom>
          <a:solidFill>
            <a:srgbClr val="D8DFDD"/>
          </a:solidFill>
        </p:spPr>
      </p:sp>
      <p:sp>
        <p:nvSpPr>
          <p:cNvPr name="TextBox 255" id="255"/>
          <p:cNvSpPr txBox="true"/>
          <p:nvPr/>
        </p:nvSpPr>
        <p:spPr>
          <a:xfrm rot="0">
            <a:off x="5827109" y="5145595"/>
            <a:ext cx="101708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56" id="256"/>
          <p:cNvSpPr/>
          <p:nvPr/>
        </p:nvSpPr>
        <p:spPr>
          <a:xfrm rot="0">
            <a:off x="6844189" y="5417058"/>
            <a:ext cx="1197483" cy="9525"/>
          </a:xfrm>
          <a:prstGeom prst="rect">
            <a:avLst/>
          </a:prstGeom>
          <a:solidFill>
            <a:srgbClr val="D8DFDD"/>
          </a:solidFill>
        </p:spPr>
      </p:sp>
      <p:sp>
        <p:nvSpPr>
          <p:cNvPr name="TextBox 257" id="257"/>
          <p:cNvSpPr txBox="true"/>
          <p:nvPr/>
        </p:nvSpPr>
        <p:spPr>
          <a:xfrm rot="0">
            <a:off x="6844189" y="5145595"/>
            <a:ext cx="1197483"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84.26</a:t>
            </a:r>
          </a:p>
        </p:txBody>
      </p:sp>
      <p:sp>
        <p:nvSpPr>
          <p:cNvPr name="AutoShape 258" id="258"/>
          <p:cNvSpPr/>
          <p:nvPr/>
        </p:nvSpPr>
        <p:spPr>
          <a:xfrm rot="0">
            <a:off x="8041672" y="5417058"/>
            <a:ext cx="1354741" cy="9525"/>
          </a:xfrm>
          <a:prstGeom prst="rect">
            <a:avLst/>
          </a:prstGeom>
          <a:solidFill>
            <a:srgbClr val="D8DFDD"/>
          </a:solidFill>
        </p:spPr>
      </p:sp>
      <p:sp>
        <p:nvSpPr>
          <p:cNvPr name="TextBox 259" id="259"/>
          <p:cNvSpPr txBox="true"/>
          <p:nvPr/>
        </p:nvSpPr>
        <p:spPr>
          <a:xfrm rot="0">
            <a:off x="8041672" y="5145595"/>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86.97</a:t>
            </a:r>
          </a:p>
        </p:txBody>
      </p:sp>
      <p:sp>
        <p:nvSpPr>
          <p:cNvPr name="AutoShape 260" id="260"/>
          <p:cNvSpPr/>
          <p:nvPr/>
        </p:nvSpPr>
        <p:spPr>
          <a:xfrm rot="0">
            <a:off x="9396412" y="5417058"/>
            <a:ext cx="1354741" cy="9525"/>
          </a:xfrm>
          <a:prstGeom prst="rect">
            <a:avLst/>
          </a:prstGeom>
          <a:solidFill>
            <a:srgbClr val="D8DFDD"/>
          </a:solidFill>
        </p:spPr>
      </p:sp>
      <p:sp>
        <p:nvSpPr>
          <p:cNvPr name="TextBox 261" id="261"/>
          <p:cNvSpPr txBox="true"/>
          <p:nvPr/>
        </p:nvSpPr>
        <p:spPr>
          <a:xfrm rot="0">
            <a:off x="9396412" y="5145595"/>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86.32</a:t>
            </a:r>
          </a:p>
        </p:txBody>
      </p:sp>
      <p:sp>
        <p:nvSpPr>
          <p:cNvPr name="AutoShape 262" id="262"/>
          <p:cNvSpPr/>
          <p:nvPr/>
        </p:nvSpPr>
        <p:spPr>
          <a:xfrm rot="0">
            <a:off x="10751153" y="5417058"/>
            <a:ext cx="1354741" cy="9525"/>
          </a:xfrm>
          <a:prstGeom prst="rect">
            <a:avLst/>
          </a:prstGeom>
          <a:solidFill>
            <a:srgbClr val="D8DFDD"/>
          </a:solidFill>
        </p:spPr>
      </p:sp>
      <p:sp>
        <p:nvSpPr>
          <p:cNvPr name="TextBox 263" id="263"/>
          <p:cNvSpPr txBox="true"/>
          <p:nvPr/>
        </p:nvSpPr>
        <p:spPr>
          <a:xfrm rot="0">
            <a:off x="10751153" y="5145595"/>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79.15</a:t>
            </a:r>
          </a:p>
        </p:txBody>
      </p:sp>
      <p:sp>
        <p:nvSpPr>
          <p:cNvPr name="AutoShape 264" id="264"/>
          <p:cNvSpPr/>
          <p:nvPr/>
        </p:nvSpPr>
        <p:spPr>
          <a:xfrm rot="0">
            <a:off x="12105989" y="5417058"/>
            <a:ext cx="2333911" cy="9525"/>
          </a:xfrm>
          <a:prstGeom prst="rect">
            <a:avLst/>
          </a:prstGeom>
          <a:solidFill>
            <a:srgbClr val="D8DFDD"/>
          </a:solidFill>
        </p:spPr>
      </p:sp>
      <p:sp>
        <p:nvSpPr>
          <p:cNvPr name="TextBox 265" id="265"/>
          <p:cNvSpPr txBox="true"/>
          <p:nvPr/>
        </p:nvSpPr>
        <p:spPr>
          <a:xfrm rot="0">
            <a:off x="12105989" y="5145595"/>
            <a:ext cx="233391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84.15</a:t>
            </a:r>
          </a:p>
        </p:txBody>
      </p:sp>
      <p:sp>
        <p:nvSpPr>
          <p:cNvPr name="AutoShape 266" id="266"/>
          <p:cNvSpPr/>
          <p:nvPr/>
        </p:nvSpPr>
        <p:spPr>
          <a:xfrm rot="0">
            <a:off x="800100" y="5426583"/>
            <a:ext cx="2049208" cy="19050"/>
          </a:xfrm>
          <a:prstGeom prst="rect">
            <a:avLst/>
          </a:prstGeom>
          <a:solidFill>
            <a:srgbClr val="AEBDBB"/>
          </a:solidFill>
        </p:spPr>
      </p:sp>
      <p:sp>
        <p:nvSpPr>
          <p:cNvPr name="AutoShape 267" id="267"/>
          <p:cNvSpPr/>
          <p:nvPr/>
        </p:nvSpPr>
        <p:spPr>
          <a:xfrm rot="0">
            <a:off x="800100" y="5669470"/>
            <a:ext cx="2049208" cy="9525"/>
          </a:xfrm>
          <a:prstGeom prst="rect">
            <a:avLst/>
          </a:prstGeom>
          <a:solidFill>
            <a:srgbClr val="D8DFDD"/>
          </a:solidFill>
        </p:spPr>
      </p:sp>
      <p:sp>
        <p:nvSpPr>
          <p:cNvPr name="TextBox 268" id="268"/>
          <p:cNvSpPr txBox="true"/>
          <p:nvPr/>
        </p:nvSpPr>
        <p:spPr>
          <a:xfrm rot="0">
            <a:off x="800100" y="5398008"/>
            <a:ext cx="204920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269" id="269"/>
          <p:cNvSpPr/>
          <p:nvPr/>
        </p:nvSpPr>
        <p:spPr>
          <a:xfrm rot="0">
            <a:off x="2849308" y="5426583"/>
            <a:ext cx="2977801" cy="19050"/>
          </a:xfrm>
          <a:prstGeom prst="rect">
            <a:avLst/>
          </a:prstGeom>
          <a:solidFill>
            <a:srgbClr val="AEBDBB"/>
          </a:solidFill>
        </p:spPr>
      </p:sp>
      <p:sp>
        <p:nvSpPr>
          <p:cNvPr name="AutoShape 270" id="270"/>
          <p:cNvSpPr/>
          <p:nvPr/>
        </p:nvSpPr>
        <p:spPr>
          <a:xfrm rot="0">
            <a:off x="2849308" y="5669470"/>
            <a:ext cx="2977801" cy="9525"/>
          </a:xfrm>
          <a:prstGeom prst="rect">
            <a:avLst/>
          </a:prstGeom>
          <a:solidFill>
            <a:srgbClr val="D8DFDD"/>
          </a:solidFill>
        </p:spPr>
      </p:sp>
      <p:sp>
        <p:nvSpPr>
          <p:cNvPr name="TextBox 271" id="271"/>
          <p:cNvSpPr txBox="true"/>
          <p:nvPr/>
        </p:nvSpPr>
        <p:spPr>
          <a:xfrm rot="0">
            <a:off x="2849308" y="5398008"/>
            <a:ext cx="2977801"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272" id="272"/>
          <p:cNvSpPr/>
          <p:nvPr/>
        </p:nvSpPr>
        <p:spPr>
          <a:xfrm rot="0">
            <a:off x="5827109" y="5426583"/>
            <a:ext cx="1017080" cy="19050"/>
          </a:xfrm>
          <a:prstGeom prst="rect">
            <a:avLst/>
          </a:prstGeom>
          <a:solidFill>
            <a:srgbClr val="AEBDBB"/>
          </a:solidFill>
        </p:spPr>
      </p:sp>
      <p:sp>
        <p:nvSpPr>
          <p:cNvPr name="AutoShape 273" id="273"/>
          <p:cNvSpPr/>
          <p:nvPr/>
        </p:nvSpPr>
        <p:spPr>
          <a:xfrm rot="0">
            <a:off x="5827109" y="5669470"/>
            <a:ext cx="1017080" cy="9525"/>
          </a:xfrm>
          <a:prstGeom prst="rect">
            <a:avLst/>
          </a:prstGeom>
          <a:solidFill>
            <a:srgbClr val="D8DFDD"/>
          </a:solidFill>
        </p:spPr>
      </p:sp>
      <p:sp>
        <p:nvSpPr>
          <p:cNvPr name="TextBox 274" id="274"/>
          <p:cNvSpPr txBox="true"/>
          <p:nvPr/>
        </p:nvSpPr>
        <p:spPr>
          <a:xfrm rot="0">
            <a:off x="5827109" y="5398008"/>
            <a:ext cx="101708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75" id="275"/>
          <p:cNvSpPr/>
          <p:nvPr/>
        </p:nvSpPr>
        <p:spPr>
          <a:xfrm rot="0">
            <a:off x="6844189" y="5426583"/>
            <a:ext cx="1197483" cy="19050"/>
          </a:xfrm>
          <a:prstGeom prst="rect">
            <a:avLst/>
          </a:prstGeom>
          <a:solidFill>
            <a:srgbClr val="AEBDBB"/>
          </a:solidFill>
        </p:spPr>
      </p:sp>
      <p:sp>
        <p:nvSpPr>
          <p:cNvPr name="AutoShape 276" id="276"/>
          <p:cNvSpPr/>
          <p:nvPr/>
        </p:nvSpPr>
        <p:spPr>
          <a:xfrm rot="0">
            <a:off x="6844189" y="5669470"/>
            <a:ext cx="1197483" cy="9525"/>
          </a:xfrm>
          <a:prstGeom prst="rect">
            <a:avLst/>
          </a:prstGeom>
          <a:solidFill>
            <a:srgbClr val="D8DFDD"/>
          </a:solidFill>
        </p:spPr>
      </p:sp>
      <p:sp>
        <p:nvSpPr>
          <p:cNvPr name="TextBox 277" id="277"/>
          <p:cNvSpPr txBox="true"/>
          <p:nvPr/>
        </p:nvSpPr>
        <p:spPr>
          <a:xfrm rot="0">
            <a:off x="6844189" y="5398008"/>
            <a:ext cx="1197483"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65.70</a:t>
            </a:r>
          </a:p>
        </p:txBody>
      </p:sp>
      <p:sp>
        <p:nvSpPr>
          <p:cNvPr name="AutoShape 278" id="278"/>
          <p:cNvSpPr/>
          <p:nvPr/>
        </p:nvSpPr>
        <p:spPr>
          <a:xfrm rot="0">
            <a:off x="8041672" y="5426583"/>
            <a:ext cx="1354741" cy="19050"/>
          </a:xfrm>
          <a:prstGeom prst="rect">
            <a:avLst/>
          </a:prstGeom>
          <a:solidFill>
            <a:srgbClr val="AEBDBB"/>
          </a:solidFill>
        </p:spPr>
      </p:sp>
      <p:sp>
        <p:nvSpPr>
          <p:cNvPr name="AutoShape 279" id="279"/>
          <p:cNvSpPr/>
          <p:nvPr/>
        </p:nvSpPr>
        <p:spPr>
          <a:xfrm rot="0">
            <a:off x="8041672" y="5669470"/>
            <a:ext cx="1354741" cy="9525"/>
          </a:xfrm>
          <a:prstGeom prst="rect">
            <a:avLst/>
          </a:prstGeom>
          <a:solidFill>
            <a:srgbClr val="D8DFDD"/>
          </a:solidFill>
        </p:spPr>
      </p:sp>
      <p:sp>
        <p:nvSpPr>
          <p:cNvPr name="TextBox 280" id="280"/>
          <p:cNvSpPr txBox="true"/>
          <p:nvPr/>
        </p:nvSpPr>
        <p:spPr>
          <a:xfrm rot="0">
            <a:off x="8041672" y="539800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73.62</a:t>
            </a:r>
          </a:p>
        </p:txBody>
      </p:sp>
      <p:sp>
        <p:nvSpPr>
          <p:cNvPr name="AutoShape 281" id="281"/>
          <p:cNvSpPr/>
          <p:nvPr/>
        </p:nvSpPr>
        <p:spPr>
          <a:xfrm rot="0">
            <a:off x="9396412" y="5426583"/>
            <a:ext cx="1354741" cy="19050"/>
          </a:xfrm>
          <a:prstGeom prst="rect">
            <a:avLst/>
          </a:prstGeom>
          <a:solidFill>
            <a:srgbClr val="AEBDBB"/>
          </a:solidFill>
        </p:spPr>
      </p:sp>
      <p:sp>
        <p:nvSpPr>
          <p:cNvPr name="AutoShape 282" id="282"/>
          <p:cNvSpPr/>
          <p:nvPr/>
        </p:nvSpPr>
        <p:spPr>
          <a:xfrm rot="0">
            <a:off x="9396412" y="5669470"/>
            <a:ext cx="1354741" cy="9525"/>
          </a:xfrm>
          <a:prstGeom prst="rect">
            <a:avLst/>
          </a:prstGeom>
          <a:solidFill>
            <a:srgbClr val="D8DFDD"/>
          </a:solidFill>
        </p:spPr>
      </p:sp>
      <p:sp>
        <p:nvSpPr>
          <p:cNvPr name="TextBox 283" id="283"/>
          <p:cNvSpPr txBox="true"/>
          <p:nvPr/>
        </p:nvSpPr>
        <p:spPr>
          <a:xfrm rot="0">
            <a:off x="9396412" y="539800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72.46</a:t>
            </a:r>
          </a:p>
        </p:txBody>
      </p:sp>
      <p:sp>
        <p:nvSpPr>
          <p:cNvPr name="AutoShape 284" id="284"/>
          <p:cNvSpPr/>
          <p:nvPr/>
        </p:nvSpPr>
        <p:spPr>
          <a:xfrm rot="0">
            <a:off x="10751153" y="5426583"/>
            <a:ext cx="1354741" cy="19050"/>
          </a:xfrm>
          <a:prstGeom prst="rect">
            <a:avLst/>
          </a:prstGeom>
          <a:solidFill>
            <a:srgbClr val="AEBDBB"/>
          </a:solidFill>
        </p:spPr>
      </p:sp>
      <p:sp>
        <p:nvSpPr>
          <p:cNvPr name="AutoShape 285" id="285"/>
          <p:cNvSpPr/>
          <p:nvPr/>
        </p:nvSpPr>
        <p:spPr>
          <a:xfrm rot="0">
            <a:off x="10751153" y="5669470"/>
            <a:ext cx="1354741" cy="9525"/>
          </a:xfrm>
          <a:prstGeom prst="rect">
            <a:avLst/>
          </a:prstGeom>
          <a:solidFill>
            <a:srgbClr val="D8DFDD"/>
          </a:solidFill>
        </p:spPr>
      </p:sp>
      <p:sp>
        <p:nvSpPr>
          <p:cNvPr name="TextBox 286" id="286"/>
          <p:cNvSpPr txBox="true"/>
          <p:nvPr/>
        </p:nvSpPr>
        <p:spPr>
          <a:xfrm rot="0">
            <a:off x="10751153" y="5398008"/>
            <a:ext cx="135474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61.74</a:t>
            </a:r>
          </a:p>
        </p:txBody>
      </p:sp>
      <p:sp>
        <p:nvSpPr>
          <p:cNvPr name="AutoShape 287" id="287"/>
          <p:cNvSpPr/>
          <p:nvPr/>
        </p:nvSpPr>
        <p:spPr>
          <a:xfrm rot="0">
            <a:off x="12105989" y="5426583"/>
            <a:ext cx="2333911" cy="19050"/>
          </a:xfrm>
          <a:prstGeom prst="rect">
            <a:avLst/>
          </a:prstGeom>
          <a:solidFill>
            <a:srgbClr val="AEBDBB"/>
          </a:solidFill>
        </p:spPr>
      </p:sp>
      <p:sp>
        <p:nvSpPr>
          <p:cNvPr name="AutoShape 288" id="288"/>
          <p:cNvSpPr/>
          <p:nvPr/>
        </p:nvSpPr>
        <p:spPr>
          <a:xfrm rot="0">
            <a:off x="12105989" y="5669470"/>
            <a:ext cx="2333911" cy="9525"/>
          </a:xfrm>
          <a:prstGeom prst="rect">
            <a:avLst/>
          </a:prstGeom>
          <a:solidFill>
            <a:srgbClr val="D8DFDD"/>
          </a:solidFill>
        </p:spPr>
      </p:sp>
      <p:sp>
        <p:nvSpPr>
          <p:cNvPr name="TextBox 289" id="289"/>
          <p:cNvSpPr txBox="true"/>
          <p:nvPr/>
        </p:nvSpPr>
        <p:spPr>
          <a:xfrm rot="0">
            <a:off x="12105989" y="5398008"/>
            <a:ext cx="233391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69.28</a:t>
            </a:r>
          </a:p>
        </p:txBody>
      </p:sp>
      <p:sp>
        <p:nvSpPr>
          <p:cNvPr name="AutoShape 290" id="290"/>
          <p:cNvSpPr/>
          <p:nvPr/>
        </p:nvSpPr>
        <p:spPr>
          <a:xfrm rot="0">
            <a:off x="800100" y="5917120"/>
            <a:ext cx="2049208" cy="9525"/>
          </a:xfrm>
          <a:prstGeom prst="rect">
            <a:avLst/>
          </a:prstGeom>
          <a:solidFill>
            <a:srgbClr val="D8DFDD"/>
          </a:solidFill>
        </p:spPr>
      </p:sp>
      <p:sp>
        <p:nvSpPr>
          <p:cNvPr name="TextBox 291" id="291"/>
          <p:cNvSpPr txBox="true"/>
          <p:nvPr/>
        </p:nvSpPr>
        <p:spPr>
          <a:xfrm rot="0">
            <a:off x="800100" y="565042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292" id="292"/>
          <p:cNvSpPr/>
          <p:nvPr/>
        </p:nvSpPr>
        <p:spPr>
          <a:xfrm rot="0">
            <a:off x="2849308" y="5917120"/>
            <a:ext cx="2977801" cy="9525"/>
          </a:xfrm>
          <a:prstGeom prst="rect">
            <a:avLst/>
          </a:prstGeom>
          <a:solidFill>
            <a:srgbClr val="D8DFDD"/>
          </a:solidFill>
        </p:spPr>
      </p:sp>
      <p:sp>
        <p:nvSpPr>
          <p:cNvPr name="TextBox 293" id="293"/>
          <p:cNvSpPr txBox="true"/>
          <p:nvPr/>
        </p:nvSpPr>
        <p:spPr>
          <a:xfrm rot="0">
            <a:off x="2849308" y="565042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294" id="294"/>
          <p:cNvSpPr/>
          <p:nvPr/>
        </p:nvSpPr>
        <p:spPr>
          <a:xfrm rot="0">
            <a:off x="5827109" y="5917120"/>
            <a:ext cx="1017080" cy="9525"/>
          </a:xfrm>
          <a:prstGeom prst="rect">
            <a:avLst/>
          </a:prstGeom>
          <a:solidFill>
            <a:srgbClr val="D8DFDD"/>
          </a:solidFill>
        </p:spPr>
      </p:sp>
      <p:sp>
        <p:nvSpPr>
          <p:cNvPr name="TextBox 295" id="295"/>
          <p:cNvSpPr txBox="true"/>
          <p:nvPr/>
        </p:nvSpPr>
        <p:spPr>
          <a:xfrm rot="0">
            <a:off x="5827109" y="565042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296" id="296"/>
          <p:cNvSpPr/>
          <p:nvPr/>
        </p:nvSpPr>
        <p:spPr>
          <a:xfrm rot="0">
            <a:off x="6844189" y="5917120"/>
            <a:ext cx="1197483" cy="9525"/>
          </a:xfrm>
          <a:prstGeom prst="rect">
            <a:avLst/>
          </a:prstGeom>
          <a:solidFill>
            <a:srgbClr val="D8DFDD"/>
          </a:solidFill>
        </p:spPr>
      </p:sp>
      <p:sp>
        <p:nvSpPr>
          <p:cNvPr name="TextBox 297" id="297"/>
          <p:cNvSpPr txBox="true"/>
          <p:nvPr/>
        </p:nvSpPr>
        <p:spPr>
          <a:xfrm rot="0">
            <a:off x="6844189" y="565042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79.71</a:t>
            </a:r>
          </a:p>
        </p:txBody>
      </p:sp>
      <p:sp>
        <p:nvSpPr>
          <p:cNvPr name="AutoShape 298" id="298"/>
          <p:cNvSpPr/>
          <p:nvPr/>
        </p:nvSpPr>
        <p:spPr>
          <a:xfrm rot="0">
            <a:off x="8041672" y="5917120"/>
            <a:ext cx="1354741" cy="9525"/>
          </a:xfrm>
          <a:prstGeom prst="rect">
            <a:avLst/>
          </a:prstGeom>
          <a:solidFill>
            <a:srgbClr val="D8DFDD"/>
          </a:solidFill>
        </p:spPr>
      </p:sp>
      <p:sp>
        <p:nvSpPr>
          <p:cNvPr name="TextBox 299" id="299"/>
          <p:cNvSpPr txBox="true"/>
          <p:nvPr/>
        </p:nvSpPr>
        <p:spPr>
          <a:xfrm rot="0">
            <a:off x="8041672" y="56504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84.98</a:t>
            </a:r>
          </a:p>
        </p:txBody>
      </p:sp>
      <p:sp>
        <p:nvSpPr>
          <p:cNvPr name="AutoShape 300" id="300"/>
          <p:cNvSpPr/>
          <p:nvPr/>
        </p:nvSpPr>
        <p:spPr>
          <a:xfrm rot="0">
            <a:off x="9396412" y="5917120"/>
            <a:ext cx="1354741" cy="9525"/>
          </a:xfrm>
          <a:prstGeom prst="rect">
            <a:avLst/>
          </a:prstGeom>
          <a:solidFill>
            <a:srgbClr val="D8DFDD"/>
          </a:solidFill>
        </p:spPr>
      </p:sp>
      <p:sp>
        <p:nvSpPr>
          <p:cNvPr name="TextBox 301" id="301"/>
          <p:cNvSpPr txBox="true"/>
          <p:nvPr/>
        </p:nvSpPr>
        <p:spPr>
          <a:xfrm rot="0">
            <a:off x="9396412" y="56504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83.39</a:t>
            </a:r>
          </a:p>
        </p:txBody>
      </p:sp>
      <p:sp>
        <p:nvSpPr>
          <p:cNvPr name="AutoShape 302" id="302"/>
          <p:cNvSpPr/>
          <p:nvPr/>
        </p:nvSpPr>
        <p:spPr>
          <a:xfrm rot="0">
            <a:off x="10751153" y="5917120"/>
            <a:ext cx="1354741" cy="9525"/>
          </a:xfrm>
          <a:prstGeom prst="rect">
            <a:avLst/>
          </a:prstGeom>
          <a:solidFill>
            <a:srgbClr val="D8DFDD"/>
          </a:solidFill>
        </p:spPr>
      </p:sp>
      <p:sp>
        <p:nvSpPr>
          <p:cNvPr name="TextBox 303" id="303"/>
          <p:cNvSpPr txBox="true"/>
          <p:nvPr/>
        </p:nvSpPr>
        <p:spPr>
          <a:xfrm rot="0">
            <a:off x="10751153" y="56504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73.48</a:t>
            </a:r>
          </a:p>
        </p:txBody>
      </p:sp>
      <p:sp>
        <p:nvSpPr>
          <p:cNvPr name="AutoShape 304" id="304"/>
          <p:cNvSpPr/>
          <p:nvPr/>
        </p:nvSpPr>
        <p:spPr>
          <a:xfrm rot="0">
            <a:off x="12105989" y="5917120"/>
            <a:ext cx="2333911" cy="9525"/>
          </a:xfrm>
          <a:prstGeom prst="rect">
            <a:avLst/>
          </a:prstGeom>
          <a:solidFill>
            <a:srgbClr val="D8DFDD"/>
          </a:solidFill>
        </p:spPr>
      </p:sp>
      <p:sp>
        <p:nvSpPr>
          <p:cNvPr name="TextBox 305" id="305"/>
          <p:cNvSpPr txBox="true"/>
          <p:nvPr/>
        </p:nvSpPr>
        <p:spPr>
          <a:xfrm rot="0">
            <a:off x="12105989" y="565042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80.62</a:t>
            </a:r>
          </a:p>
        </p:txBody>
      </p:sp>
      <p:sp>
        <p:nvSpPr>
          <p:cNvPr name="AutoShape 306" id="306"/>
          <p:cNvSpPr/>
          <p:nvPr/>
        </p:nvSpPr>
        <p:spPr>
          <a:xfrm rot="0">
            <a:off x="800100" y="6164770"/>
            <a:ext cx="2049208" cy="9525"/>
          </a:xfrm>
          <a:prstGeom prst="rect">
            <a:avLst/>
          </a:prstGeom>
          <a:solidFill>
            <a:srgbClr val="D8DFDD"/>
          </a:solidFill>
        </p:spPr>
      </p:sp>
      <p:sp>
        <p:nvSpPr>
          <p:cNvPr name="TextBox 307" id="307"/>
          <p:cNvSpPr txBox="true"/>
          <p:nvPr/>
        </p:nvSpPr>
        <p:spPr>
          <a:xfrm rot="0">
            <a:off x="800100" y="58980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08" id="308"/>
          <p:cNvSpPr/>
          <p:nvPr/>
        </p:nvSpPr>
        <p:spPr>
          <a:xfrm rot="0">
            <a:off x="2849308" y="6164770"/>
            <a:ext cx="2977801" cy="9525"/>
          </a:xfrm>
          <a:prstGeom prst="rect">
            <a:avLst/>
          </a:prstGeom>
          <a:solidFill>
            <a:srgbClr val="D8DFDD"/>
          </a:solidFill>
        </p:spPr>
      </p:sp>
      <p:sp>
        <p:nvSpPr>
          <p:cNvPr name="TextBox 309" id="309"/>
          <p:cNvSpPr txBox="true"/>
          <p:nvPr/>
        </p:nvSpPr>
        <p:spPr>
          <a:xfrm rot="0">
            <a:off x="2849308" y="58980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310" id="310"/>
          <p:cNvSpPr/>
          <p:nvPr/>
        </p:nvSpPr>
        <p:spPr>
          <a:xfrm rot="0">
            <a:off x="5827109" y="6164770"/>
            <a:ext cx="1017080" cy="9525"/>
          </a:xfrm>
          <a:prstGeom prst="rect">
            <a:avLst/>
          </a:prstGeom>
          <a:solidFill>
            <a:srgbClr val="D8DFDD"/>
          </a:solidFill>
        </p:spPr>
      </p:sp>
      <p:sp>
        <p:nvSpPr>
          <p:cNvPr name="TextBox 311" id="311"/>
          <p:cNvSpPr txBox="true"/>
          <p:nvPr/>
        </p:nvSpPr>
        <p:spPr>
          <a:xfrm rot="0">
            <a:off x="5827109" y="58980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12" id="312"/>
          <p:cNvSpPr/>
          <p:nvPr/>
        </p:nvSpPr>
        <p:spPr>
          <a:xfrm rot="0">
            <a:off x="6844189" y="6164770"/>
            <a:ext cx="1197483" cy="9525"/>
          </a:xfrm>
          <a:prstGeom prst="rect">
            <a:avLst/>
          </a:prstGeom>
          <a:solidFill>
            <a:srgbClr val="D8DFDD"/>
          </a:solidFill>
        </p:spPr>
      </p:sp>
      <p:sp>
        <p:nvSpPr>
          <p:cNvPr name="TextBox 313" id="313"/>
          <p:cNvSpPr txBox="true"/>
          <p:nvPr/>
        </p:nvSpPr>
        <p:spPr>
          <a:xfrm rot="0">
            <a:off x="6844189" y="58980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82.06</a:t>
            </a:r>
          </a:p>
        </p:txBody>
      </p:sp>
      <p:sp>
        <p:nvSpPr>
          <p:cNvPr name="AutoShape 314" id="314"/>
          <p:cNvSpPr/>
          <p:nvPr/>
        </p:nvSpPr>
        <p:spPr>
          <a:xfrm rot="0">
            <a:off x="8041672" y="6164770"/>
            <a:ext cx="1354741" cy="9525"/>
          </a:xfrm>
          <a:prstGeom prst="rect">
            <a:avLst/>
          </a:prstGeom>
          <a:solidFill>
            <a:srgbClr val="D8DFDD"/>
          </a:solidFill>
        </p:spPr>
      </p:sp>
      <p:sp>
        <p:nvSpPr>
          <p:cNvPr name="TextBox 315" id="315"/>
          <p:cNvSpPr txBox="true"/>
          <p:nvPr/>
        </p:nvSpPr>
        <p:spPr>
          <a:xfrm rot="0">
            <a:off x="8041672" y="58980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85.85</a:t>
            </a:r>
          </a:p>
        </p:txBody>
      </p:sp>
      <p:sp>
        <p:nvSpPr>
          <p:cNvPr name="AutoShape 316" id="316"/>
          <p:cNvSpPr/>
          <p:nvPr/>
        </p:nvSpPr>
        <p:spPr>
          <a:xfrm rot="0">
            <a:off x="9396412" y="6164770"/>
            <a:ext cx="1354741" cy="9525"/>
          </a:xfrm>
          <a:prstGeom prst="rect">
            <a:avLst/>
          </a:prstGeom>
          <a:solidFill>
            <a:srgbClr val="D8DFDD"/>
          </a:solidFill>
        </p:spPr>
      </p:sp>
      <p:sp>
        <p:nvSpPr>
          <p:cNvPr name="TextBox 317" id="317"/>
          <p:cNvSpPr txBox="true"/>
          <p:nvPr/>
        </p:nvSpPr>
        <p:spPr>
          <a:xfrm rot="0">
            <a:off x="9396412" y="58980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83.90</a:t>
            </a:r>
          </a:p>
        </p:txBody>
      </p:sp>
      <p:sp>
        <p:nvSpPr>
          <p:cNvPr name="AutoShape 318" id="318"/>
          <p:cNvSpPr/>
          <p:nvPr/>
        </p:nvSpPr>
        <p:spPr>
          <a:xfrm rot="0">
            <a:off x="10751153" y="6164770"/>
            <a:ext cx="1354741" cy="9525"/>
          </a:xfrm>
          <a:prstGeom prst="rect">
            <a:avLst/>
          </a:prstGeom>
          <a:solidFill>
            <a:srgbClr val="D8DFDD"/>
          </a:solidFill>
        </p:spPr>
      </p:sp>
      <p:sp>
        <p:nvSpPr>
          <p:cNvPr name="TextBox 319" id="319"/>
          <p:cNvSpPr txBox="true"/>
          <p:nvPr/>
        </p:nvSpPr>
        <p:spPr>
          <a:xfrm rot="0">
            <a:off x="10751153" y="58980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74.47</a:t>
            </a:r>
          </a:p>
        </p:txBody>
      </p:sp>
      <p:sp>
        <p:nvSpPr>
          <p:cNvPr name="AutoShape 320" id="320"/>
          <p:cNvSpPr/>
          <p:nvPr/>
        </p:nvSpPr>
        <p:spPr>
          <a:xfrm rot="0">
            <a:off x="12105989" y="6164770"/>
            <a:ext cx="2333911" cy="9525"/>
          </a:xfrm>
          <a:prstGeom prst="rect">
            <a:avLst/>
          </a:prstGeom>
          <a:solidFill>
            <a:srgbClr val="D8DFDD"/>
          </a:solidFill>
        </p:spPr>
      </p:sp>
      <p:sp>
        <p:nvSpPr>
          <p:cNvPr name="TextBox 321" id="321"/>
          <p:cNvSpPr txBox="true"/>
          <p:nvPr/>
        </p:nvSpPr>
        <p:spPr>
          <a:xfrm rot="0">
            <a:off x="12105989" y="58980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81.41</a:t>
            </a:r>
          </a:p>
        </p:txBody>
      </p:sp>
      <p:sp>
        <p:nvSpPr>
          <p:cNvPr name="AutoShape 322" id="322"/>
          <p:cNvSpPr/>
          <p:nvPr/>
        </p:nvSpPr>
        <p:spPr>
          <a:xfrm rot="0">
            <a:off x="800100" y="6412420"/>
            <a:ext cx="2049208" cy="9525"/>
          </a:xfrm>
          <a:prstGeom prst="rect">
            <a:avLst/>
          </a:prstGeom>
          <a:solidFill>
            <a:srgbClr val="D8DFDD"/>
          </a:solidFill>
        </p:spPr>
      </p:sp>
      <p:sp>
        <p:nvSpPr>
          <p:cNvPr name="TextBox 323" id="323"/>
          <p:cNvSpPr txBox="true"/>
          <p:nvPr/>
        </p:nvSpPr>
        <p:spPr>
          <a:xfrm rot="0">
            <a:off x="800100" y="614572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24" id="324"/>
          <p:cNvSpPr/>
          <p:nvPr/>
        </p:nvSpPr>
        <p:spPr>
          <a:xfrm rot="0">
            <a:off x="2849308" y="6412420"/>
            <a:ext cx="2977801" cy="9525"/>
          </a:xfrm>
          <a:prstGeom prst="rect">
            <a:avLst/>
          </a:prstGeom>
          <a:solidFill>
            <a:srgbClr val="D8DFDD"/>
          </a:solidFill>
        </p:spPr>
      </p:sp>
      <p:sp>
        <p:nvSpPr>
          <p:cNvPr name="TextBox 325" id="325"/>
          <p:cNvSpPr txBox="true"/>
          <p:nvPr/>
        </p:nvSpPr>
        <p:spPr>
          <a:xfrm rot="0">
            <a:off x="2849308" y="614572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326" id="326"/>
          <p:cNvSpPr/>
          <p:nvPr/>
        </p:nvSpPr>
        <p:spPr>
          <a:xfrm rot="0">
            <a:off x="5827109" y="6412420"/>
            <a:ext cx="1017080" cy="9525"/>
          </a:xfrm>
          <a:prstGeom prst="rect">
            <a:avLst/>
          </a:prstGeom>
          <a:solidFill>
            <a:srgbClr val="D8DFDD"/>
          </a:solidFill>
        </p:spPr>
      </p:sp>
      <p:sp>
        <p:nvSpPr>
          <p:cNvPr name="TextBox 327" id="327"/>
          <p:cNvSpPr txBox="true"/>
          <p:nvPr/>
        </p:nvSpPr>
        <p:spPr>
          <a:xfrm rot="0">
            <a:off x="5827109" y="614572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28" id="328"/>
          <p:cNvSpPr/>
          <p:nvPr/>
        </p:nvSpPr>
        <p:spPr>
          <a:xfrm rot="0">
            <a:off x="6844189" y="6412420"/>
            <a:ext cx="1197483" cy="9525"/>
          </a:xfrm>
          <a:prstGeom prst="rect">
            <a:avLst/>
          </a:prstGeom>
          <a:solidFill>
            <a:srgbClr val="D8DFDD"/>
          </a:solidFill>
        </p:spPr>
      </p:sp>
      <p:sp>
        <p:nvSpPr>
          <p:cNvPr name="TextBox 329" id="329"/>
          <p:cNvSpPr txBox="true"/>
          <p:nvPr/>
        </p:nvSpPr>
        <p:spPr>
          <a:xfrm rot="0">
            <a:off x="6844189" y="614572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48.10</a:t>
            </a:r>
          </a:p>
        </p:txBody>
      </p:sp>
      <p:sp>
        <p:nvSpPr>
          <p:cNvPr name="AutoShape 330" id="330"/>
          <p:cNvSpPr/>
          <p:nvPr/>
        </p:nvSpPr>
        <p:spPr>
          <a:xfrm rot="0">
            <a:off x="8041672" y="6412420"/>
            <a:ext cx="1354741" cy="9525"/>
          </a:xfrm>
          <a:prstGeom prst="rect">
            <a:avLst/>
          </a:prstGeom>
          <a:solidFill>
            <a:srgbClr val="D8DFDD"/>
          </a:solidFill>
        </p:spPr>
      </p:sp>
      <p:sp>
        <p:nvSpPr>
          <p:cNvPr name="TextBox 331" id="331"/>
          <p:cNvSpPr txBox="true"/>
          <p:nvPr/>
        </p:nvSpPr>
        <p:spPr>
          <a:xfrm rot="0">
            <a:off x="8041672" y="61457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53.93</a:t>
            </a:r>
          </a:p>
        </p:txBody>
      </p:sp>
      <p:sp>
        <p:nvSpPr>
          <p:cNvPr name="AutoShape 332" id="332"/>
          <p:cNvSpPr/>
          <p:nvPr/>
        </p:nvSpPr>
        <p:spPr>
          <a:xfrm rot="0">
            <a:off x="9396412" y="6412420"/>
            <a:ext cx="1354741" cy="9525"/>
          </a:xfrm>
          <a:prstGeom prst="rect">
            <a:avLst/>
          </a:prstGeom>
          <a:solidFill>
            <a:srgbClr val="D8DFDD"/>
          </a:solidFill>
        </p:spPr>
      </p:sp>
      <p:sp>
        <p:nvSpPr>
          <p:cNvPr name="TextBox 333" id="333"/>
          <p:cNvSpPr txBox="true"/>
          <p:nvPr/>
        </p:nvSpPr>
        <p:spPr>
          <a:xfrm rot="0">
            <a:off x="9396412" y="61457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50.53</a:t>
            </a:r>
          </a:p>
        </p:txBody>
      </p:sp>
      <p:sp>
        <p:nvSpPr>
          <p:cNvPr name="AutoShape 334" id="334"/>
          <p:cNvSpPr/>
          <p:nvPr/>
        </p:nvSpPr>
        <p:spPr>
          <a:xfrm rot="0">
            <a:off x="10751153" y="6412420"/>
            <a:ext cx="1354741" cy="9525"/>
          </a:xfrm>
          <a:prstGeom prst="rect">
            <a:avLst/>
          </a:prstGeom>
          <a:solidFill>
            <a:srgbClr val="D8DFDD"/>
          </a:solidFill>
        </p:spPr>
      </p:sp>
      <p:sp>
        <p:nvSpPr>
          <p:cNvPr name="TextBox 335" id="335"/>
          <p:cNvSpPr txBox="true"/>
          <p:nvPr/>
        </p:nvSpPr>
        <p:spPr>
          <a:xfrm rot="0">
            <a:off x="10751153" y="61457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38.22</a:t>
            </a:r>
          </a:p>
        </p:txBody>
      </p:sp>
      <p:sp>
        <p:nvSpPr>
          <p:cNvPr name="AutoShape 336" id="336"/>
          <p:cNvSpPr/>
          <p:nvPr/>
        </p:nvSpPr>
        <p:spPr>
          <a:xfrm rot="0">
            <a:off x="12105989" y="6412420"/>
            <a:ext cx="2333911" cy="9525"/>
          </a:xfrm>
          <a:prstGeom prst="rect">
            <a:avLst/>
          </a:prstGeom>
          <a:solidFill>
            <a:srgbClr val="D8DFDD"/>
          </a:solidFill>
        </p:spPr>
      </p:sp>
      <p:sp>
        <p:nvSpPr>
          <p:cNvPr name="TextBox 337" id="337"/>
          <p:cNvSpPr txBox="true"/>
          <p:nvPr/>
        </p:nvSpPr>
        <p:spPr>
          <a:xfrm rot="0">
            <a:off x="12105989" y="614572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47.56</a:t>
            </a:r>
          </a:p>
        </p:txBody>
      </p:sp>
      <p:sp>
        <p:nvSpPr>
          <p:cNvPr name="AutoShape 338" id="338"/>
          <p:cNvSpPr/>
          <p:nvPr/>
        </p:nvSpPr>
        <p:spPr>
          <a:xfrm rot="0">
            <a:off x="800100" y="6660070"/>
            <a:ext cx="2049208" cy="9525"/>
          </a:xfrm>
          <a:prstGeom prst="rect">
            <a:avLst/>
          </a:prstGeom>
          <a:solidFill>
            <a:srgbClr val="D8DFDD"/>
          </a:solidFill>
        </p:spPr>
      </p:sp>
      <p:sp>
        <p:nvSpPr>
          <p:cNvPr name="TextBox 339" id="339"/>
          <p:cNvSpPr txBox="true"/>
          <p:nvPr/>
        </p:nvSpPr>
        <p:spPr>
          <a:xfrm rot="0">
            <a:off x="800100" y="63933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40" id="340"/>
          <p:cNvSpPr/>
          <p:nvPr/>
        </p:nvSpPr>
        <p:spPr>
          <a:xfrm rot="0">
            <a:off x="2849308" y="6660070"/>
            <a:ext cx="2977801" cy="9525"/>
          </a:xfrm>
          <a:prstGeom prst="rect">
            <a:avLst/>
          </a:prstGeom>
          <a:solidFill>
            <a:srgbClr val="D8DFDD"/>
          </a:solidFill>
        </p:spPr>
      </p:sp>
      <p:sp>
        <p:nvSpPr>
          <p:cNvPr name="TextBox 341" id="341"/>
          <p:cNvSpPr txBox="true"/>
          <p:nvPr/>
        </p:nvSpPr>
        <p:spPr>
          <a:xfrm rot="0">
            <a:off x="2849308" y="63933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342" id="342"/>
          <p:cNvSpPr/>
          <p:nvPr/>
        </p:nvSpPr>
        <p:spPr>
          <a:xfrm rot="0">
            <a:off x="5827109" y="6660070"/>
            <a:ext cx="1017080" cy="9525"/>
          </a:xfrm>
          <a:prstGeom prst="rect">
            <a:avLst/>
          </a:prstGeom>
          <a:solidFill>
            <a:srgbClr val="D8DFDD"/>
          </a:solidFill>
        </p:spPr>
      </p:sp>
      <p:sp>
        <p:nvSpPr>
          <p:cNvPr name="TextBox 343" id="343"/>
          <p:cNvSpPr txBox="true"/>
          <p:nvPr/>
        </p:nvSpPr>
        <p:spPr>
          <a:xfrm rot="0">
            <a:off x="5827109" y="63933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344" id="344"/>
          <p:cNvSpPr/>
          <p:nvPr/>
        </p:nvSpPr>
        <p:spPr>
          <a:xfrm rot="0">
            <a:off x="6844189" y="6660070"/>
            <a:ext cx="1197483" cy="9525"/>
          </a:xfrm>
          <a:prstGeom prst="rect">
            <a:avLst/>
          </a:prstGeom>
          <a:solidFill>
            <a:srgbClr val="D8DFDD"/>
          </a:solidFill>
        </p:spPr>
      </p:sp>
      <p:sp>
        <p:nvSpPr>
          <p:cNvPr name="TextBox 345" id="345"/>
          <p:cNvSpPr txBox="true"/>
          <p:nvPr/>
        </p:nvSpPr>
        <p:spPr>
          <a:xfrm rot="0">
            <a:off x="6844189" y="63933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81.81</a:t>
            </a:r>
          </a:p>
        </p:txBody>
      </p:sp>
      <p:sp>
        <p:nvSpPr>
          <p:cNvPr name="AutoShape 346" id="346"/>
          <p:cNvSpPr/>
          <p:nvPr/>
        </p:nvSpPr>
        <p:spPr>
          <a:xfrm rot="0">
            <a:off x="8041672" y="6660070"/>
            <a:ext cx="1354741" cy="9525"/>
          </a:xfrm>
          <a:prstGeom prst="rect">
            <a:avLst/>
          </a:prstGeom>
          <a:solidFill>
            <a:srgbClr val="D8DFDD"/>
          </a:solidFill>
        </p:spPr>
      </p:sp>
      <p:sp>
        <p:nvSpPr>
          <p:cNvPr name="TextBox 347" id="347"/>
          <p:cNvSpPr txBox="true"/>
          <p:nvPr/>
        </p:nvSpPr>
        <p:spPr>
          <a:xfrm rot="0">
            <a:off x="8041672" y="63933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85.01</a:t>
            </a:r>
          </a:p>
        </p:txBody>
      </p:sp>
      <p:sp>
        <p:nvSpPr>
          <p:cNvPr name="AutoShape 348" id="348"/>
          <p:cNvSpPr/>
          <p:nvPr/>
        </p:nvSpPr>
        <p:spPr>
          <a:xfrm rot="0">
            <a:off x="9396412" y="6660070"/>
            <a:ext cx="1354741" cy="9525"/>
          </a:xfrm>
          <a:prstGeom prst="rect">
            <a:avLst/>
          </a:prstGeom>
          <a:solidFill>
            <a:srgbClr val="D8DFDD"/>
          </a:solidFill>
        </p:spPr>
      </p:sp>
      <p:sp>
        <p:nvSpPr>
          <p:cNvPr name="TextBox 349" id="349"/>
          <p:cNvSpPr txBox="true"/>
          <p:nvPr/>
        </p:nvSpPr>
        <p:spPr>
          <a:xfrm rot="0">
            <a:off x="9396412" y="63933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82.04</a:t>
            </a:r>
          </a:p>
        </p:txBody>
      </p:sp>
      <p:sp>
        <p:nvSpPr>
          <p:cNvPr name="AutoShape 350" id="350"/>
          <p:cNvSpPr/>
          <p:nvPr/>
        </p:nvSpPr>
        <p:spPr>
          <a:xfrm rot="0">
            <a:off x="10751153" y="6660070"/>
            <a:ext cx="1354741" cy="9525"/>
          </a:xfrm>
          <a:prstGeom prst="rect">
            <a:avLst/>
          </a:prstGeom>
          <a:solidFill>
            <a:srgbClr val="D8DFDD"/>
          </a:solidFill>
        </p:spPr>
      </p:sp>
      <p:sp>
        <p:nvSpPr>
          <p:cNvPr name="TextBox 351" id="351"/>
          <p:cNvSpPr txBox="true"/>
          <p:nvPr/>
        </p:nvSpPr>
        <p:spPr>
          <a:xfrm rot="0">
            <a:off x="10751153" y="63933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70.84</a:t>
            </a:r>
          </a:p>
        </p:txBody>
      </p:sp>
      <p:sp>
        <p:nvSpPr>
          <p:cNvPr name="AutoShape 352" id="352"/>
          <p:cNvSpPr/>
          <p:nvPr/>
        </p:nvSpPr>
        <p:spPr>
          <a:xfrm rot="0">
            <a:off x="12105989" y="6660070"/>
            <a:ext cx="2333911" cy="9525"/>
          </a:xfrm>
          <a:prstGeom prst="rect">
            <a:avLst/>
          </a:prstGeom>
          <a:solidFill>
            <a:srgbClr val="D8DFDD"/>
          </a:solidFill>
        </p:spPr>
      </p:sp>
      <p:sp>
        <p:nvSpPr>
          <p:cNvPr name="TextBox 353" id="353"/>
          <p:cNvSpPr txBox="true"/>
          <p:nvPr/>
        </p:nvSpPr>
        <p:spPr>
          <a:xfrm rot="0">
            <a:off x="12105989" y="63933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79.30</a:t>
            </a:r>
          </a:p>
        </p:txBody>
      </p:sp>
      <p:sp>
        <p:nvSpPr>
          <p:cNvPr name="AutoShape 354" id="354"/>
          <p:cNvSpPr/>
          <p:nvPr/>
        </p:nvSpPr>
        <p:spPr>
          <a:xfrm rot="0">
            <a:off x="800100" y="6907720"/>
            <a:ext cx="2049208" cy="9525"/>
          </a:xfrm>
          <a:prstGeom prst="rect">
            <a:avLst/>
          </a:prstGeom>
          <a:solidFill>
            <a:srgbClr val="D8DFDD"/>
          </a:solidFill>
        </p:spPr>
      </p:sp>
      <p:sp>
        <p:nvSpPr>
          <p:cNvPr name="TextBox 355" id="355"/>
          <p:cNvSpPr txBox="true"/>
          <p:nvPr/>
        </p:nvSpPr>
        <p:spPr>
          <a:xfrm rot="0">
            <a:off x="800100" y="664102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56" id="356"/>
          <p:cNvSpPr/>
          <p:nvPr/>
        </p:nvSpPr>
        <p:spPr>
          <a:xfrm rot="0">
            <a:off x="2849308" y="6907720"/>
            <a:ext cx="2977801" cy="9525"/>
          </a:xfrm>
          <a:prstGeom prst="rect">
            <a:avLst/>
          </a:prstGeom>
          <a:solidFill>
            <a:srgbClr val="D8DFDD"/>
          </a:solidFill>
        </p:spPr>
      </p:sp>
      <p:sp>
        <p:nvSpPr>
          <p:cNvPr name="TextBox 357" id="357"/>
          <p:cNvSpPr txBox="true"/>
          <p:nvPr/>
        </p:nvSpPr>
        <p:spPr>
          <a:xfrm rot="0">
            <a:off x="2849308" y="664102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358" id="358"/>
          <p:cNvSpPr/>
          <p:nvPr/>
        </p:nvSpPr>
        <p:spPr>
          <a:xfrm rot="0">
            <a:off x="5827109" y="6907720"/>
            <a:ext cx="1017080" cy="9525"/>
          </a:xfrm>
          <a:prstGeom prst="rect">
            <a:avLst/>
          </a:prstGeom>
          <a:solidFill>
            <a:srgbClr val="D8DFDD"/>
          </a:solidFill>
        </p:spPr>
      </p:sp>
      <p:sp>
        <p:nvSpPr>
          <p:cNvPr name="TextBox 359" id="359"/>
          <p:cNvSpPr txBox="true"/>
          <p:nvPr/>
        </p:nvSpPr>
        <p:spPr>
          <a:xfrm rot="0">
            <a:off x="5827109" y="664102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Vit.</a:t>
            </a:r>
          </a:p>
        </p:txBody>
      </p:sp>
      <p:sp>
        <p:nvSpPr>
          <p:cNvPr name="AutoShape 360" id="360"/>
          <p:cNvSpPr/>
          <p:nvPr/>
        </p:nvSpPr>
        <p:spPr>
          <a:xfrm rot="0">
            <a:off x="6844189" y="6907720"/>
            <a:ext cx="1197483" cy="9525"/>
          </a:xfrm>
          <a:prstGeom prst="rect">
            <a:avLst/>
          </a:prstGeom>
          <a:solidFill>
            <a:srgbClr val="D8DFDD"/>
          </a:solidFill>
        </p:spPr>
      </p:sp>
      <p:sp>
        <p:nvSpPr>
          <p:cNvPr name="TextBox 361" id="361"/>
          <p:cNvSpPr txBox="true"/>
          <p:nvPr/>
        </p:nvSpPr>
        <p:spPr>
          <a:xfrm rot="0">
            <a:off x="6844189" y="664102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82.43</a:t>
            </a:r>
          </a:p>
        </p:txBody>
      </p:sp>
      <p:sp>
        <p:nvSpPr>
          <p:cNvPr name="AutoShape 362" id="362"/>
          <p:cNvSpPr/>
          <p:nvPr/>
        </p:nvSpPr>
        <p:spPr>
          <a:xfrm rot="0">
            <a:off x="8041672" y="6907720"/>
            <a:ext cx="1354741" cy="9525"/>
          </a:xfrm>
          <a:prstGeom prst="rect">
            <a:avLst/>
          </a:prstGeom>
          <a:solidFill>
            <a:srgbClr val="D8DFDD"/>
          </a:solidFill>
        </p:spPr>
      </p:sp>
      <p:sp>
        <p:nvSpPr>
          <p:cNvPr name="TextBox 363" id="363"/>
          <p:cNvSpPr txBox="true"/>
          <p:nvPr/>
        </p:nvSpPr>
        <p:spPr>
          <a:xfrm rot="0">
            <a:off x="8041672" y="66410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87.60</a:t>
            </a:r>
          </a:p>
        </p:txBody>
      </p:sp>
      <p:sp>
        <p:nvSpPr>
          <p:cNvPr name="AutoShape 364" id="364"/>
          <p:cNvSpPr/>
          <p:nvPr/>
        </p:nvSpPr>
        <p:spPr>
          <a:xfrm rot="0">
            <a:off x="9396412" y="6907720"/>
            <a:ext cx="1354741" cy="9525"/>
          </a:xfrm>
          <a:prstGeom prst="rect">
            <a:avLst/>
          </a:prstGeom>
          <a:solidFill>
            <a:srgbClr val="D8DFDD"/>
          </a:solidFill>
        </p:spPr>
      </p:sp>
      <p:sp>
        <p:nvSpPr>
          <p:cNvPr name="TextBox 365" id="365"/>
          <p:cNvSpPr txBox="true"/>
          <p:nvPr/>
        </p:nvSpPr>
        <p:spPr>
          <a:xfrm rot="0">
            <a:off x="9396412" y="66410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86.61</a:t>
            </a:r>
          </a:p>
        </p:txBody>
      </p:sp>
      <p:sp>
        <p:nvSpPr>
          <p:cNvPr name="AutoShape 366" id="366"/>
          <p:cNvSpPr/>
          <p:nvPr/>
        </p:nvSpPr>
        <p:spPr>
          <a:xfrm rot="0">
            <a:off x="10751153" y="6907720"/>
            <a:ext cx="1354741" cy="9525"/>
          </a:xfrm>
          <a:prstGeom prst="rect">
            <a:avLst/>
          </a:prstGeom>
          <a:solidFill>
            <a:srgbClr val="D8DFDD"/>
          </a:solidFill>
        </p:spPr>
      </p:sp>
      <p:sp>
        <p:nvSpPr>
          <p:cNvPr name="TextBox 367" id="367"/>
          <p:cNvSpPr txBox="true"/>
          <p:nvPr/>
        </p:nvSpPr>
        <p:spPr>
          <a:xfrm rot="0">
            <a:off x="10751153" y="664102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77.36</a:t>
            </a:r>
          </a:p>
        </p:txBody>
      </p:sp>
      <p:sp>
        <p:nvSpPr>
          <p:cNvPr name="AutoShape 368" id="368"/>
          <p:cNvSpPr/>
          <p:nvPr/>
        </p:nvSpPr>
        <p:spPr>
          <a:xfrm rot="0">
            <a:off x="12105989" y="6907720"/>
            <a:ext cx="2333911" cy="9525"/>
          </a:xfrm>
          <a:prstGeom prst="rect">
            <a:avLst/>
          </a:prstGeom>
          <a:solidFill>
            <a:srgbClr val="D8DFDD"/>
          </a:solidFill>
        </p:spPr>
      </p:sp>
      <p:sp>
        <p:nvSpPr>
          <p:cNvPr name="TextBox 369" id="369"/>
          <p:cNvSpPr txBox="true"/>
          <p:nvPr/>
        </p:nvSpPr>
        <p:spPr>
          <a:xfrm rot="0">
            <a:off x="12105989" y="664102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83.86</a:t>
            </a:r>
          </a:p>
        </p:txBody>
      </p:sp>
      <p:sp>
        <p:nvSpPr>
          <p:cNvPr name="AutoShape 370" id="370"/>
          <p:cNvSpPr/>
          <p:nvPr/>
        </p:nvSpPr>
        <p:spPr>
          <a:xfrm rot="0">
            <a:off x="800100" y="7155370"/>
            <a:ext cx="2049208" cy="9525"/>
          </a:xfrm>
          <a:prstGeom prst="rect">
            <a:avLst/>
          </a:prstGeom>
          <a:solidFill>
            <a:srgbClr val="D8DFDD"/>
          </a:solidFill>
        </p:spPr>
      </p:sp>
      <p:sp>
        <p:nvSpPr>
          <p:cNvPr name="TextBox 371" id="371"/>
          <p:cNvSpPr txBox="true"/>
          <p:nvPr/>
        </p:nvSpPr>
        <p:spPr>
          <a:xfrm rot="0">
            <a:off x="800100" y="6888671"/>
            <a:ext cx="204920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a:t>
            </a:r>
          </a:p>
        </p:txBody>
      </p:sp>
      <p:sp>
        <p:nvSpPr>
          <p:cNvPr name="AutoShape 372" id="372"/>
          <p:cNvSpPr/>
          <p:nvPr/>
        </p:nvSpPr>
        <p:spPr>
          <a:xfrm rot="0">
            <a:off x="2849308" y="7155370"/>
            <a:ext cx="2977801" cy="9525"/>
          </a:xfrm>
          <a:prstGeom prst="rect">
            <a:avLst/>
          </a:prstGeom>
          <a:solidFill>
            <a:srgbClr val="D8DFDD"/>
          </a:solidFill>
        </p:spPr>
      </p:sp>
      <p:sp>
        <p:nvSpPr>
          <p:cNvPr name="TextBox 373" id="373"/>
          <p:cNvSpPr txBox="true"/>
          <p:nvPr/>
        </p:nvSpPr>
        <p:spPr>
          <a:xfrm rot="0">
            <a:off x="2849308" y="6888671"/>
            <a:ext cx="2977801"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374" id="374"/>
          <p:cNvSpPr/>
          <p:nvPr/>
        </p:nvSpPr>
        <p:spPr>
          <a:xfrm rot="0">
            <a:off x="5827109" y="7155370"/>
            <a:ext cx="1017080" cy="9525"/>
          </a:xfrm>
          <a:prstGeom prst="rect">
            <a:avLst/>
          </a:prstGeom>
          <a:solidFill>
            <a:srgbClr val="D8DFDD"/>
          </a:solidFill>
        </p:spPr>
      </p:sp>
      <p:sp>
        <p:nvSpPr>
          <p:cNvPr name="TextBox 375" id="375"/>
          <p:cNvSpPr txBox="true"/>
          <p:nvPr/>
        </p:nvSpPr>
        <p:spPr>
          <a:xfrm rot="0">
            <a:off x="5827109" y="6888671"/>
            <a:ext cx="101708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raw</a:t>
            </a:r>
          </a:p>
        </p:txBody>
      </p:sp>
      <p:sp>
        <p:nvSpPr>
          <p:cNvPr name="AutoShape 376" id="376"/>
          <p:cNvSpPr/>
          <p:nvPr/>
        </p:nvSpPr>
        <p:spPr>
          <a:xfrm rot="0">
            <a:off x="6844189" y="7155370"/>
            <a:ext cx="1197483" cy="9525"/>
          </a:xfrm>
          <a:prstGeom prst="rect">
            <a:avLst/>
          </a:prstGeom>
          <a:solidFill>
            <a:srgbClr val="D8DFDD"/>
          </a:solidFill>
        </p:spPr>
      </p:sp>
      <p:sp>
        <p:nvSpPr>
          <p:cNvPr name="TextBox 377" id="377"/>
          <p:cNvSpPr txBox="true"/>
          <p:nvPr/>
        </p:nvSpPr>
        <p:spPr>
          <a:xfrm rot="0">
            <a:off x="6844189" y="6888671"/>
            <a:ext cx="1197483"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81.65</a:t>
            </a:r>
          </a:p>
        </p:txBody>
      </p:sp>
      <p:sp>
        <p:nvSpPr>
          <p:cNvPr name="AutoShape 378" id="378"/>
          <p:cNvSpPr/>
          <p:nvPr/>
        </p:nvSpPr>
        <p:spPr>
          <a:xfrm rot="0">
            <a:off x="8041672" y="7155370"/>
            <a:ext cx="1354741" cy="9525"/>
          </a:xfrm>
          <a:prstGeom prst="rect">
            <a:avLst/>
          </a:prstGeom>
          <a:solidFill>
            <a:srgbClr val="D8DFDD"/>
          </a:solidFill>
        </p:spPr>
      </p:sp>
      <p:sp>
        <p:nvSpPr>
          <p:cNvPr name="TextBox 379" id="379"/>
          <p:cNvSpPr txBox="true"/>
          <p:nvPr/>
        </p:nvSpPr>
        <p:spPr>
          <a:xfrm rot="0">
            <a:off x="8041672" y="68886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81.90</a:t>
            </a:r>
          </a:p>
        </p:txBody>
      </p:sp>
      <p:sp>
        <p:nvSpPr>
          <p:cNvPr name="AutoShape 380" id="380"/>
          <p:cNvSpPr/>
          <p:nvPr/>
        </p:nvSpPr>
        <p:spPr>
          <a:xfrm rot="0">
            <a:off x="9396412" y="7155370"/>
            <a:ext cx="1354741" cy="9525"/>
          </a:xfrm>
          <a:prstGeom prst="rect">
            <a:avLst/>
          </a:prstGeom>
          <a:solidFill>
            <a:srgbClr val="D8DFDD"/>
          </a:solidFill>
        </p:spPr>
      </p:sp>
      <p:sp>
        <p:nvSpPr>
          <p:cNvPr name="TextBox 381" id="381"/>
          <p:cNvSpPr txBox="true"/>
          <p:nvPr/>
        </p:nvSpPr>
        <p:spPr>
          <a:xfrm rot="0">
            <a:off x="9396412" y="68886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81.29</a:t>
            </a:r>
          </a:p>
        </p:txBody>
      </p:sp>
      <p:sp>
        <p:nvSpPr>
          <p:cNvPr name="AutoShape 382" id="382"/>
          <p:cNvSpPr/>
          <p:nvPr/>
        </p:nvSpPr>
        <p:spPr>
          <a:xfrm rot="0">
            <a:off x="10751153" y="7155370"/>
            <a:ext cx="1354741" cy="9525"/>
          </a:xfrm>
          <a:prstGeom prst="rect">
            <a:avLst/>
          </a:prstGeom>
          <a:solidFill>
            <a:srgbClr val="D8DFDD"/>
          </a:solidFill>
        </p:spPr>
      </p:sp>
      <p:sp>
        <p:nvSpPr>
          <p:cNvPr name="TextBox 383" id="383"/>
          <p:cNvSpPr txBox="true"/>
          <p:nvPr/>
        </p:nvSpPr>
        <p:spPr>
          <a:xfrm rot="0">
            <a:off x="10751153" y="6888671"/>
            <a:ext cx="135474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75.77</a:t>
            </a:r>
          </a:p>
        </p:txBody>
      </p:sp>
      <p:sp>
        <p:nvSpPr>
          <p:cNvPr name="AutoShape 384" id="384"/>
          <p:cNvSpPr/>
          <p:nvPr/>
        </p:nvSpPr>
        <p:spPr>
          <a:xfrm rot="0">
            <a:off x="12105989" y="7155370"/>
            <a:ext cx="2333911" cy="9525"/>
          </a:xfrm>
          <a:prstGeom prst="rect">
            <a:avLst/>
          </a:prstGeom>
          <a:solidFill>
            <a:srgbClr val="D8DFDD"/>
          </a:solidFill>
        </p:spPr>
      </p:sp>
      <p:sp>
        <p:nvSpPr>
          <p:cNvPr name="TextBox 385" id="385"/>
          <p:cNvSpPr txBox="true"/>
          <p:nvPr/>
        </p:nvSpPr>
        <p:spPr>
          <a:xfrm rot="0">
            <a:off x="12105989" y="6888671"/>
            <a:ext cx="233391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79.65</a:t>
            </a:r>
          </a:p>
        </p:txBody>
      </p:sp>
      <p:sp>
        <p:nvSpPr>
          <p:cNvPr name="AutoShape 386" id="386"/>
          <p:cNvSpPr/>
          <p:nvPr/>
        </p:nvSpPr>
        <p:spPr>
          <a:xfrm rot="0">
            <a:off x="800100" y="8039100"/>
            <a:ext cx="13639800" cy="9525"/>
          </a:xfrm>
          <a:prstGeom prst="rect">
            <a:avLst/>
          </a:prstGeom>
          <a:solidFill>
            <a:srgbClr val="061217">
              <a:alpha val="14902"/>
            </a:srgbClr>
          </a:solidFill>
        </p:spPr>
      </p:sp>
      <p:sp>
        <p:nvSpPr>
          <p:cNvPr name="TextBox 387" id="387"/>
          <p:cNvSpPr txBox="true"/>
          <p:nvPr/>
        </p:nvSpPr>
        <p:spPr>
          <a:xfrm rot="0">
            <a:off x="800100" y="7791450"/>
            <a:ext cx="3253550"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Table 5.2 · values in percent</a:t>
            </a:r>
          </a:p>
        </p:txBody>
      </p:sp>
      <p:sp>
        <p:nvSpPr>
          <p:cNvPr name="TextBox 388" id="388"/>
          <p:cNvSpPr txBox="true"/>
          <p:nvPr/>
        </p:nvSpPr>
        <p:spPr>
          <a:xfrm rot="0">
            <a:off x="800100" y="8153400"/>
            <a:ext cx="47672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Backup</a:t>
            </a:r>
          </a:p>
        </p:txBody>
      </p:sp>
      <p:sp>
        <p:nvSpPr>
          <p:cNvPr name="TextBox 389" id="389"/>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240000" cy="8572500"/>
            <a:chOff x="0" y="0"/>
            <a:chExt cx="20320000" cy="11430000"/>
          </a:xfrm>
        </p:grpSpPr>
        <p:sp>
          <p:nvSpPr>
            <p:cNvPr name="Freeform 3" id="3"/>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3"/>
              <a:stretch>
                <a:fillRect l="0" t="0" r="0" b="0"/>
              </a:stretch>
            </a:blipFill>
          </p:spPr>
        </p:sp>
      </p:grpSp>
      <p:grpSp>
        <p:nvGrpSpPr>
          <p:cNvPr name="Group 4" id="4"/>
          <p:cNvGrpSpPr/>
          <p:nvPr/>
        </p:nvGrpSpPr>
        <p:grpSpPr>
          <a:xfrm rot="0">
            <a:off x="0" y="0"/>
            <a:ext cx="15240000" cy="8572500"/>
            <a:chOff x="0" y="0"/>
            <a:chExt cx="20320000" cy="11430000"/>
          </a:xfrm>
        </p:grpSpPr>
        <p:sp>
          <p:nvSpPr>
            <p:cNvPr name="Freeform 5" id="5"/>
            <p:cNvSpPr/>
            <p:nvPr/>
          </p:nvSpPr>
          <p:spPr>
            <a:xfrm flipH="false" flipV="false" rot="0">
              <a:off x="0" y="0"/>
              <a:ext cx="20320000" cy="11430000"/>
            </a:xfrm>
            <a:custGeom>
              <a:avLst/>
              <a:gdLst/>
              <a:ahLst/>
              <a:cxnLst/>
              <a:rect r="r" b="b" t="t" l="l"/>
              <a:pathLst>
                <a:path h="11430000" w="20320000">
                  <a:moveTo>
                    <a:pt x="0" y="0"/>
                  </a:moveTo>
                  <a:lnTo>
                    <a:pt x="20320000" y="0"/>
                  </a:lnTo>
                  <a:lnTo>
                    <a:pt x="20320000" y="11430000"/>
                  </a:lnTo>
                  <a:lnTo>
                    <a:pt x="0" y="11430000"/>
                  </a:lnTo>
                  <a:lnTo>
                    <a:pt x="0" y="0"/>
                  </a:lnTo>
                  <a:close/>
                </a:path>
              </a:pathLst>
            </a:custGeom>
            <a:blipFill>
              <a:blip r:embed="rId4"/>
              <a:stretch>
                <a:fillRect l="0" t="0" r="0" b="0"/>
              </a:stretch>
            </a:blipFill>
          </p:spPr>
        </p:sp>
      </p:grpSp>
      <p:sp>
        <p:nvSpPr>
          <p:cNvPr name="TextBox 6" id="6"/>
          <p:cNvSpPr txBox="true"/>
          <p:nvPr/>
        </p:nvSpPr>
        <p:spPr>
          <a:xfrm rot="0">
            <a:off x="800100" y="647700"/>
            <a:ext cx="13639800" cy="238125"/>
          </a:xfrm>
          <a:prstGeom prst="rect">
            <a:avLst/>
          </a:prstGeom>
        </p:spPr>
        <p:txBody>
          <a:bodyPr anchor="t" rtlCol="false" tIns="0" lIns="0" bIns="0" rIns="0">
            <a:spAutoFit/>
          </a:bodyPr>
          <a:lstStyle/>
          <a:p>
            <a:pPr algn="l">
              <a:lnSpc>
                <a:spcPts val="1889"/>
              </a:lnSpc>
            </a:pPr>
            <a:r>
              <a:rPr lang="en-US" b="true" sz="1350" spc="225">
                <a:solidFill>
                  <a:srgbClr val="0B9185"/>
                </a:solidFill>
                <a:latin typeface="Arial Bold"/>
                <a:ea typeface="Arial Bold"/>
                <a:cs typeface="Arial Bold"/>
                <a:sym typeface="Arial Bold"/>
              </a:rPr>
              <a:t>BACKUP · COMPLETE REPORT RESULTS</a:t>
            </a:r>
          </a:p>
        </p:txBody>
      </p:sp>
      <p:sp>
        <p:nvSpPr>
          <p:cNvPr name="TextBox 7" id="7"/>
          <p:cNvSpPr txBox="true"/>
          <p:nvPr/>
        </p:nvSpPr>
        <p:spPr>
          <a:xfrm rot="0">
            <a:off x="800100" y="1104900"/>
            <a:ext cx="12763500" cy="397383"/>
          </a:xfrm>
          <a:prstGeom prst="rect">
            <a:avLst/>
          </a:prstGeom>
        </p:spPr>
        <p:txBody>
          <a:bodyPr anchor="t" rtlCol="false" tIns="0" lIns="0" bIns="0" rIns="0">
            <a:spAutoFit/>
          </a:bodyPr>
          <a:lstStyle/>
          <a:p>
            <a:pPr algn="l">
              <a:lnSpc>
                <a:spcPts val="3354"/>
              </a:lnSpc>
            </a:pPr>
            <a:r>
              <a:rPr lang="en-US" b="true" sz="3225" spc="-141">
                <a:solidFill>
                  <a:srgbClr val="102126"/>
                </a:solidFill>
                <a:latin typeface="Arial Bold"/>
                <a:ea typeface="Arial Bold"/>
                <a:cs typeface="Arial Bold"/>
                <a:sym typeface="Arial Bold"/>
              </a:rPr>
              <a:t>Auxiliary task, exploratory ablation, and efficiency</a:t>
            </a:r>
          </a:p>
        </p:txBody>
      </p:sp>
      <p:sp>
        <p:nvSpPr>
          <p:cNvPr name="TextBox 8" id="8"/>
          <p:cNvSpPr txBox="true"/>
          <p:nvPr/>
        </p:nvSpPr>
        <p:spPr>
          <a:xfrm rot="0">
            <a:off x="800100" y="1645158"/>
            <a:ext cx="6657975" cy="261366"/>
          </a:xfrm>
          <a:prstGeom prst="rect">
            <a:avLst/>
          </a:prstGeom>
        </p:spPr>
        <p:txBody>
          <a:bodyPr anchor="t" rtlCol="false" tIns="0" lIns="0" bIns="0" rIns="0">
            <a:spAutoFit/>
          </a:bodyPr>
          <a:lstStyle/>
          <a:p>
            <a:pPr algn="l">
              <a:lnSpc>
                <a:spcPts val="1983"/>
              </a:lnSpc>
            </a:pPr>
            <a:r>
              <a:rPr lang="en-US" b="true" sz="1725">
                <a:solidFill>
                  <a:srgbClr val="102126"/>
                </a:solidFill>
                <a:latin typeface="Arial Bold"/>
                <a:ea typeface="Arial Bold"/>
                <a:cs typeface="Arial Bold"/>
                <a:sym typeface="Arial Bold"/>
              </a:rPr>
              <a:t>Instrument recognition</a:t>
            </a:r>
          </a:p>
        </p:txBody>
      </p:sp>
      <p:sp>
        <p:nvSpPr>
          <p:cNvPr name="AutoShape 9" id="9"/>
          <p:cNvSpPr/>
          <p:nvPr/>
        </p:nvSpPr>
        <p:spPr>
          <a:xfrm rot="0">
            <a:off x="800100" y="2230374"/>
            <a:ext cx="2437543" cy="19050"/>
          </a:xfrm>
          <a:prstGeom prst="rect">
            <a:avLst/>
          </a:prstGeom>
          <a:solidFill>
            <a:srgbClr val="AEBDBB"/>
          </a:solidFill>
        </p:spPr>
      </p:sp>
      <p:sp>
        <p:nvSpPr>
          <p:cNvPr name="TextBox 10" id="10"/>
          <p:cNvSpPr txBox="true"/>
          <p:nvPr/>
        </p:nvSpPr>
        <p:spPr>
          <a:xfrm rot="0">
            <a:off x="800100" y="1954149"/>
            <a:ext cx="2437543"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Feature / layer</a:t>
            </a:r>
          </a:p>
        </p:txBody>
      </p:sp>
      <p:sp>
        <p:nvSpPr>
          <p:cNvPr name="AutoShape 11" id="11"/>
          <p:cNvSpPr/>
          <p:nvPr/>
        </p:nvSpPr>
        <p:spPr>
          <a:xfrm rot="0">
            <a:off x="3237643" y="2230374"/>
            <a:ext cx="837438" cy="19050"/>
          </a:xfrm>
          <a:prstGeom prst="rect">
            <a:avLst/>
          </a:prstGeom>
          <a:solidFill>
            <a:srgbClr val="AEBDBB"/>
          </a:solidFill>
        </p:spPr>
      </p:sp>
      <p:sp>
        <p:nvSpPr>
          <p:cNvPr name="TextBox 12" id="12"/>
          <p:cNvSpPr txBox="true"/>
          <p:nvPr/>
        </p:nvSpPr>
        <p:spPr>
          <a:xfrm rot="0">
            <a:off x="3237643" y="1954149"/>
            <a:ext cx="837438"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Thr.</a:t>
            </a:r>
          </a:p>
        </p:txBody>
      </p:sp>
      <p:sp>
        <p:nvSpPr>
          <p:cNvPr name="AutoShape 13" id="13"/>
          <p:cNvSpPr/>
          <p:nvPr/>
        </p:nvSpPr>
        <p:spPr>
          <a:xfrm rot="0">
            <a:off x="4075081" y="2230374"/>
            <a:ext cx="999268" cy="19050"/>
          </a:xfrm>
          <a:prstGeom prst="rect">
            <a:avLst/>
          </a:prstGeom>
          <a:solidFill>
            <a:srgbClr val="AEBDBB"/>
          </a:solidFill>
        </p:spPr>
      </p:sp>
      <p:sp>
        <p:nvSpPr>
          <p:cNvPr name="TextBox 14" id="14"/>
          <p:cNvSpPr txBox="true"/>
          <p:nvPr/>
        </p:nvSpPr>
        <p:spPr>
          <a:xfrm rot="0">
            <a:off x="4075081" y="1954149"/>
            <a:ext cx="999268"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F1 M</a:t>
            </a:r>
          </a:p>
        </p:txBody>
      </p:sp>
      <p:sp>
        <p:nvSpPr>
          <p:cNvPr name="AutoShape 15" id="15"/>
          <p:cNvSpPr/>
          <p:nvPr/>
        </p:nvSpPr>
        <p:spPr>
          <a:xfrm rot="0">
            <a:off x="5074253" y="2230374"/>
            <a:ext cx="1383982" cy="19050"/>
          </a:xfrm>
          <a:prstGeom prst="rect">
            <a:avLst/>
          </a:prstGeom>
          <a:solidFill>
            <a:srgbClr val="AEBDBB"/>
          </a:solidFill>
        </p:spPr>
      </p:sp>
      <p:sp>
        <p:nvSpPr>
          <p:cNvPr name="TextBox 16" id="16"/>
          <p:cNvSpPr txBox="true"/>
          <p:nvPr/>
        </p:nvSpPr>
        <p:spPr>
          <a:xfrm rot="0">
            <a:off x="5074253" y="1954149"/>
            <a:ext cx="1383982"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F1 micro</a:t>
            </a:r>
          </a:p>
        </p:txBody>
      </p:sp>
      <p:sp>
        <p:nvSpPr>
          <p:cNvPr name="AutoShape 17" id="17"/>
          <p:cNvSpPr/>
          <p:nvPr/>
        </p:nvSpPr>
        <p:spPr>
          <a:xfrm rot="0">
            <a:off x="6458236" y="2230374"/>
            <a:ext cx="999839" cy="19050"/>
          </a:xfrm>
          <a:prstGeom prst="rect">
            <a:avLst/>
          </a:prstGeom>
          <a:solidFill>
            <a:srgbClr val="AEBDBB"/>
          </a:solidFill>
        </p:spPr>
      </p:sp>
      <p:sp>
        <p:nvSpPr>
          <p:cNvPr name="TextBox 18" id="18"/>
          <p:cNvSpPr txBox="true"/>
          <p:nvPr/>
        </p:nvSpPr>
        <p:spPr>
          <a:xfrm rot="0">
            <a:off x="6458236" y="1954149"/>
            <a:ext cx="999839"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Exact</a:t>
            </a:r>
          </a:p>
        </p:txBody>
      </p:sp>
      <p:sp>
        <p:nvSpPr>
          <p:cNvPr name="AutoShape 19" id="19"/>
          <p:cNvSpPr/>
          <p:nvPr/>
        </p:nvSpPr>
        <p:spPr>
          <a:xfrm rot="0">
            <a:off x="800100" y="2492312"/>
            <a:ext cx="2437543" cy="9525"/>
          </a:xfrm>
          <a:prstGeom prst="rect">
            <a:avLst/>
          </a:prstGeom>
          <a:solidFill>
            <a:srgbClr val="D8DFDD"/>
          </a:solidFill>
        </p:spPr>
      </p:sp>
      <p:sp>
        <p:nvSpPr>
          <p:cNvPr name="TextBox 20" id="20"/>
          <p:cNvSpPr txBox="true"/>
          <p:nvPr/>
        </p:nvSpPr>
        <p:spPr>
          <a:xfrm rot="0">
            <a:off x="800100" y="2220849"/>
            <a:ext cx="2437543"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 / 10L</a:t>
            </a:r>
          </a:p>
        </p:txBody>
      </p:sp>
      <p:sp>
        <p:nvSpPr>
          <p:cNvPr name="AutoShape 21" id="21"/>
          <p:cNvSpPr/>
          <p:nvPr/>
        </p:nvSpPr>
        <p:spPr>
          <a:xfrm rot="0">
            <a:off x="3237643" y="2492312"/>
            <a:ext cx="837438" cy="9525"/>
          </a:xfrm>
          <a:prstGeom prst="rect">
            <a:avLst/>
          </a:prstGeom>
          <a:solidFill>
            <a:srgbClr val="D8DFDD"/>
          </a:solidFill>
        </p:spPr>
      </p:sp>
      <p:sp>
        <p:nvSpPr>
          <p:cNvPr name="TextBox 22" id="22"/>
          <p:cNvSpPr txBox="true"/>
          <p:nvPr/>
        </p:nvSpPr>
        <p:spPr>
          <a:xfrm rot="0">
            <a:off x="3237643" y="2220849"/>
            <a:ext cx="837438"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0.30</a:t>
            </a:r>
          </a:p>
        </p:txBody>
      </p:sp>
      <p:grpSp>
        <p:nvGrpSpPr>
          <p:cNvPr name="Group 23" id="23"/>
          <p:cNvGrpSpPr/>
          <p:nvPr/>
        </p:nvGrpSpPr>
        <p:grpSpPr>
          <a:xfrm rot="0">
            <a:off x="4075081" y="2249424"/>
            <a:ext cx="999268" cy="252412"/>
            <a:chOff x="0" y="0"/>
            <a:chExt cx="1332357" cy="336550"/>
          </a:xfrm>
        </p:grpSpPr>
        <p:sp>
          <p:nvSpPr>
            <p:cNvPr name="Freeform 24" id="24"/>
            <p:cNvSpPr/>
            <p:nvPr/>
          </p:nvSpPr>
          <p:spPr>
            <a:xfrm flipH="false" flipV="false" rot="0">
              <a:off x="0" y="0"/>
              <a:ext cx="1332357" cy="336550"/>
            </a:xfrm>
            <a:custGeom>
              <a:avLst/>
              <a:gdLst/>
              <a:ahLst/>
              <a:cxnLst/>
              <a:rect r="r" b="b" t="t" l="l"/>
              <a:pathLst>
                <a:path h="336550" w="1332357">
                  <a:moveTo>
                    <a:pt x="0" y="0"/>
                  </a:moveTo>
                  <a:lnTo>
                    <a:pt x="1332357" y="0"/>
                  </a:lnTo>
                  <a:lnTo>
                    <a:pt x="1332357" y="336550"/>
                  </a:lnTo>
                  <a:lnTo>
                    <a:pt x="0" y="336550"/>
                  </a:lnTo>
                  <a:lnTo>
                    <a:pt x="0" y="0"/>
                  </a:lnTo>
                  <a:close/>
                </a:path>
              </a:pathLst>
            </a:custGeom>
            <a:solidFill>
              <a:srgbClr val="2DD4BF">
                <a:alpha val="1176"/>
              </a:srgbClr>
            </a:solidFill>
          </p:spPr>
        </p:sp>
        <p:sp>
          <p:nvSpPr>
            <p:cNvPr name="TextBox 25" id="25"/>
            <p:cNvSpPr txBox="true"/>
            <p:nvPr/>
          </p:nvSpPr>
          <p:spPr>
            <a:xfrm>
              <a:off x="0" y="-28575"/>
              <a:ext cx="1332357" cy="365125"/>
            </a:xfrm>
            <a:prstGeom prst="rect">
              <a:avLst/>
            </a:prstGeom>
          </p:spPr>
          <p:txBody>
            <a:bodyPr anchor="ctr" rtlCol="false" tIns="60325" lIns="60325" bIns="60325" rIns="60325"/>
            <a:lstStyle/>
            <a:p>
              <a:pPr algn="l">
                <a:lnSpc>
                  <a:spcPts val="1574"/>
                </a:lnSpc>
              </a:pPr>
              <a:r>
                <a:rPr lang="en-US" b="true" sz="1125">
                  <a:solidFill>
                    <a:srgbClr val="087F74"/>
                  </a:solidFill>
                  <a:latin typeface="Arial Bold"/>
                  <a:ea typeface="Arial Bold"/>
                  <a:cs typeface="Arial Bold"/>
                  <a:sym typeface="Arial Bold"/>
                </a:rPr>
                <a:t>53.60</a:t>
              </a:r>
            </a:p>
          </p:txBody>
        </p:sp>
      </p:grpSp>
      <p:sp>
        <p:nvSpPr>
          <p:cNvPr name="AutoShape 26" id="26"/>
          <p:cNvSpPr/>
          <p:nvPr/>
        </p:nvSpPr>
        <p:spPr>
          <a:xfrm rot="0">
            <a:off x="4075081" y="2492312"/>
            <a:ext cx="999268" cy="9525"/>
          </a:xfrm>
          <a:prstGeom prst="rect">
            <a:avLst/>
          </a:prstGeom>
          <a:solidFill>
            <a:srgbClr val="D8DFDD"/>
          </a:solidFill>
        </p:spPr>
      </p:sp>
      <p:sp>
        <p:nvSpPr>
          <p:cNvPr name="AutoShape 27" id="27"/>
          <p:cNvSpPr/>
          <p:nvPr/>
        </p:nvSpPr>
        <p:spPr>
          <a:xfrm rot="0">
            <a:off x="5074253" y="2492312"/>
            <a:ext cx="1383982" cy="9525"/>
          </a:xfrm>
          <a:prstGeom prst="rect">
            <a:avLst/>
          </a:prstGeom>
          <a:solidFill>
            <a:srgbClr val="D8DFDD"/>
          </a:solidFill>
        </p:spPr>
      </p:sp>
      <p:sp>
        <p:nvSpPr>
          <p:cNvPr name="TextBox 28" id="28"/>
          <p:cNvSpPr txBox="true"/>
          <p:nvPr/>
        </p:nvSpPr>
        <p:spPr>
          <a:xfrm rot="0">
            <a:off x="5074253" y="2220849"/>
            <a:ext cx="138398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70.09</a:t>
            </a:r>
          </a:p>
        </p:txBody>
      </p:sp>
      <p:sp>
        <p:nvSpPr>
          <p:cNvPr name="AutoShape 29" id="29"/>
          <p:cNvSpPr/>
          <p:nvPr/>
        </p:nvSpPr>
        <p:spPr>
          <a:xfrm rot="0">
            <a:off x="6458236" y="2492312"/>
            <a:ext cx="999839" cy="9525"/>
          </a:xfrm>
          <a:prstGeom prst="rect">
            <a:avLst/>
          </a:prstGeom>
          <a:solidFill>
            <a:srgbClr val="D8DFDD"/>
          </a:solidFill>
        </p:spPr>
      </p:sp>
      <p:sp>
        <p:nvSpPr>
          <p:cNvPr name="TextBox 30" id="30"/>
          <p:cNvSpPr txBox="true"/>
          <p:nvPr/>
        </p:nvSpPr>
        <p:spPr>
          <a:xfrm rot="0">
            <a:off x="6458236" y="2220849"/>
            <a:ext cx="999839"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32.13</a:t>
            </a:r>
          </a:p>
        </p:txBody>
      </p:sp>
      <p:sp>
        <p:nvSpPr>
          <p:cNvPr name="AutoShape 31" id="31"/>
          <p:cNvSpPr/>
          <p:nvPr/>
        </p:nvSpPr>
        <p:spPr>
          <a:xfrm rot="0">
            <a:off x="800100" y="2739962"/>
            <a:ext cx="2437543" cy="9525"/>
          </a:xfrm>
          <a:prstGeom prst="rect">
            <a:avLst/>
          </a:prstGeom>
          <a:solidFill>
            <a:srgbClr val="D8DFDD"/>
          </a:solidFill>
        </p:spPr>
      </p:sp>
      <p:sp>
        <p:nvSpPr>
          <p:cNvPr name="TextBox 32" id="32"/>
          <p:cNvSpPr txBox="true"/>
          <p:nvPr/>
        </p:nvSpPr>
        <p:spPr>
          <a:xfrm rot="0">
            <a:off x="800100" y="2473261"/>
            <a:ext cx="243754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original / 11L</a:t>
            </a:r>
          </a:p>
        </p:txBody>
      </p:sp>
      <p:sp>
        <p:nvSpPr>
          <p:cNvPr name="AutoShape 33" id="33"/>
          <p:cNvSpPr/>
          <p:nvPr/>
        </p:nvSpPr>
        <p:spPr>
          <a:xfrm rot="0">
            <a:off x="3237643" y="2739962"/>
            <a:ext cx="837438" cy="9525"/>
          </a:xfrm>
          <a:prstGeom prst="rect">
            <a:avLst/>
          </a:prstGeom>
          <a:solidFill>
            <a:srgbClr val="D8DFDD"/>
          </a:solidFill>
        </p:spPr>
      </p:sp>
      <p:sp>
        <p:nvSpPr>
          <p:cNvPr name="TextBox 34" id="34"/>
          <p:cNvSpPr txBox="true"/>
          <p:nvPr/>
        </p:nvSpPr>
        <p:spPr>
          <a:xfrm rot="0">
            <a:off x="3237643" y="2473261"/>
            <a:ext cx="83743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0.30</a:t>
            </a:r>
          </a:p>
        </p:txBody>
      </p:sp>
      <p:sp>
        <p:nvSpPr>
          <p:cNvPr name="AutoShape 35" id="35"/>
          <p:cNvSpPr/>
          <p:nvPr/>
        </p:nvSpPr>
        <p:spPr>
          <a:xfrm rot="0">
            <a:off x="4075081" y="2739962"/>
            <a:ext cx="999268" cy="9525"/>
          </a:xfrm>
          <a:prstGeom prst="rect">
            <a:avLst/>
          </a:prstGeom>
          <a:solidFill>
            <a:srgbClr val="D8DFDD"/>
          </a:solidFill>
        </p:spPr>
      </p:sp>
      <p:sp>
        <p:nvSpPr>
          <p:cNvPr name="TextBox 36" id="36"/>
          <p:cNvSpPr txBox="true"/>
          <p:nvPr/>
        </p:nvSpPr>
        <p:spPr>
          <a:xfrm rot="0">
            <a:off x="4075081" y="2473261"/>
            <a:ext cx="99926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49.05</a:t>
            </a:r>
          </a:p>
        </p:txBody>
      </p:sp>
      <p:sp>
        <p:nvSpPr>
          <p:cNvPr name="AutoShape 37" id="37"/>
          <p:cNvSpPr/>
          <p:nvPr/>
        </p:nvSpPr>
        <p:spPr>
          <a:xfrm rot="0">
            <a:off x="5074253" y="2739962"/>
            <a:ext cx="1383982" cy="9525"/>
          </a:xfrm>
          <a:prstGeom prst="rect">
            <a:avLst/>
          </a:prstGeom>
          <a:solidFill>
            <a:srgbClr val="D8DFDD"/>
          </a:solidFill>
        </p:spPr>
      </p:sp>
      <p:sp>
        <p:nvSpPr>
          <p:cNvPr name="TextBox 38" id="38"/>
          <p:cNvSpPr txBox="true"/>
          <p:nvPr/>
        </p:nvSpPr>
        <p:spPr>
          <a:xfrm rot="0">
            <a:off x="5074253" y="2473261"/>
            <a:ext cx="138398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69.90</a:t>
            </a:r>
          </a:p>
        </p:txBody>
      </p:sp>
      <p:sp>
        <p:nvSpPr>
          <p:cNvPr name="AutoShape 39" id="39"/>
          <p:cNvSpPr/>
          <p:nvPr/>
        </p:nvSpPr>
        <p:spPr>
          <a:xfrm rot="0">
            <a:off x="6458236" y="2739962"/>
            <a:ext cx="999839" cy="9525"/>
          </a:xfrm>
          <a:prstGeom prst="rect">
            <a:avLst/>
          </a:prstGeom>
          <a:solidFill>
            <a:srgbClr val="D8DFDD"/>
          </a:solidFill>
        </p:spPr>
      </p:sp>
      <p:sp>
        <p:nvSpPr>
          <p:cNvPr name="TextBox 40" id="40"/>
          <p:cNvSpPr txBox="true"/>
          <p:nvPr/>
        </p:nvSpPr>
        <p:spPr>
          <a:xfrm rot="0">
            <a:off x="6458236" y="2473261"/>
            <a:ext cx="99983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31.49</a:t>
            </a:r>
          </a:p>
        </p:txBody>
      </p:sp>
      <p:sp>
        <p:nvSpPr>
          <p:cNvPr name="AutoShape 41" id="41"/>
          <p:cNvSpPr/>
          <p:nvPr/>
        </p:nvSpPr>
        <p:spPr>
          <a:xfrm rot="0">
            <a:off x="800100" y="2987612"/>
            <a:ext cx="2437543" cy="9525"/>
          </a:xfrm>
          <a:prstGeom prst="rect">
            <a:avLst/>
          </a:prstGeom>
          <a:solidFill>
            <a:srgbClr val="D8DFDD"/>
          </a:solidFill>
        </p:spPr>
      </p:sp>
      <p:sp>
        <p:nvSpPr>
          <p:cNvPr name="TextBox 42" id="42"/>
          <p:cNvSpPr txBox="true"/>
          <p:nvPr/>
        </p:nvSpPr>
        <p:spPr>
          <a:xfrm rot="0">
            <a:off x="800100" y="2720911"/>
            <a:ext cx="243754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 / 10L</a:t>
            </a:r>
          </a:p>
        </p:txBody>
      </p:sp>
      <p:sp>
        <p:nvSpPr>
          <p:cNvPr name="AutoShape 43" id="43"/>
          <p:cNvSpPr/>
          <p:nvPr/>
        </p:nvSpPr>
        <p:spPr>
          <a:xfrm rot="0">
            <a:off x="3237643" y="2987612"/>
            <a:ext cx="837438" cy="9525"/>
          </a:xfrm>
          <a:prstGeom prst="rect">
            <a:avLst/>
          </a:prstGeom>
          <a:solidFill>
            <a:srgbClr val="D8DFDD"/>
          </a:solidFill>
        </p:spPr>
      </p:sp>
      <p:sp>
        <p:nvSpPr>
          <p:cNvPr name="TextBox 44" id="44"/>
          <p:cNvSpPr txBox="true"/>
          <p:nvPr/>
        </p:nvSpPr>
        <p:spPr>
          <a:xfrm rot="0">
            <a:off x="3237643" y="2720911"/>
            <a:ext cx="83743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0.30</a:t>
            </a:r>
          </a:p>
        </p:txBody>
      </p:sp>
      <p:sp>
        <p:nvSpPr>
          <p:cNvPr name="AutoShape 45" id="45"/>
          <p:cNvSpPr/>
          <p:nvPr/>
        </p:nvSpPr>
        <p:spPr>
          <a:xfrm rot="0">
            <a:off x="4075081" y="2987612"/>
            <a:ext cx="999268" cy="9525"/>
          </a:xfrm>
          <a:prstGeom prst="rect">
            <a:avLst/>
          </a:prstGeom>
          <a:solidFill>
            <a:srgbClr val="D8DFDD"/>
          </a:solidFill>
        </p:spPr>
      </p:sp>
      <p:sp>
        <p:nvSpPr>
          <p:cNvPr name="TextBox 46" id="46"/>
          <p:cNvSpPr txBox="true"/>
          <p:nvPr/>
        </p:nvSpPr>
        <p:spPr>
          <a:xfrm rot="0">
            <a:off x="4075081" y="2720911"/>
            <a:ext cx="99926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31.20</a:t>
            </a:r>
          </a:p>
        </p:txBody>
      </p:sp>
      <p:sp>
        <p:nvSpPr>
          <p:cNvPr name="AutoShape 47" id="47"/>
          <p:cNvSpPr/>
          <p:nvPr/>
        </p:nvSpPr>
        <p:spPr>
          <a:xfrm rot="0">
            <a:off x="5074253" y="2987612"/>
            <a:ext cx="1383982" cy="9525"/>
          </a:xfrm>
          <a:prstGeom prst="rect">
            <a:avLst/>
          </a:prstGeom>
          <a:solidFill>
            <a:srgbClr val="D8DFDD"/>
          </a:solidFill>
        </p:spPr>
      </p:sp>
      <p:sp>
        <p:nvSpPr>
          <p:cNvPr name="TextBox 48" id="48"/>
          <p:cNvSpPr txBox="true"/>
          <p:nvPr/>
        </p:nvSpPr>
        <p:spPr>
          <a:xfrm rot="0">
            <a:off x="5074253" y="2720911"/>
            <a:ext cx="138398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64.05</a:t>
            </a:r>
          </a:p>
        </p:txBody>
      </p:sp>
      <p:sp>
        <p:nvSpPr>
          <p:cNvPr name="AutoShape 49" id="49"/>
          <p:cNvSpPr/>
          <p:nvPr/>
        </p:nvSpPr>
        <p:spPr>
          <a:xfrm rot="0">
            <a:off x="6458236" y="2987612"/>
            <a:ext cx="999839" cy="9525"/>
          </a:xfrm>
          <a:prstGeom prst="rect">
            <a:avLst/>
          </a:prstGeom>
          <a:solidFill>
            <a:srgbClr val="D8DFDD"/>
          </a:solidFill>
        </p:spPr>
      </p:sp>
      <p:sp>
        <p:nvSpPr>
          <p:cNvPr name="TextBox 50" id="50"/>
          <p:cNvSpPr txBox="true"/>
          <p:nvPr/>
        </p:nvSpPr>
        <p:spPr>
          <a:xfrm rot="0">
            <a:off x="6458236" y="2720911"/>
            <a:ext cx="99983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23.91</a:t>
            </a:r>
          </a:p>
        </p:txBody>
      </p:sp>
      <p:sp>
        <p:nvSpPr>
          <p:cNvPr name="AutoShape 51" id="51"/>
          <p:cNvSpPr/>
          <p:nvPr/>
        </p:nvSpPr>
        <p:spPr>
          <a:xfrm rot="0">
            <a:off x="800100" y="3235262"/>
            <a:ext cx="2437543" cy="9525"/>
          </a:xfrm>
          <a:prstGeom prst="rect">
            <a:avLst/>
          </a:prstGeom>
          <a:solidFill>
            <a:srgbClr val="D8DFDD"/>
          </a:solidFill>
        </p:spPr>
      </p:sp>
      <p:sp>
        <p:nvSpPr>
          <p:cNvPr name="TextBox 52" id="52"/>
          <p:cNvSpPr txBox="true"/>
          <p:nvPr/>
        </p:nvSpPr>
        <p:spPr>
          <a:xfrm rot="0">
            <a:off x="800100" y="2968561"/>
            <a:ext cx="243754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finetuned / 11L</a:t>
            </a:r>
          </a:p>
        </p:txBody>
      </p:sp>
      <p:sp>
        <p:nvSpPr>
          <p:cNvPr name="AutoShape 53" id="53"/>
          <p:cNvSpPr/>
          <p:nvPr/>
        </p:nvSpPr>
        <p:spPr>
          <a:xfrm rot="0">
            <a:off x="3237643" y="3235262"/>
            <a:ext cx="837438" cy="9525"/>
          </a:xfrm>
          <a:prstGeom prst="rect">
            <a:avLst/>
          </a:prstGeom>
          <a:solidFill>
            <a:srgbClr val="D8DFDD"/>
          </a:solidFill>
        </p:spPr>
      </p:sp>
      <p:sp>
        <p:nvSpPr>
          <p:cNvPr name="TextBox 54" id="54"/>
          <p:cNvSpPr txBox="true"/>
          <p:nvPr/>
        </p:nvSpPr>
        <p:spPr>
          <a:xfrm rot="0">
            <a:off x="3237643" y="2968561"/>
            <a:ext cx="83743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0.40</a:t>
            </a:r>
          </a:p>
        </p:txBody>
      </p:sp>
      <p:sp>
        <p:nvSpPr>
          <p:cNvPr name="AutoShape 55" id="55"/>
          <p:cNvSpPr/>
          <p:nvPr/>
        </p:nvSpPr>
        <p:spPr>
          <a:xfrm rot="0">
            <a:off x="4075081" y="3235262"/>
            <a:ext cx="999268" cy="9525"/>
          </a:xfrm>
          <a:prstGeom prst="rect">
            <a:avLst/>
          </a:prstGeom>
          <a:solidFill>
            <a:srgbClr val="D8DFDD"/>
          </a:solidFill>
        </p:spPr>
      </p:sp>
      <p:sp>
        <p:nvSpPr>
          <p:cNvPr name="TextBox 56" id="56"/>
          <p:cNvSpPr txBox="true"/>
          <p:nvPr/>
        </p:nvSpPr>
        <p:spPr>
          <a:xfrm rot="0">
            <a:off x="4075081" y="2968561"/>
            <a:ext cx="99926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48.16</a:t>
            </a:r>
          </a:p>
        </p:txBody>
      </p:sp>
      <p:grpSp>
        <p:nvGrpSpPr>
          <p:cNvPr name="Group 57" id="57"/>
          <p:cNvGrpSpPr/>
          <p:nvPr/>
        </p:nvGrpSpPr>
        <p:grpSpPr>
          <a:xfrm rot="0">
            <a:off x="5074253" y="2997136"/>
            <a:ext cx="1383982" cy="247650"/>
            <a:chOff x="0" y="0"/>
            <a:chExt cx="1845310" cy="330200"/>
          </a:xfrm>
        </p:grpSpPr>
        <p:sp>
          <p:nvSpPr>
            <p:cNvPr name="Freeform 58" id="58"/>
            <p:cNvSpPr/>
            <p:nvPr/>
          </p:nvSpPr>
          <p:spPr>
            <a:xfrm flipH="false" flipV="false" rot="0">
              <a:off x="0" y="0"/>
              <a:ext cx="1845310" cy="330200"/>
            </a:xfrm>
            <a:custGeom>
              <a:avLst/>
              <a:gdLst/>
              <a:ahLst/>
              <a:cxnLst/>
              <a:rect r="r" b="b" t="t" l="l"/>
              <a:pathLst>
                <a:path h="330200" w="1845310">
                  <a:moveTo>
                    <a:pt x="0" y="0"/>
                  </a:moveTo>
                  <a:lnTo>
                    <a:pt x="1845310" y="0"/>
                  </a:lnTo>
                  <a:lnTo>
                    <a:pt x="1845310" y="330200"/>
                  </a:lnTo>
                  <a:lnTo>
                    <a:pt x="0" y="330200"/>
                  </a:lnTo>
                  <a:lnTo>
                    <a:pt x="0" y="0"/>
                  </a:lnTo>
                  <a:close/>
                </a:path>
              </a:pathLst>
            </a:custGeom>
            <a:solidFill>
              <a:srgbClr val="2DD4BF">
                <a:alpha val="1176"/>
              </a:srgbClr>
            </a:solidFill>
          </p:spPr>
        </p:sp>
        <p:sp>
          <p:nvSpPr>
            <p:cNvPr name="TextBox 59" id="59"/>
            <p:cNvSpPr txBox="true"/>
            <p:nvPr/>
          </p:nvSpPr>
          <p:spPr>
            <a:xfrm>
              <a:off x="0" y="-28575"/>
              <a:ext cx="1845310"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71.22</a:t>
              </a:r>
            </a:p>
          </p:txBody>
        </p:sp>
      </p:grpSp>
      <p:sp>
        <p:nvSpPr>
          <p:cNvPr name="AutoShape 60" id="60"/>
          <p:cNvSpPr/>
          <p:nvPr/>
        </p:nvSpPr>
        <p:spPr>
          <a:xfrm rot="0">
            <a:off x="5074253" y="3235262"/>
            <a:ext cx="1383982" cy="9525"/>
          </a:xfrm>
          <a:prstGeom prst="rect">
            <a:avLst/>
          </a:prstGeom>
          <a:solidFill>
            <a:srgbClr val="D8DFDD"/>
          </a:solidFill>
        </p:spPr>
      </p:sp>
      <p:grpSp>
        <p:nvGrpSpPr>
          <p:cNvPr name="Group 61" id="61"/>
          <p:cNvGrpSpPr/>
          <p:nvPr/>
        </p:nvGrpSpPr>
        <p:grpSpPr>
          <a:xfrm rot="0">
            <a:off x="6458236" y="2997136"/>
            <a:ext cx="999839" cy="247650"/>
            <a:chOff x="0" y="0"/>
            <a:chExt cx="1333119" cy="330200"/>
          </a:xfrm>
        </p:grpSpPr>
        <p:sp>
          <p:nvSpPr>
            <p:cNvPr name="Freeform 62" id="62"/>
            <p:cNvSpPr/>
            <p:nvPr/>
          </p:nvSpPr>
          <p:spPr>
            <a:xfrm flipH="false" flipV="false" rot="0">
              <a:off x="0" y="0"/>
              <a:ext cx="1333119" cy="330200"/>
            </a:xfrm>
            <a:custGeom>
              <a:avLst/>
              <a:gdLst/>
              <a:ahLst/>
              <a:cxnLst/>
              <a:rect r="r" b="b" t="t" l="l"/>
              <a:pathLst>
                <a:path h="330200" w="1333119">
                  <a:moveTo>
                    <a:pt x="0" y="0"/>
                  </a:moveTo>
                  <a:lnTo>
                    <a:pt x="1333119" y="0"/>
                  </a:lnTo>
                  <a:lnTo>
                    <a:pt x="1333119" y="330200"/>
                  </a:lnTo>
                  <a:lnTo>
                    <a:pt x="0" y="330200"/>
                  </a:lnTo>
                  <a:lnTo>
                    <a:pt x="0" y="0"/>
                  </a:lnTo>
                  <a:close/>
                </a:path>
              </a:pathLst>
            </a:custGeom>
            <a:solidFill>
              <a:srgbClr val="2DD4BF">
                <a:alpha val="1176"/>
              </a:srgbClr>
            </a:solidFill>
          </p:spPr>
        </p:sp>
        <p:sp>
          <p:nvSpPr>
            <p:cNvPr name="TextBox 63" id="63"/>
            <p:cNvSpPr txBox="true"/>
            <p:nvPr/>
          </p:nvSpPr>
          <p:spPr>
            <a:xfrm>
              <a:off x="0" y="-28575"/>
              <a:ext cx="1333119"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34.34</a:t>
              </a:r>
            </a:p>
          </p:txBody>
        </p:sp>
      </p:grpSp>
      <p:sp>
        <p:nvSpPr>
          <p:cNvPr name="AutoShape 64" id="64"/>
          <p:cNvSpPr/>
          <p:nvPr/>
        </p:nvSpPr>
        <p:spPr>
          <a:xfrm rot="0">
            <a:off x="6458236" y="3235262"/>
            <a:ext cx="999839" cy="9525"/>
          </a:xfrm>
          <a:prstGeom prst="rect">
            <a:avLst/>
          </a:prstGeom>
          <a:solidFill>
            <a:srgbClr val="D8DFDD"/>
          </a:solidFill>
        </p:spPr>
      </p:sp>
      <p:sp>
        <p:nvSpPr>
          <p:cNvPr name="AutoShape 65" id="65"/>
          <p:cNvSpPr/>
          <p:nvPr/>
        </p:nvSpPr>
        <p:spPr>
          <a:xfrm rot="0">
            <a:off x="800100" y="3482912"/>
            <a:ext cx="2437543" cy="9525"/>
          </a:xfrm>
          <a:prstGeom prst="rect">
            <a:avLst/>
          </a:prstGeom>
          <a:solidFill>
            <a:srgbClr val="D8DFDD"/>
          </a:solidFill>
        </p:spPr>
      </p:sp>
      <p:sp>
        <p:nvSpPr>
          <p:cNvPr name="TextBox 66" id="66"/>
          <p:cNvSpPr txBox="true"/>
          <p:nvPr/>
        </p:nvSpPr>
        <p:spPr>
          <a:xfrm rot="0">
            <a:off x="800100" y="3216211"/>
            <a:ext cx="243754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 / 10L</a:t>
            </a:r>
          </a:p>
        </p:txBody>
      </p:sp>
      <p:sp>
        <p:nvSpPr>
          <p:cNvPr name="AutoShape 67" id="67"/>
          <p:cNvSpPr/>
          <p:nvPr/>
        </p:nvSpPr>
        <p:spPr>
          <a:xfrm rot="0">
            <a:off x="3237643" y="3482912"/>
            <a:ext cx="837438" cy="9525"/>
          </a:xfrm>
          <a:prstGeom prst="rect">
            <a:avLst/>
          </a:prstGeom>
          <a:solidFill>
            <a:srgbClr val="D8DFDD"/>
          </a:solidFill>
        </p:spPr>
      </p:sp>
      <p:sp>
        <p:nvSpPr>
          <p:cNvPr name="TextBox 68" id="68"/>
          <p:cNvSpPr txBox="true"/>
          <p:nvPr/>
        </p:nvSpPr>
        <p:spPr>
          <a:xfrm rot="0">
            <a:off x="3237643" y="3216211"/>
            <a:ext cx="83743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0.30</a:t>
            </a:r>
          </a:p>
        </p:txBody>
      </p:sp>
      <p:sp>
        <p:nvSpPr>
          <p:cNvPr name="AutoShape 69" id="69"/>
          <p:cNvSpPr/>
          <p:nvPr/>
        </p:nvSpPr>
        <p:spPr>
          <a:xfrm rot="0">
            <a:off x="4075081" y="3482912"/>
            <a:ext cx="999268" cy="9525"/>
          </a:xfrm>
          <a:prstGeom prst="rect">
            <a:avLst/>
          </a:prstGeom>
          <a:solidFill>
            <a:srgbClr val="D8DFDD"/>
          </a:solidFill>
        </p:spPr>
      </p:sp>
      <p:sp>
        <p:nvSpPr>
          <p:cNvPr name="TextBox 70" id="70"/>
          <p:cNvSpPr txBox="true"/>
          <p:nvPr/>
        </p:nvSpPr>
        <p:spPr>
          <a:xfrm rot="0">
            <a:off x="4075081" y="3216211"/>
            <a:ext cx="99926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50.02</a:t>
            </a:r>
          </a:p>
        </p:txBody>
      </p:sp>
      <p:sp>
        <p:nvSpPr>
          <p:cNvPr name="AutoShape 71" id="71"/>
          <p:cNvSpPr/>
          <p:nvPr/>
        </p:nvSpPr>
        <p:spPr>
          <a:xfrm rot="0">
            <a:off x="5074253" y="3482912"/>
            <a:ext cx="1383982" cy="9525"/>
          </a:xfrm>
          <a:prstGeom prst="rect">
            <a:avLst/>
          </a:prstGeom>
          <a:solidFill>
            <a:srgbClr val="D8DFDD"/>
          </a:solidFill>
        </p:spPr>
      </p:sp>
      <p:sp>
        <p:nvSpPr>
          <p:cNvPr name="TextBox 72" id="72"/>
          <p:cNvSpPr txBox="true"/>
          <p:nvPr/>
        </p:nvSpPr>
        <p:spPr>
          <a:xfrm rot="0">
            <a:off x="5074253" y="3216211"/>
            <a:ext cx="138398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69.33</a:t>
            </a:r>
          </a:p>
        </p:txBody>
      </p:sp>
      <p:sp>
        <p:nvSpPr>
          <p:cNvPr name="AutoShape 73" id="73"/>
          <p:cNvSpPr/>
          <p:nvPr/>
        </p:nvSpPr>
        <p:spPr>
          <a:xfrm rot="0">
            <a:off x="6458236" y="3482912"/>
            <a:ext cx="999839" cy="9525"/>
          </a:xfrm>
          <a:prstGeom prst="rect">
            <a:avLst/>
          </a:prstGeom>
          <a:solidFill>
            <a:srgbClr val="D8DFDD"/>
          </a:solidFill>
        </p:spPr>
      </p:sp>
      <p:sp>
        <p:nvSpPr>
          <p:cNvPr name="TextBox 74" id="74"/>
          <p:cNvSpPr txBox="true"/>
          <p:nvPr/>
        </p:nvSpPr>
        <p:spPr>
          <a:xfrm rot="0">
            <a:off x="6458236" y="3216211"/>
            <a:ext cx="99983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31.12</a:t>
            </a:r>
          </a:p>
        </p:txBody>
      </p:sp>
      <p:sp>
        <p:nvSpPr>
          <p:cNvPr name="AutoShape 75" id="75"/>
          <p:cNvSpPr/>
          <p:nvPr/>
        </p:nvSpPr>
        <p:spPr>
          <a:xfrm rot="0">
            <a:off x="800100" y="3730562"/>
            <a:ext cx="2437543" cy="9525"/>
          </a:xfrm>
          <a:prstGeom prst="rect">
            <a:avLst/>
          </a:prstGeom>
          <a:solidFill>
            <a:srgbClr val="D8DFDD"/>
          </a:solidFill>
        </p:spPr>
      </p:sp>
      <p:sp>
        <p:nvSpPr>
          <p:cNvPr name="TextBox 76" id="76"/>
          <p:cNvSpPr txBox="true"/>
          <p:nvPr/>
        </p:nvSpPr>
        <p:spPr>
          <a:xfrm rot="0">
            <a:off x="800100" y="3463861"/>
            <a:ext cx="2437543"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teammates / 11L</a:t>
            </a:r>
          </a:p>
        </p:txBody>
      </p:sp>
      <p:sp>
        <p:nvSpPr>
          <p:cNvPr name="AutoShape 77" id="77"/>
          <p:cNvSpPr/>
          <p:nvPr/>
        </p:nvSpPr>
        <p:spPr>
          <a:xfrm rot="0">
            <a:off x="3237643" y="3730562"/>
            <a:ext cx="837438" cy="9525"/>
          </a:xfrm>
          <a:prstGeom prst="rect">
            <a:avLst/>
          </a:prstGeom>
          <a:solidFill>
            <a:srgbClr val="D8DFDD"/>
          </a:solidFill>
        </p:spPr>
      </p:sp>
      <p:sp>
        <p:nvSpPr>
          <p:cNvPr name="TextBox 78" id="78"/>
          <p:cNvSpPr txBox="true"/>
          <p:nvPr/>
        </p:nvSpPr>
        <p:spPr>
          <a:xfrm rot="0">
            <a:off x="3237643" y="3463861"/>
            <a:ext cx="83743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0.30</a:t>
            </a:r>
          </a:p>
        </p:txBody>
      </p:sp>
      <p:sp>
        <p:nvSpPr>
          <p:cNvPr name="AutoShape 79" id="79"/>
          <p:cNvSpPr/>
          <p:nvPr/>
        </p:nvSpPr>
        <p:spPr>
          <a:xfrm rot="0">
            <a:off x="4075081" y="3730562"/>
            <a:ext cx="999268" cy="9525"/>
          </a:xfrm>
          <a:prstGeom prst="rect">
            <a:avLst/>
          </a:prstGeom>
          <a:solidFill>
            <a:srgbClr val="D8DFDD"/>
          </a:solidFill>
        </p:spPr>
      </p:sp>
      <p:sp>
        <p:nvSpPr>
          <p:cNvPr name="TextBox 80" id="80"/>
          <p:cNvSpPr txBox="true"/>
          <p:nvPr/>
        </p:nvSpPr>
        <p:spPr>
          <a:xfrm rot="0">
            <a:off x="4075081" y="3463861"/>
            <a:ext cx="999268"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50.16</a:t>
            </a:r>
          </a:p>
        </p:txBody>
      </p:sp>
      <p:sp>
        <p:nvSpPr>
          <p:cNvPr name="AutoShape 81" id="81"/>
          <p:cNvSpPr/>
          <p:nvPr/>
        </p:nvSpPr>
        <p:spPr>
          <a:xfrm rot="0">
            <a:off x="5074253" y="3730562"/>
            <a:ext cx="1383982" cy="9525"/>
          </a:xfrm>
          <a:prstGeom prst="rect">
            <a:avLst/>
          </a:prstGeom>
          <a:solidFill>
            <a:srgbClr val="D8DFDD"/>
          </a:solidFill>
        </p:spPr>
      </p:sp>
      <p:sp>
        <p:nvSpPr>
          <p:cNvPr name="TextBox 82" id="82"/>
          <p:cNvSpPr txBox="true"/>
          <p:nvPr/>
        </p:nvSpPr>
        <p:spPr>
          <a:xfrm rot="0">
            <a:off x="5074253" y="3463861"/>
            <a:ext cx="138398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69.87</a:t>
            </a:r>
          </a:p>
        </p:txBody>
      </p:sp>
      <p:sp>
        <p:nvSpPr>
          <p:cNvPr name="AutoShape 83" id="83"/>
          <p:cNvSpPr/>
          <p:nvPr/>
        </p:nvSpPr>
        <p:spPr>
          <a:xfrm rot="0">
            <a:off x="6458236" y="3730562"/>
            <a:ext cx="999839" cy="9525"/>
          </a:xfrm>
          <a:prstGeom prst="rect">
            <a:avLst/>
          </a:prstGeom>
          <a:solidFill>
            <a:srgbClr val="D8DFDD"/>
          </a:solidFill>
        </p:spPr>
      </p:sp>
      <p:sp>
        <p:nvSpPr>
          <p:cNvPr name="TextBox 84" id="84"/>
          <p:cNvSpPr txBox="true"/>
          <p:nvPr/>
        </p:nvSpPr>
        <p:spPr>
          <a:xfrm rot="0">
            <a:off x="6458236" y="3463861"/>
            <a:ext cx="99983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31.67</a:t>
            </a:r>
          </a:p>
        </p:txBody>
      </p:sp>
      <p:sp>
        <p:nvSpPr>
          <p:cNvPr name="TextBox 85" id="85"/>
          <p:cNvSpPr txBox="true"/>
          <p:nvPr/>
        </p:nvSpPr>
        <p:spPr>
          <a:xfrm rot="0">
            <a:off x="800100" y="3982974"/>
            <a:ext cx="6657975" cy="261366"/>
          </a:xfrm>
          <a:prstGeom prst="rect">
            <a:avLst/>
          </a:prstGeom>
        </p:spPr>
        <p:txBody>
          <a:bodyPr anchor="t" rtlCol="false" tIns="0" lIns="0" bIns="0" rIns="0">
            <a:spAutoFit/>
          </a:bodyPr>
          <a:lstStyle/>
          <a:p>
            <a:pPr algn="l">
              <a:lnSpc>
                <a:spcPts val="1983"/>
              </a:lnSpc>
            </a:pPr>
            <a:r>
              <a:rPr lang="en-US" b="true" sz="1725">
                <a:solidFill>
                  <a:srgbClr val="102126"/>
                </a:solidFill>
                <a:latin typeface="Arial Bold"/>
                <a:ea typeface="Arial Bold"/>
                <a:cs typeface="Arial Bold"/>
                <a:sym typeface="Arial Bold"/>
              </a:rPr>
              <a:t>Single-task MS-TCN exploratory ablation</a:t>
            </a:r>
          </a:p>
        </p:txBody>
      </p:sp>
      <p:sp>
        <p:nvSpPr>
          <p:cNvPr name="AutoShape 86" id="86"/>
          <p:cNvSpPr/>
          <p:nvPr/>
        </p:nvSpPr>
        <p:spPr>
          <a:xfrm rot="0">
            <a:off x="800100" y="4568095"/>
            <a:ext cx="2411730" cy="19050"/>
          </a:xfrm>
          <a:prstGeom prst="rect">
            <a:avLst/>
          </a:prstGeom>
          <a:solidFill>
            <a:srgbClr val="AEBDBB"/>
          </a:solidFill>
        </p:spPr>
      </p:sp>
      <p:sp>
        <p:nvSpPr>
          <p:cNvPr name="TextBox 87" id="87"/>
          <p:cNvSpPr txBox="true"/>
          <p:nvPr/>
        </p:nvSpPr>
        <p:spPr>
          <a:xfrm rot="0">
            <a:off x="800100" y="4291870"/>
            <a:ext cx="2411730"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Loss</a:t>
            </a:r>
          </a:p>
        </p:txBody>
      </p:sp>
      <p:sp>
        <p:nvSpPr>
          <p:cNvPr name="AutoShape 88" id="88"/>
          <p:cNvSpPr/>
          <p:nvPr/>
        </p:nvSpPr>
        <p:spPr>
          <a:xfrm rot="0">
            <a:off x="3211830" y="4568095"/>
            <a:ext cx="1002030" cy="19050"/>
          </a:xfrm>
          <a:prstGeom prst="rect">
            <a:avLst/>
          </a:prstGeom>
          <a:solidFill>
            <a:srgbClr val="AEBDBB"/>
          </a:solidFill>
        </p:spPr>
      </p:sp>
      <p:sp>
        <p:nvSpPr>
          <p:cNvPr name="TextBox 89" id="89"/>
          <p:cNvSpPr txBox="true"/>
          <p:nvPr/>
        </p:nvSpPr>
        <p:spPr>
          <a:xfrm rot="0">
            <a:off x="3211830" y="4291870"/>
            <a:ext cx="1002030"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Acc.</a:t>
            </a:r>
          </a:p>
        </p:txBody>
      </p:sp>
      <p:sp>
        <p:nvSpPr>
          <p:cNvPr name="AutoShape 90" id="90"/>
          <p:cNvSpPr/>
          <p:nvPr/>
        </p:nvSpPr>
        <p:spPr>
          <a:xfrm rot="0">
            <a:off x="4213955" y="4568095"/>
            <a:ext cx="1002030" cy="19050"/>
          </a:xfrm>
          <a:prstGeom prst="rect">
            <a:avLst/>
          </a:prstGeom>
          <a:solidFill>
            <a:srgbClr val="AEBDBB"/>
          </a:solidFill>
        </p:spPr>
      </p:sp>
      <p:sp>
        <p:nvSpPr>
          <p:cNvPr name="TextBox 91" id="91"/>
          <p:cNvSpPr txBox="true"/>
          <p:nvPr/>
        </p:nvSpPr>
        <p:spPr>
          <a:xfrm rot="0">
            <a:off x="4213955" y="4291870"/>
            <a:ext cx="1002030"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F1 M</a:t>
            </a:r>
          </a:p>
        </p:txBody>
      </p:sp>
      <p:sp>
        <p:nvSpPr>
          <p:cNvPr name="AutoShape 92" id="92"/>
          <p:cNvSpPr/>
          <p:nvPr/>
        </p:nvSpPr>
        <p:spPr>
          <a:xfrm rot="0">
            <a:off x="5215985" y="4568095"/>
            <a:ext cx="1239869" cy="19050"/>
          </a:xfrm>
          <a:prstGeom prst="rect">
            <a:avLst/>
          </a:prstGeom>
          <a:solidFill>
            <a:srgbClr val="AEBDBB"/>
          </a:solidFill>
        </p:spPr>
      </p:sp>
      <p:sp>
        <p:nvSpPr>
          <p:cNvPr name="TextBox 93" id="93"/>
          <p:cNvSpPr txBox="true"/>
          <p:nvPr/>
        </p:nvSpPr>
        <p:spPr>
          <a:xfrm rot="0">
            <a:off x="5215985" y="4291870"/>
            <a:ext cx="1239869"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Jacc. M</a:t>
            </a:r>
          </a:p>
        </p:txBody>
      </p:sp>
      <p:sp>
        <p:nvSpPr>
          <p:cNvPr name="AutoShape 94" id="94"/>
          <p:cNvSpPr/>
          <p:nvPr/>
        </p:nvSpPr>
        <p:spPr>
          <a:xfrm rot="0">
            <a:off x="6455854" y="4568095"/>
            <a:ext cx="1002220" cy="19050"/>
          </a:xfrm>
          <a:prstGeom prst="rect">
            <a:avLst/>
          </a:prstGeom>
          <a:solidFill>
            <a:srgbClr val="AEBDBB"/>
          </a:solidFill>
        </p:spPr>
      </p:sp>
      <p:sp>
        <p:nvSpPr>
          <p:cNvPr name="TextBox 95" id="95"/>
          <p:cNvSpPr txBox="true"/>
          <p:nvPr/>
        </p:nvSpPr>
        <p:spPr>
          <a:xfrm rot="0">
            <a:off x="6455854" y="4291870"/>
            <a:ext cx="1002220"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Edit</a:t>
            </a:r>
          </a:p>
        </p:txBody>
      </p:sp>
      <p:sp>
        <p:nvSpPr>
          <p:cNvPr name="AutoShape 96" id="96"/>
          <p:cNvSpPr/>
          <p:nvPr/>
        </p:nvSpPr>
        <p:spPr>
          <a:xfrm rot="0">
            <a:off x="800100" y="4830032"/>
            <a:ext cx="2411730" cy="9525"/>
          </a:xfrm>
          <a:prstGeom prst="rect">
            <a:avLst/>
          </a:prstGeom>
          <a:solidFill>
            <a:srgbClr val="D8DFDD"/>
          </a:solidFill>
        </p:spPr>
      </p:sp>
      <p:sp>
        <p:nvSpPr>
          <p:cNvPr name="TextBox 97" id="97"/>
          <p:cNvSpPr txBox="true"/>
          <p:nvPr/>
        </p:nvSpPr>
        <p:spPr>
          <a:xfrm rot="0">
            <a:off x="800100" y="4558570"/>
            <a:ext cx="241173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Weighted CE</a:t>
            </a:r>
          </a:p>
        </p:txBody>
      </p:sp>
      <p:sp>
        <p:nvSpPr>
          <p:cNvPr name="AutoShape 98" id="98"/>
          <p:cNvSpPr/>
          <p:nvPr/>
        </p:nvSpPr>
        <p:spPr>
          <a:xfrm rot="0">
            <a:off x="3211830" y="4830032"/>
            <a:ext cx="1002030" cy="9525"/>
          </a:xfrm>
          <a:prstGeom prst="rect">
            <a:avLst/>
          </a:prstGeom>
          <a:solidFill>
            <a:srgbClr val="D8DFDD"/>
          </a:solidFill>
        </p:spPr>
      </p:sp>
      <p:sp>
        <p:nvSpPr>
          <p:cNvPr name="TextBox 99" id="99"/>
          <p:cNvSpPr txBox="true"/>
          <p:nvPr/>
        </p:nvSpPr>
        <p:spPr>
          <a:xfrm rot="0">
            <a:off x="3211830" y="4558570"/>
            <a:ext cx="1002030"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91.32</a:t>
            </a:r>
          </a:p>
        </p:txBody>
      </p:sp>
      <p:grpSp>
        <p:nvGrpSpPr>
          <p:cNvPr name="Group 100" id="100"/>
          <p:cNvGrpSpPr/>
          <p:nvPr/>
        </p:nvGrpSpPr>
        <p:grpSpPr>
          <a:xfrm rot="0">
            <a:off x="4213955" y="4587145"/>
            <a:ext cx="1002030" cy="252412"/>
            <a:chOff x="0" y="0"/>
            <a:chExt cx="1336040" cy="336550"/>
          </a:xfrm>
        </p:grpSpPr>
        <p:sp>
          <p:nvSpPr>
            <p:cNvPr name="Freeform 101" id="101"/>
            <p:cNvSpPr/>
            <p:nvPr/>
          </p:nvSpPr>
          <p:spPr>
            <a:xfrm flipH="false" flipV="false" rot="0">
              <a:off x="0" y="0"/>
              <a:ext cx="1336040" cy="336550"/>
            </a:xfrm>
            <a:custGeom>
              <a:avLst/>
              <a:gdLst/>
              <a:ahLst/>
              <a:cxnLst/>
              <a:rect r="r" b="b" t="t" l="l"/>
              <a:pathLst>
                <a:path h="336550" w="1336040">
                  <a:moveTo>
                    <a:pt x="0" y="0"/>
                  </a:moveTo>
                  <a:lnTo>
                    <a:pt x="1336040" y="0"/>
                  </a:lnTo>
                  <a:lnTo>
                    <a:pt x="1336040" y="336550"/>
                  </a:lnTo>
                  <a:lnTo>
                    <a:pt x="0" y="336550"/>
                  </a:lnTo>
                  <a:lnTo>
                    <a:pt x="0" y="0"/>
                  </a:lnTo>
                  <a:close/>
                </a:path>
              </a:pathLst>
            </a:custGeom>
            <a:solidFill>
              <a:srgbClr val="2DD4BF">
                <a:alpha val="1176"/>
              </a:srgbClr>
            </a:solidFill>
          </p:spPr>
        </p:sp>
        <p:sp>
          <p:nvSpPr>
            <p:cNvPr name="TextBox 102" id="102"/>
            <p:cNvSpPr txBox="true"/>
            <p:nvPr/>
          </p:nvSpPr>
          <p:spPr>
            <a:xfrm>
              <a:off x="0" y="-28575"/>
              <a:ext cx="1336040" cy="365125"/>
            </a:xfrm>
            <a:prstGeom prst="rect">
              <a:avLst/>
            </a:prstGeom>
          </p:spPr>
          <p:txBody>
            <a:bodyPr anchor="ctr" rtlCol="false" tIns="60325" lIns="60325" bIns="60325" rIns="60325"/>
            <a:lstStyle/>
            <a:p>
              <a:pPr algn="l">
                <a:lnSpc>
                  <a:spcPts val="1574"/>
                </a:lnSpc>
              </a:pPr>
              <a:r>
                <a:rPr lang="en-US" b="true" sz="1125">
                  <a:solidFill>
                    <a:srgbClr val="087F74"/>
                  </a:solidFill>
                  <a:latin typeface="Arial Bold"/>
                  <a:ea typeface="Arial Bold"/>
                  <a:cs typeface="Arial Bold"/>
                  <a:sym typeface="Arial Bold"/>
                </a:rPr>
                <a:t>87.81</a:t>
              </a:r>
            </a:p>
          </p:txBody>
        </p:sp>
      </p:grpSp>
      <p:sp>
        <p:nvSpPr>
          <p:cNvPr name="AutoShape 103" id="103"/>
          <p:cNvSpPr/>
          <p:nvPr/>
        </p:nvSpPr>
        <p:spPr>
          <a:xfrm rot="0">
            <a:off x="4213955" y="4830032"/>
            <a:ext cx="1002030" cy="9525"/>
          </a:xfrm>
          <a:prstGeom prst="rect">
            <a:avLst/>
          </a:prstGeom>
          <a:solidFill>
            <a:srgbClr val="D8DFDD"/>
          </a:solidFill>
        </p:spPr>
      </p:sp>
      <p:grpSp>
        <p:nvGrpSpPr>
          <p:cNvPr name="Group 104" id="104"/>
          <p:cNvGrpSpPr/>
          <p:nvPr/>
        </p:nvGrpSpPr>
        <p:grpSpPr>
          <a:xfrm rot="0">
            <a:off x="5215985" y="4587145"/>
            <a:ext cx="1239869" cy="252412"/>
            <a:chOff x="0" y="0"/>
            <a:chExt cx="1653159" cy="336550"/>
          </a:xfrm>
        </p:grpSpPr>
        <p:sp>
          <p:nvSpPr>
            <p:cNvPr name="Freeform 105" id="105"/>
            <p:cNvSpPr/>
            <p:nvPr/>
          </p:nvSpPr>
          <p:spPr>
            <a:xfrm flipH="false" flipV="false" rot="0">
              <a:off x="0" y="0"/>
              <a:ext cx="1653159" cy="336550"/>
            </a:xfrm>
            <a:custGeom>
              <a:avLst/>
              <a:gdLst/>
              <a:ahLst/>
              <a:cxnLst/>
              <a:rect r="r" b="b" t="t" l="l"/>
              <a:pathLst>
                <a:path h="336550" w="1653159">
                  <a:moveTo>
                    <a:pt x="0" y="0"/>
                  </a:moveTo>
                  <a:lnTo>
                    <a:pt x="1653159" y="0"/>
                  </a:lnTo>
                  <a:lnTo>
                    <a:pt x="1653159" y="336550"/>
                  </a:lnTo>
                  <a:lnTo>
                    <a:pt x="0" y="336550"/>
                  </a:lnTo>
                  <a:lnTo>
                    <a:pt x="0" y="0"/>
                  </a:lnTo>
                  <a:close/>
                </a:path>
              </a:pathLst>
            </a:custGeom>
            <a:solidFill>
              <a:srgbClr val="2DD4BF">
                <a:alpha val="1176"/>
              </a:srgbClr>
            </a:solidFill>
          </p:spPr>
        </p:sp>
        <p:sp>
          <p:nvSpPr>
            <p:cNvPr name="TextBox 106" id="106"/>
            <p:cNvSpPr txBox="true"/>
            <p:nvPr/>
          </p:nvSpPr>
          <p:spPr>
            <a:xfrm>
              <a:off x="0" y="-28575"/>
              <a:ext cx="1653159" cy="365125"/>
            </a:xfrm>
            <a:prstGeom prst="rect">
              <a:avLst/>
            </a:prstGeom>
          </p:spPr>
          <p:txBody>
            <a:bodyPr anchor="ctr" rtlCol="false" tIns="60325" lIns="60325" bIns="60325" rIns="60325"/>
            <a:lstStyle/>
            <a:p>
              <a:pPr algn="r">
                <a:lnSpc>
                  <a:spcPts val="1574"/>
                </a:lnSpc>
              </a:pPr>
              <a:r>
                <a:rPr lang="en-US" b="true" sz="1125">
                  <a:solidFill>
                    <a:srgbClr val="087F74"/>
                  </a:solidFill>
                  <a:latin typeface="Arial Bold"/>
                  <a:ea typeface="Arial Bold"/>
                  <a:cs typeface="Arial Bold"/>
                  <a:sym typeface="Arial Bold"/>
                </a:rPr>
                <a:t>78.49</a:t>
              </a:r>
            </a:p>
          </p:txBody>
        </p:sp>
      </p:grpSp>
      <p:sp>
        <p:nvSpPr>
          <p:cNvPr name="AutoShape 107" id="107"/>
          <p:cNvSpPr/>
          <p:nvPr/>
        </p:nvSpPr>
        <p:spPr>
          <a:xfrm rot="0">
            <a:off x="5215985" y="4830032"/>
            <a:ext cx="1239869" cy="9525"/>
          </a:xfrm>
          <a:prstGeom prst="rect">
            <a:avLst/>
          </a:prstGeom>
          <a:solidFill>
            <a:srgbClr val="D8DFDD"/>
          </a:solidFill>
        </p:spPr>
      </p:sp>
      <p:sp>
        <p:nvSpPr>
          <p:cNvPr name="AutoShape 108" id="108"/>
          <p:cNvSpPr/>
          <p:nvPr/>
        </p:nvSpPr>
        <p:spPr>
          <a:xfrm rot="0">
            <a:off x="6455854" y="4830032"/>
            <a:ext cx="1002220" cy="9525"/>
          </a:xfrm>
          <a:prstGeom prst="rect">
            <a:avLst/>
          </a:prstGeom>
          <a:solidFill>
            <a:srgbClr val="D8DFDD"/>
          </a:solidFill>
        </p:spPr>
      </p:sp>
      <p:sp>
        <p:nvSpPr>
          <p:cNvPr name="TextBox 109" id="109"/>
          <p:cNvSpPr txBox="true"/>
          <p:nvPr/>
        </p:nvSpPr>
        <p:spPr>
          <a:xfrm rot="0">
            <a:off x="6455854" y="4558570"/>
            <a:ext cx="1002220"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79.13</a:t>
            </a:r>
          </a:p>
        </p:txBody>
      </p:sp>
      <p:sp>
        <p:nvSpPr>
          <p:cNvPr name="AutoShape 110" id="110"/>
          <p:cNvSpPr/>
          <p:nvPr/>
        </p:nvSpPr>
        <p:spPr>
          <a:xfrm rot="0">
            <a:off x="800100" y="5077682"/>
            <a:ext cx="2411730" cy="9525"/>
          </a:xfrm>
          <a:prstGeom prst="rect">
            <a:avLst/>
          </a:prstGeom>
          <a:solidFill>
            <a:srgbClr val="D8DFDD"/>
          </a:solidFill>
        </p:spPr>
      </p:sp>
      <p:sp>
        <p:nvSpPr>
          <p:cNvPr name="TextBox 111" id="111"/>
          <p:cNvSpPr txBox="true"/>
          <p:nvPr/>
        </p:nvSpPr>
        <p:spPr>
          <a:xfrm rot="0">
            <a:off x="800100" y="4810982"/>
            <a:ext cx="241173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Focal γ=1</a:t>
            </a:r>
          </a:p>
        </p:txBody>
      </p:sp>
      <p:sp>
        <p:nvSpPr>
          <p:cNvPr name="AutoShape 112" id="112"/>
          <p:cNvSpPr/>
          <p:nvPr/>
        </p:nvSpPr>
        <p:spPr>
          <a:xfrm rot="0">
            <a:off x="3211830" y="5077682"/>
            <a:ext cx="1002030" cy="9525"/>
          </a:xfrm>
          <a:prstGeom prst="rect">
            <a:avLst/>
          </a:prstGeom>
          <a:solidFill>
            <a:srgbClr val="D8DFDD"/>
          </a:solidFill>
        </p:spPr>
      </p:sp>
      <p:sp>
        <p:nvSpPr>
          <p:cNvPr name="TextBox 113" id="113"/>
          <p:cNvSpPr txBox="true"/>
          <p:nvPr/>
        </p:nvSpPr>
        <p:spPr>
          <a:xfrm rot="0">
            <a:off x="3211830" y="4810982"/>
            <a:ext cx="100203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91.43</a:t>
            </a:r>
          </a:p>
        </p:txBody>
      </p:sp>
      <p:sp>
        <p:nvSpPr>
          <p:cNvPr name="AutoShape 114" id="114"/>
          <p:cNvSpPr/>
          <p:nvPr/>
        </p:nvSpPr>
        <p:spPr>
          <a:xfrm rot="0">
            <a:off x="4213955" y="5077682"/>
            <a:ext cx="1002030" cy="9525"/>
          </a:xfrm>
          <a:prstGeom prst="rect">
            <a:avLst/>
          </a:prstGeom>
          <a:solidFill>
            <a:srgbClr val="D8DFDD"/>
          </a:solidFill>
        </p:spPr>
      </p:sp>
      <p:sp>
        <p:nvSpPr>
          <p:cNvPr name="TextBox 115" id="115"/>
          <p:cNvSpPr txBox="true"/>
          <p:nvPr/>
        </p:nvSpPr>
        <p:spPr>
          <a:xfrm rot="0">
            <a:off x="4213955" y="4810982"/>
            <a:ext cx="100203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87.36</a:t>
            </a:r>
          </a:p>
        </p:txBody>
      </p:sp>
      <p:sp>
        <p:nvSpPr>
          <p:cNvPr name="AutoShape 116" id="116"/>
          <p:cNvSpPr/>
          <p:nvPr/>
        </p:nvSpPr>
        <p:spPr>
          <a:xfrm rot="0">
            <a:off x="5215985" y="5077682"/>
            <a:ext cx="1239869" cy="9525"/>
          </a:xfrm>
          <a:prstGeom prst="rect">
            <a:avLst/>
          </a:prstGeom>
          <a:solidFill>
            <a:srgbClr val="D8DFDD"/>
          </a:solidFill>
        </p:spPr>
      </p:sp>
      <p:sp>
        <p:nvSpPr>
          <p:cNvPr name="TextBox 117" id="117"/>
          <p:cNvSpPr txBox="true"/>
          <p:nvPr/>
        </p:nvSpPr>
        <p:spPr>
          <a:xfrm rot="0">
            <a:off x="5215985" y="4810982"/>
            <a:ext cx="123986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77.80</a:t>
            </a:r>
          </a:p>
        </p:txBody>
      </p:sp>
      <p:grpSp>
        <p:nvGrpSpPr>
          <p:cNvPr name="Group 118" id="118"/>
          <p:cNvGrpSpPr/>
          <p:nvPr/>
        </p:nvGrpSpPr>
        <p:grpSpPr>
          <a:xfrm rot="0">
            <a:off x="6455854" y="4839557"/>
            <a:ext cx="1002220" cy="247650"/>
            <a:chOff x="0" y="0"/>
            <a:chExt cx="1336294" cy="330200"/>
          </a:xfrm>
        </p:grpSpPr>
        <p:sp>
          <p:nvSpPr>
            <p:cNvPr name="Freeform 119" id="119"/>
            <p:cNvSpPr/>
            <p:nvPr/>
          </p:nvSpPr>
          <p:spPr>
            <a:xfrm flipH="false" flipV="false" rot="0">
              <a:off x="0" y="0"/>
              <a:ext cx="1336294" cy="330200"/>
            </a:xfrm>
            <a:custGeom>
              <a:avLst/>
              <a:gdLst/>
              <a:ahLst/>
              <a:cxnLst/>
              <a:rect r="r" b="b" t="t" l="l"/>
              <a:pathLst>
                <a:path h="330200" w="1336294">
                  <a:moveTo>
                    <a:pt x="0" y="0"/>
                  </a:moveTo>
                  <a:lnTo>
                    <a:pt x="1336294" y="0"/>
                  </a:lnTo>
                  <a:lnTo>
                    <a:pt x="1336294" y="330200"/>
                  </a:lnTo>
                  <a:lnTo>
                    <a:pt x="0" y="330200"/>
                  </a:lnTo>
                  <a:lnTo>
                    <a:pt x="0" y="0"/>
                  </a:lnTo>
                  <a:close/>
                </a:path>
              </a:pathLst>
            </a:custGeom>
            <a:solidFill>
              <a:srgbClr val="2DD4BF">
                <a:alpha val="1176"/>
              </a:srgbClr>
            </a:solidFill>
          </p:spPr>
        </p:sp>
        <p:sp>
          <p:nvSpPr>
            <p:cNvPr name="TextBox 120" id="120"/>
            <p:cNvSpPr txBox="true"/>
            <p:nvPr/>
          </p:nvSpPr>
          <p:spPr>
            <a:xfrm>
              <a:off x="0" y="-28575"/>
              <a:ext cx="1336294" cy="358775"/>
            </a:xfrm>
            <a:prstGeom prst="rect">
              <a:avLst/>
            </a:prstGeom>
          </p:spPr>
          <p:txBody>
            <a:bodyPr anchor="ctr" rtlCol="false" tIns="57150" lIns="57150" bIns="57150" rIns="57150"/>
            <a:lstStyle/>
            <a:p>
              <a:pPr algn="r">
                <a:lnSpc>
                  <a:spcPts val="1574"/>
                </a:lnSpc>
              </a:pPr>
              <a:r>
                <a:rPr lang="en-US" b="true" sz="1125">
                  <a:solidFill>
                    <a:srgbClr val="087F74"/>
                  </a:solidFill>
                  <a:latin typeface="Arial Bold"/>
                  <a:ea typeface="Arial Bold"/>
                  <a:cs typeface="Arial Bold"/>
                  <a:sym typeface="Arial Bold"/>
                </a:rPr>
                <a:t>82.41</a:t>
              </a:r>
            </a:p>
          </p:txBody>
        </p:sp>
      </p:grpSp>
      <p:sp>
        <p:nvSpPr>
          <p:cNvPr name="AutoShape 121" id="121"/>
          <p:cNvSpPr/>
          <p:nvPr/>
        </p:nvSpPr>
        <p:spPr>
          <a:xfrm rot="0">
            <a:off x="6455854" y="5077682"/>
            <a:ext cx="1002220" cy="9525"/>
          </a:xfrm>
          <a:prstGeom prst="rect">
            <a:avLst/>
          </a:prstGeom>
          <a:solidFill>
            <a:srgbClr val="D8DFDD"/>
          </a:solidFill>
        </p:spPr>
      </p:sp>
      <p:sp>
        <p:nvSpPr>
          <p:cNvPr name="AutoShape 122" id="122"/>
          <p:cNvSpPr/>
          <p:nvPr/>
        </p:nvSpPr>
        <p:spPr>
          <a:xfrm rot="0">
            <a:off x="800100" y="5325332"/>
            <a:ext cx="2411730" cy="9525"/>
          </a:xfrm>
          <a:prstGeom prst="rect">
            <a:avLst/>
          </a:prstGeom>
          <a:solidFill>
            <a:srgbClr val="D8DFDD"/>
          </a:solidFill>
        </p:spPr>
      </p:sp>
      <p:sp>
        <p:nvSpPr>
          <p:cNvPr name="TextBox 123" id="123"/>
          <p:cNvSpPr txBox="true"/>
          <p:nvPr/>
        </p:nvSpPr>
        <p:spPr>
          <a:xfrm rot="0">
            <a:off x="800100" y="5058632"/>
            <a:ext cx="241173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Boundary-aware</a:t>
            </a:r>
          </a:p>
        </p:txBody>
      </p:sp>
      <p:grpSp>
        <p:nvGrpSpPr>
          <p:cNvPr name="Group 124" id="124"/>
          <p:cNvGrpSpPr/>
          <p:nvPr/>
        </p:nvGrpSpPr>
        <p:grpSpPr>
          <a:xfrm rot="0">
            <a:off x="3211830" y="5087207"/>
            <a:ext cx="1002030" cy="247650"/>
            <a:chOff x="0" y="0"/>
            <a:chExt cx="1336040" cy="330200"/>
          </a:xfrm>
        </p:grpSpPr>
        <p:sp>
          <p:nvSpPr>
            <p:cNvPr name="Freeform 125" id="125"/>
            <p:cNvSpPr/>
            <p:nvPr/>
          </p:nvSpPr>
          <p:spPr>
            <a:xfrm flipH="false" flipV="false" rot="0">
              <a:off x="0" y="0"/>
              <a:ext cx="1336040" cy="330200"/>
            </a:xfrm>
            <a:custGeom>
              <a:avLst/>
              <a:gdLst/>
              <a:ahLst/>
              <a:cxnLst/>
              <a:rect r="r" b="b" t="t" l="l"/>
              <a:pathLst>
                <a:path h="330200" w="1336040">
                  <a:moveTo>
                    <a:pt x="0" y="0"/>
                  </a:moveTo>
                  <a:lnTo>
                    <a:pt x="1336040" y="0"/>
                  </a:lnTo>
                  <a:lnTo>
                    <a:pt x="1336040" y="330200"/>
                  </a:lnTo>
                  <a:lnTo>
                    <a:pt x="0" y="330200"/>
                  </a:lnTo>
                  <a:lnTo>
                    <a:pt x="0" y="0"/>
                  </a:lnTo>
                  <a:close/>
                </a:path>
              </a:pathLst>
            </a:custGeom>
            <a:solidFill>
              <a:srgbClr val="2DD4BF">
                <a:alpha val="1176"/>
              </a:srgbClr>
            </a:solidFill>
          </p:spPr>
        </p:sp>
        <p:sp>
          <p:nvSpPr>
            <p:cNvPr name="TextBox 126" id="126"/>
            <p:cNvSpPr txBox="true"/>
            <p:nvPr/>
          </p:nvSpPr>
          <p:spPr>
            <a:xfrm>
              <a:off x="0" y="-28575"/>
              <a:ext cx="1336040" cy="358775"/>
            </a:xfrm>
            <a:prstGeom prst="rect">
              <a:avLst/>
            </a:prstGeom>
          </p:spPr>
          <p:txBody>
            <a:bodyPr anchor="ctr" rtlCol="false" tIns="57150" lIns="57150" bIns="57150" rIns="57150"/>
            <a:lstStyle/>
            <a:p>
              <a:pPr algn="l">
                <a:lnSpc>
                  <a:spcPts val="1574"/>
                </a:lnSpc>
              </a:pPr>
              <a:r>
                <a:rPr lang="en-US" b="true" sz="1125">
                  <a:solidFill>
                    <a:srgbClr val="087F74"/>
                  </a:solidFill>
                  <a:latin typeface="Arial Bold"/>
                  <a:ea typeface="Arial Bold"/>
                  <a:cs typeface="Arial Bold"/>
                  <a:sym typeface="Arial Bold"/>
                </a:rPr>
                <a:t>91.49</a:t>
              </a:r>
            </a:p>
          </p:txBody>
        </p:sp>
      </p:grpSp>
      <p:sp>
        <p:nvSpPr>
          <p:cNvPr name="AutoShape 127" id="127"/>
          <p:cNvSpPr/>
          <p:nvPr/>
        </p:nvSpPr>
        <p:spPr>
          <a:xfrm rot="0">
            <a:off x="3211830" y="5325332"/>
            <a:ext cx="1002030" cy="9525"/>
          </a:xfrm>
          <a:prstGeom prst="rect">
            <a:avLst/>
          </a:prstGeom>
          <a:solidFill>
            <a:srgbClr val="D8DFDD"/>
          </a:solidFill>
        </p:spPr>
      </p:sp>
      <p:sp>
        <p:nvSpPr>
          <p:cNvPr name="AutoShape 128" id="128"/>
          <p:cNvSpPr/>
          <p:nvPr/>
        </p:nvSpPr>
        <p:spPr>
          <a:xfrm rot="0">
            <a:off x="4213955" y="5325332"/>
            <a:ext cx="1002030" cy="9525"/>
          </a:xfrm>
          <a:prstGeom prst="rect">
            <a:avLst/>
          </a:prstGeom>
          <a:solidFill>
            <a:srgbClr val="D8DFDD"/>
          </a:solidFill>
        </p:spPr>
      </p:sp>
      <p:sp>
        <p:nvSpPr>
          <p:cNvPr name="TextBox 129" id="129"/>
          <p:cNvSpPr txBox="true"/>
          <p:nvPr/>
        </p:nvSpPr>
        <p:spPr>
          <a:xfrm rot="0">
            <a:off x="4213955" y="5058632"/>
            <a:ext cx="1002030"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87.00</a:t>
            </a:r>
          </a:p>
        </p:txBody>
      </p:sp>
      <p:sp>
        <p:nvSpPr>
          <p:cNvPr name="AutoShape 130" id="130"/>
          <p:cNvSpPr/>
          <p:nvPr/>
        </p:nvSpPr>
        <p:spPr>
          <a:xfrm rot="0">
            <a:off x="5215985" y="5325332"/>
            <a:ext cx="1239869" cy="9525"/>
          </a:xfrm>
          <a:prstGeom prst="rect">
            <a:avLst/>
          </a:prstGeom>
          <a:solidFill>
            <a:srgbClr val="D8DFDD"/>
          </a:solidFill>
        </p:spPr>
      </p:sp>
      <p:sp>
        <p:nvSpPr>
          <p:cNvPr name="TextBox 131" id="131"/>
          <p:cNvSpPr txBox="true"/>
          <p:nvPr/>
        </p:nvSpPr>
        <p:spPr>
          <a:xfrm rot="0">
            <a:off x="5215985" y="5058632"/>
            <a:ext cx="1239869"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77.31</a:t>
            </a:r>
          </a:p>
        </p:txBody>
      </p:sp>
      <p:sp>
        <p:nvSpPr>
          <p:cNvPr name="AutoShape 132" id="132"/>
          <p:cNvSpPr/>
          <p:nvPr/>
        </p:nvSpPr>
        <p:spPr>
          <a:xfrm rot="0">
            <a:off x="6455854" y="5325332"/>
            <a:ext cx="1002220" cy="9525"/>
          </a:xfrm>
          <a:prstGeom prst="rect">
            <a:avLst/>
          </a:prstGeom>
          <a:solidFill>
            <a:srgbClr val="D8DFDD"/>
          </a:solidFill>
        </p:spPr>
      </p:sp>
      <p:sp>
        <p:nvSpPr>
          <p:cNvPr name="TextBox 133" id="133"/>
          <p:cNvSpPr txBox="true"/>
          <p:nvPr/>
        </p:nvSpPr>
        <p:spPr>
          <a:xfrm rot="0">
            <a:off x="6455854" y="5058632"/>
            <a:ext cx="1002220"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81.15</a:t>
            </a:r>
          </a:p>
        </p:txBody>
      </p:sp>
      <p:sp>
        <p:nvSpPr>
          <p:cNvPr name="TextBox 134" id="134"/>
          <p:cNvSpPr txBox="true"/>
          <p:nvPr/>
        </p:nvSpPr>
        <p:spPr>
          <a:xfrm rot="0">
            <a:off x="7781925" y="1645158"/>
            <a:ext cx="6657975" cy="261366"/>
          </a:xfrm>
          <a:prstGeom prst="rect">
            <a:avLst/>
          </a:prstGeom>
        </p:spPr>
        <p:txBody>
          <a:bodyPr anchor="t" rtlCol="false" tIns="0" lIns="0" bIns="0" rIns="0">
            <a:spAutoFit/>
          </a:bodyPr>
          <a:lstStyle/>
          <a:p>
            <a:pPr algn="l">
              <a:lnSpc>
                <a:spcPts val="1983"/>
              </a:lnSpc>
            </a:pPr>
            <a:r>
              <a:rPr lang="en-US" b="true" sz="1725">
                <a:solidFill>
                  <a:srgbClr val="102126"/>
                </a:solidFill>
                <a:latin typeface="Arial Bold"/>
                <a:ea typeface="Arial Bold"/>
                <a:cs typeface="Arial Bold"/>
                <a:sym typeface="Arial Bold"/>
              </a:rPr>
              <a:t>Computational efficiency</a:t>
            </a:r>
          </a:p>
        </p:txBody>
      </p:sp>
      <p:sp>
        <p:nvSpPr>
          <p:cNvPr name="AutoShape 135" id="135"/>
          <p:cNvSpPr/>
          <p:nvPr/>
        </p:nvSpPr>
        <p:spPr>
          <a:xfrm rot="0">
            <a:off x="7781925" y="2230374"/>
            <a:ext cx="1857947" cy="19050"/>
          </a:xfrm>
          <a:prstGeom prst="rect">
            <a:avLst/>
          </a:prstGeom>
          <a:solidFill>
            <a:srgbClr val="AEBDBB"/>
          </a:solidFill>
        </p:spPr>
      </p:sp>
      <p:sp>
        <p:nvSpPr>
          <p:cNvPr name="TextBox 136" id="136"/>
          <p:cNvSpPr txBox="true"/>
          <p:nvPr/>
        </p:nvSpPr>
        <p:spPr>
          <a:xfrm rot="0">
            <a:off x="7781925" y="1954149"/>
            <a:ext cx="1857947"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Model</a:t>
            </a:r>
          </a:p>
        </p:txBody>
      </p:sp>
      <p:sp>
        <p:nvSpPr>
          <p:cNvPr name="AutoShape 137" id="137"/>
          <p:cNvSpPr/>
          <p:nvPr/>
        </p:nvSpPr>
        <p:spPr>
          <a:xfrm rot="0">
            <a:off x="9639872" y="2230374"/>
            <a:ext cx="1170242" cy="19050"/>
          </a:xfrm>
          <a:prstGeom prst="rect">
            <a:avLst/>
          </a:prstGeom>
          <a:solidFill>
            <a:srgbClr val="AEBDBB"/>
          </a:solidFill>
        </p:spPr>
      </p:sp>
      <p:sp>
        <p:nvSpPr>
          <p:cNvPr name="TextBox 138" id="138"/>
          <p:cNvSpPr txBox="true"/>
          <p:nvPr/>
        </p:nvSpPr>
        <p:spPr>
          <a:xfrm rot="0">
            <a:off x="9639872" y="1954149"/>
            <a:ext cx="1170242"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Params</a:t>
            </a:r>
          </a:p>
        </p:txBody>
      </p:sp>
      <p:sp>
        <p:nvSpPr>
          <p:cNvPr name="AutoShape 139" id="139"/>
          <p:cNvSpPr/>
          <p:nvPr/>
        </p:nvSpPr>
        <p:spPr>
          <a:xfrm rot="0">
            <a:off x="10810113" y="2230374"/>
            <a:ext cx="1363694" cy="19050"/>
          </a:xfrm>
          <a:prstGeom prst="rect">
            <a:avLst/>
          </a:prstGeom>
          <a:solidFill>
            <a:srgbClr val="AEBDBB"/>
          </a:solidFill>
        </p:spPr>
      </p:sp>
      <p:sp>
        <p:nvSpPr>
          <p:cNvPr name="TextBox 140" id="140"/>
          <p:cNvSpPr txBox="true"/>
          <p:nvPr/>
        </p:nvSpPr>
        <p:spPr>
          <a:xfrm rot="0">
            <a:off x="10810113" y="1954149"/>
            <a:ext cx="1363694" cy="295275"/>
          </a:xfrm>
          <a:prstGeom prst="rect">
            <a:avLst/>
          </a:prstGeom>
        </p:spPr>
        <p:txBody>
          <a:bodyPr anchor="t" rtlCol="false" tIns="0" lIns="0" bIns="0" rIns="0">
            <a:spAutoFit/>
          </a:bodyPr>
          <a:lstStyle/>
          <a:p>
            <a:pPr algn="l">
              <a:lnSpc>
                <a:spcPts val="1364"/>
              </a:lnSpc>
            </a:pPr>
            <a:r>
              <a:rPr lang="en-US" b="true" sz="975" spc="30">
                <a:solidFill>
                  <a:srgbClr val="60757A"/>
                </a:solidFill>
                <a:latin typeface="Arial Bold"/>
                <a:ea typeface="Arial Bold"/>
                <a:cs typeface="Arial Bold"/>
                <a:sym typeface="Arial Bold"/>
              </a:rPr>
              <a:t>Train min</a:t>
            </a:r>
          </a:p>
        </p:txBody>
      </p:sp>
      <p:sp>
        <p:nvSpPr>
          <p:cNvPr name="AutoShape 141" id="141"/>
          <p:cNvSpPr/>
          <p:nvPr/>
        </p:nvSpPr>
        <p:spPr>
          <a:xfrm rot="0">
            <a:off x="12173807" y="2230374"/>
            <a:ext cx="1143762" cy="19050"/>
          </a:xfrm>
          <a:prstGeom prst="rect">
            <a:avLst/>
          </a:prstGeom>
          <a:solidFill>
            <a:srgbClr val="AEBDBB"/>
          </a:solidFill>
        </p:spPr>
      </p:sp>
      <p:sp>
        <p:nvSpPr>
          <p:cNvPr name="TextBox 142" id="142"/>
          <p:cNvSpPr txBox="true"/>
          <p:nvPr/>
        </p:nvSpPr>
        <p:spPr>
          <a:xfrm rot="0">
            <a:off x="12173807" y="1954149"/>
            <a:ext cx="1143762"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VRAM MB</a:t>
            </a:r>
          </a:p>
        </p:txBody>
      </p:sp>
      <p:sp>
        <p:nvSpPr>
          <p:cNvPr name="AutoShape 143" id="143"/>
          <p:cNvSpPr/>
          <p:nvPr/>
        </p:nvSpPr>
        <p:spPr>
          <a:xfrm rot="0">
            <a:off x="13317569" y="2230374"/>
            <a:ext cx="1122331" cy="19050"/>
          </a:xfrm>
          <a:prstGeom prst="rect">
            <a:avLst/>
          </a:prstGeom>
          <a:solidFill>
            <a:srgbClr val="AEBDBB"/>
          </a:solidFill>
        </p:spPr>
      </p:sp>
      <p:sp>
        <p:nvSpPr>
          <p:cNvPr name="TextBox 144" id="144"/>
          <p:cNvSpPr txBox="true"/>
          <p:nvPr/>
        </p:nvSpPr>
        <p:spPr>
          <a:xfrm rot="0">
            <a:off x="13317569" y="1954149"/>
            <a:ext cx="1122331" cy="295275"/>
          </a:xfrm>
          <a:prstGeom prst="rect">
            <a:avLst/>
          </a:prstGeom>
        </p:spPr>
        <p:txBody>
          <a:bodyPr anchor="t" rtlCol="false" tIns="0" lIns="0" bIns="0" rIns="0">
            <a:spAutoFit/>
          </a:bodyPr>
          <a:lstStyle/>
          <a:p>
            <a:pPr algn="r">
              <a:lnSpc>
                <a:spcPts val="1364"/>
              </a:lnSpc>
            </a:pPr>
            <a:r>
              <a:rPr lang="en-US" b="true" sz="975" spc="30">
                <a:solidFill>
                  <a:srgbClr val="60757A"/>
                </a:solidFill>
                <a:latin typeface="Arial Bold"/>
                <a:ea typeface="Arial Bold"/>
                <a:cs typeface="Arial Bold"/>
                <a:sym typeface="Arial Bold"/>
              </a:rPr>
              <a:t>Test s</a:t>
            </a:r>
          </a:p>
        </p:txBody>
      </p:sp>
      <p:sp>
        <p:nvSpPr>
          <p:cNvPr name="AutoShape 145" id="145"/>
          <p:cNvSpPr/>
          <p:nvPr/>
        </p:nvSpPr>
        <p:spPr>
          <a:xfrm rot="0">
            <a:off x="7781925" y="2492312"/>
            <a:ext cx="1857947" cy="9525"/>
          </a:xfrm>
          <a:prstGeom prst="rect">
            <a:avLst/>
          </a:prstGeom>
          <a:solidFill>
            <a:srgbClr val="D8DFDD"/>
          </a:solidFill>
        </p:spPr>
      </p:sp>
      <p:sp>
        <p:nvSpPr>
          <p:cNvPr name="TextBox 146" id="146"/>
          <p:cNvSpPr txBox="true"/>
          <p:nvPr/>
        </p:nvSpPr>
        <p:spPr>
          <a:xfrm rot="0">
            <a:off x="7781925" y="2220849"/>
            <a:ext cx="1857947"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GRU</a:t>
            </a:r>
          </a:p>
        </p:txBody>
      </p:sp>
      <p:sp>
        <p:nvSpPr>
          <p:cNvPr name="AutoShape 147" id="147"/>
          <p:cNvSpPr/>
          <p:nvPr/>
        </p:nvSpPr>
        <p:spPr>
          <a:xfrm rot="0">
            <a:off x="9639872" y="2492312"/>
            <a:ext cx="1170242" cy="9525"/>
          </a:xfrm>
          <a:prstGeom prst="rect">
            <a:avLst/>
          </a:prstGeom>
          <a:solidFill>
            <a:srgbClr val="D8DFDD"/>
          </a:solidFill>
        </p:spPr>
      </p:sp>
      <p:sp>
        <p:nvSpPr>
          <p:cNvPr name="TextBox 148" id="148"/>
          <p:cNvSpPr txBox="true"/>
          <p:nvPr/>
        </p:nvSpPr>
        <p:spPr>
          <a:xfrm rot="0">
            <a:off x="9639872" y="2220849"/>
            <a:ext cx="1170242"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1,316,359</a:t>
            </a:r>
          </a:p>
        </p:txBody>
      </p:sp>
      <p:sp>
        <p:nvSpPr>
          <p:cNvPr name="AutoShape 149" id="149"/>
          <p:cNvSpPr/>
          <p:nvPr/>
        </p:nvSpPr>
        <p:spPr>
          <a:xfrm rot="0">
            <a:off x="10810113" y="2492312"/>
            <a:ext cx="1363694" cy="9525"/>
          </a:xfrm>
          <a:prstGeom prst="rect">
            <a:avLst/>
          </a:prstGeom>
          <a:solidFill>
            <a:srgbClr val="D8DFDD"/>
          </a:solidFill>
        </p:spPr>
      </p:sp>
      <p:sp>
        <p:nvSpPr>
          <p:cNvPr name="TextBox 150" id="150"/>
          <p:cNvSpPr txBox="true"/>
          <p:nvPr/>
        </p:nvSpPr>
        <p:spPr>
          <a:xfrm rot="0">
            <a:off x="10810113" y="2220849"/>
            <a:ext cx="1363694" cy="280987"/>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2.14-3.64</a:t>
            </a:r>
          </a:p>
        </p:txBody>
      </p:sp>
      <p:sp>
        <p:nvSpPr>
          <p:cNvPr name="AutoShape 151" id="151"/>
          <p:cNvSpPr/>
          <p:nvPr/>
        </p:nvSpPr>
        <p:spPr>
          <a:xfrm rot="0">
            <a:off x="12173807" y="2492312"/>
            <a:ext cx="1143762" cy="9525"/>
          </a:xfrm>
          <a:prstGeom prst="rect">
            <a:avLst/>
          </a:prstGeom>
          <a:solidFill>
            <a:srgbClr val="D8DFDD"/>
          </a:solidFill>
        </p:spPr>
      </p:sp>
      <p:sp>
        <p:nvSpPr>
          <p:cNvPr name="TextBox 152" id="152"/>
          <p:cNvSpPr txBox="true"/>
          <p:nvPr/>
        </p:nvSpPr>
        <p:spPr>
          <a:xfrm rot="0">
            <a:off x="12173807" y="2220849"/>
            <a:ext cx="1143762"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205-206</a:t>
            </a:r>
          </a:p>
        </p:txBody>
      </p:sp>
      <p:sp>
        <p:nvSpPr>
          <p:cNvPr name="AutoShape 153" id="153"/>
          <p:cNvSpPr/>
          <p:nvPr/>
        </p:nvSpPr>
        <p:spPr>
          <a:xfrm rot="0">
            <a:off x="13317569" y="2492312"/>
            <a:ext cx="1122331" cy="9525"/>
          </a:xfrm>
          <a:prstGeom prst="rect">
            <a:avLst/>
          </a:prstGeom>
          <a:solidFill>
            <a:srgbClr val="D8DFDD"/>
          </a:solidFill>
        </p:spPr>
      </p:sp>
      <p:sp>
        <p:nvSpPr>
          <p:cNvPr name="TextBox 154" id="154"/>
          <p:cNvSpPr txBox="true"/>
          <p:nvPr/>
        </p:nvSpPr>
        <p:spPr>
          <a:xfrm rot="0">
            <a:off x="13317569" y="2220849"/>
            <a:ext cx="1122331" cy="280987"/>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2.26-2.32</a:t>
            </a:r>
          </a:p>
        </p:txBody>
      </p:sp>
      <p:sp>
        <p:nvSpPr>
          <p:cNvPr name="AutoShape 155" id="155"/>
          <p:cNvSpPr/>
          <p:nvPr/>
        </p:nvSpPr>
        <p:spPr>
          <a:xfrm rot="0">
            <a:off x="7781925" y="2739962"/>
            <a:ext cx="1857947" cy="9525"/>
          </a:xfrm>
          <a:prstGeom prst="rect">
            <a:avLst/>
          </a:prstGeom>
          <a:solidFill>
            <a:srgbClr val="D8DFDD"/>
          </a:solidFill>
        </p:spPr>
      </p:sp>
      <p:sp>
        <p:nvSpPr>
          <p:cNvPr name="TextBox 156" id="156"/>
          <p:cNvSpPr txBox="true"/>
          <p:nvPr/>
        </p:nvSpPr>
        <p:spPr>
          <a:xfrm rot="0">
            <a:off x="7781925" y="247326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BiGRU</a:t>
            </a:r>
          </a:p>
        </p:txBody>
      </p:sp>
      <p:sp>
        <p:nvSpPr>
          <p:cNvPr name="AutoShape 157" id="157"/>
          <p:cNvSpPr/>
          <p:nvPr/>
        </p:nvSpPr>
        <p:spPr>
          <a:xfrm rot="0">
            <a:off x="9639872" y="2739962"/>
            <a:ext cx="1170242" cy="9525"/>
          </a:xfrm>
          <a:prstGeom prst="rect">
            <a:avLst/>
          </a:prstGeom>
          <a:solidFill>
            <a:srgbClr val="D8DFDD"/>
          </a:solidFill>
        </p:spPr>
      </p:sp>
      <p:sp>
        <p:nvSpPr>
          <p:cNvPr name="TextBox 158" id="158"/>
          <p:cNvSpPr txBox="true"/>
          <p:nvPr/>
        </p:nvSpPr>
        <p:spPr>
          <a:xfrm rot="0">
            <a:off x="9639872" y="247326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1,119,751</a:t>
            </a:r>
          </a:p>
        </p:txBody>
      </p:sp>
      <p:sp>
        <p:nvSpPr>
          <p:cNvPr name="AutoShape 159" id="159"/>
          <p:cNvSpPr/>
          <p:nvPr/>
        </p:nvSpPr>
        <p:spPr>
          <a:xfrm rot="0">
            <a:off x="10810113" y="2739962"/>
            <a:ext cx="1363694" cy="9525"/>
          </a:xfrm>
          <a:prstGeom prst="rect">
            <a:avLst/>
          </a:prstGeom>
          <a:solidFill>
            <a:srgbClr val="D8DFDD"/>
          </a:solidFill>
        </p:spPr>
      </p:sp>
      <p:sp>
        <p:nvSpPr>
          <p:cNvPr name="TextBox 160" id="160"/>
          <p:cNvSpPr txBox="true"/>
          <p:nvPr/>
        </p:nvSpPr>
        <p:spPr>
          <a:xfrm rot="0">
            <a:off x="10810113" y="247326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0.47-0.82</a:t>
            </a:r>
          </a:p>
        </p:txBody>
      </p:sp>
      <p:sp>
        <p:nvSpPr>
          <p:cNvPr name="AutoShape 161" id="161"/>
          <p:cNvSpPr/>
          <p:nvPr/>
        </p:nvSpPr>
        <p:spPr>
          <a:xfrm rot="0">
            <a:off x="12173807" y="2739962"/>
            <a:ext cx="1143762" cy="9525"/>
          </a:xfrm>
          <a:prstGeom prst="rect">
            <a:avLst/>
          </a:prstGeom>
          <a:solidFill>
            <a:srgbClr val="D8DFDD"/>
          </a:solidFill>
        </p:spPr>
      </p:sp>
      <p:sp>
        <p:nvSpPr>
          <p:cNvPr name="TextBox 162" id="162"/>
          <p:cNvSpPr txBox="true"/>
          <p:nvPr/>
        </p:nvSpPr>
        <p:spPr>
          <a:xfrm rot="0">
            <a:off x="12173807" y="247326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252</a:t>
            </a:r>
          </a:p>
        </p:txBody>
      </p:sp>
      <p:sp>
        <p:nvSpPr>
          <p:cNvPr name="AutoShape 163" id="163"/>
          <p:cNvSpPr/>
          <p:nvPr/>
        </p:nvSpPr>
        <p:spPr>
          <a:xfrm rot="0">
            <a:off x="13317569" y="2739962"/>
            <a:ext cx="1122331" cy="9525"/>
          </a:xfrm>
          <a:prstGeom prst="rect">
            <a:avLst/>
          </a:prstGeom>
          <a:solidFill>
            <a:srgbClr val="D8DFDD"/>
          </a:solidFill>
        </p:spPr>
      </p:sp>
      <p:sp>
        <p:nvSpPr>
          <p:cNvPr name="TextBox 164" id="164"/>
          <p:cNvSpPr txBox="true"/>
          <p:nvPr/>
        </p:nvSpPr>
        <p:spPr>
          <a:xfrm rot="0">
            <a:off x="13317569" y="247326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0.71-0.75</a:t>
            </a:r>
          </a:p>
        </p:txBody>
      </p:sp>
      <p:sp>
        <p:nvSpPr>
          <p:cNvPr name="AutoShape 165" id="165"/>
          <p:cNvSpPr/>
          <p:nvPr/>
        </p:nvSpPr>
        <p:spPr>
          <a:xfrm rot="0">
            <a:off x="7781925" y="2987612"/>
            <a:ext cx="1857947" cy="9525"/>
          </a:xfrm>
          <a:prstGeom prst="rect">
            <a:avLst/>
          </a:prstGeom>
          <a:solidFill>
            <a:srgbClr val="D8DFDD"/>
          </a:solidFill>
        </p:spPr>
      </p:sp>
      <p:sp>
        <p:nvSpPr>
          <p:cNvPr name="TextBox 166" id="166"/>
          <p:cNvSpPr txBox="true"/>
          <p:nvPr/>
        </p:nvSpPr>
        <p:spPr>
          <a:xfrm rot="0">
            <a:off x="7781925" y="272091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MS-CBiGRU</a:t>
            </a:r>
          </a:p>
        </p:txBody>
      </p:sp>
      <p:sp>
        <p:nvSpPr>
          <p:cNvPr name="AutoShape 167" id="167"/>
          <p:cNvSpPr/>
          <p:nvPr/>
        </p:nvSpPr>
        <p:spPr>
          <a:xfrm rot="0">
            <a:off x="9639872" y="2987612"/>
            <a:ext cx="1170242" cy="9525"/>
          </a:xfrm>
          <a:prstGeom prst="rect">
            <a:avLst/>
          </a:prstGeom>
          <a:solidFill>
            <a:srgbClr val="D8DFDD"/>
          </a:solidFill>
        </p:spPr>
      </p:sp>
      <p:sp>
        <p:nvSpPr>
          <p:cNvPr name="TextBox 168" id="168"/>
          <p:cNvSpPr txBox="true"/>
          <p:nvPr/>
        </p:nvSpPr>
        <p:spPr>
          <a:xfrm rot="0">
            <a:off x="9639872" y="272091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1,382,919</a:t>
            </a:r>
          </a:p>
        </p:txBody>
      </p:sp>
      <p:sp>
        <p:nvSpPr>
          <p:cNvPr name="AutoShape 169" id="169"/>
          <p:cNvSpPr/>
          <p:nvPr/>
        </p:nvSpPr>
        <p:spPr>
          <a:xfrm rot="0">
            <a:off x="10810113" y="2987612"/>
            <a:ext cx="1363694" cy="9525"/>
          </a:xfrm>
          <a:prstGeom prst="rect">
            <a:avLst/>
          </a:prstGeom>
          <a:solidFill>
            <a:srgbClr val="D8DFDD"/>
          </a:solidFill>
        </p:spPr>
      </p:sp>
      <p:sp>
        <p:nvSpPr>
          <p:cNvPr name="TextBox 170" id="170"/>
          <p:cNvSpPr txBox="true"/>
          <p:nvPr/>
        </p:nvSpPr>
        <p:spPr>
          <a:xfrm rot="0">
            <a:off x="10810113" y="272091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0.51-0.92</a:t>
            </a:r>
          </a:p>
        </p:txBody>
      </p:sp>
      <p:sp>
        <p:nvSpPr>
          <p:cNvPr name="AutoShape 171" id="171"/>
          <p:cNvSpPr/>
          <p:nvPr/>
        </p:nvSpPr>
        <p:spPr>
          <a:xfrm rot="0">
            <a:off x="12173807" y="2987612"/>
            <a:ext cx="1143762" cy="9525"/>
          </a:xfrm>
          <a:prstGeom prst="rect">
            <a:avLst/>
          </a:prstGeom>
          <a:solidFill>
            <a:srgbClr val="D8DFDD"/>
          </a:solidFill>
        </p:spPr>
      </p:sp>
      <p:sp>
        <p:nvSpPr>
          <p:cNvPr name="TextBox 172" id="172"/>
          <p:cNvSpPr txBox="true"/>
          <p:nvPr/>
        </p:nvSpPr>
        <p:spPr>
          <a:xfrm rot="0">
            <a:off x="12173807" y="272091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283</a:t>
            </a:r>
          </a:p>
        </p:txBody>
      </p:sp>
      <p:sp>
        <p:nvSpPr>
          <p:cNvPr name="AutoShape 173" id="173"/>
          <p:cNvSpPr/>
          <p:nvPr/>
        </p:nvSpPr>
        <p:spPr>
          <a:xfrm rot="0">
            <a:off x="13317569" y="2987612"/>
            <a:ext cx="1122331" cy="9525"/>
          </a:xfrm>
          <a:prstGeom prst="rect">
            <a:avLst/>
          </a:prstGeom>
          <a:solidFill>
            <a:srgbClr val="D8DFDD"/>
          </a:solidFill>
        </p:spPr>
      </p:sp>
      <p:sp>
        <p:nvSpPr>
          <p:cNvPr name="TextBox 174" id="174"/>
          <p:cNvSpPr txBox="true"/>
          <p:nvPr/>
        </p:nvSpPr>
        <p:spPr>
          <a:xfrm rot="0">
            <a:off x="13317569" y="272091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0.68-0.75</a:t>
            </a:r>
          </a:p>
        </p:txBody>
      </p:sp>
      <p:sp>
        <p:nvSpPr>
          <p:cNvPr name="AutoShape 175" id="175"/>
          <p:cNvSpPr/>
          <p:nvPr/>
        </p:nvSpPr>
        <p:spPr>
          <a:xfrm rot="0">
            <a:off x="7781925" y="3235262"/>
            <a:ext cx="1857947" cy="9525"/>
          </a:xfrm>
          <a:prstGeom prst="rect">
            <a:avLst/>
          </a:prstGeom>
          <a:solidFill>
            <a:srgbClr val="D8DFDD"/>
          </a:solidFill>
        </p:spPr>
      </p:sp>
      <p:sp>
        <p:nvSpPr>
          <p:cNvPr name="TextBox 176" id="176"/>
          <p:cNvSpPr txBox="true"/>
          <p:nvPr/>
        </p:nvSpPr>
        <p:spPr>
          <a:xfrm rot="0">
            <a:off x="7781925" y="296856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Transformer</a:t>
            </a:r>
          </a:p>
        </p:txBody>
      </p:sp>
      <p:sp>
        <p:nvSpPr>
          <p:cNvPr name="AutoShape 177" id="177"/>
          <p:cNvSpPr/>
          <p:nvPr/>
        </p:nvSpPr>
        <p:spPr>
          <a:xfrm rot="0">
            <a:off x="9639872" y="3235262"/>
            <a:ext cx="1170242" cy="9525"/>
          </a:xfrm>
          <a:prstGeom prst="rect">
            <a:avLst/>
          </a:prstGeom>
          <a:solidFill>
            <a:srgbClr val="D8DFDD"/>
          </a:solidFill>
        </p:spPr>
      </p:sp>
      <p:sp>
        <p:nvSpPr>
          <p:cNvPr name="TextBox 178" id="178"/>
          <p:cNvSpPr txBox="true"/>
          <p:nvPr/>
        </p:nvSpPr>
        <p:spPr>
          <a:xfrm rot="0">
            <a:off x="9639872" y="296856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2,173,959</a:t>
            </a:r>
          </a:p>
        </p:txBody>
      </p:sp>
      <p:sp>
        <p:nvSpPr>
          <p:cNvPr name="AutoShape 179" id="179"/>
          <p:cNvSpPr/>
          <p:nvPr/>
        </p:nvSpPr>
        <p:spPr>
          <a:xfrm rot="0">
            <a:off x="10810113" y="3235262"/>
            <a:ext cx="1363694" cy="9525"/>
          </a:xfrm>
          <a:prstGeom prst="rect">
            <a:avLst/>
          </a:prstGeom>
          <a:solidFill>
            <a:srgbClr val="D8DFDD"/>
          </a:solidFill>
        </p:spPr>
      </p:sp>
      <p:sp>
        <p:nvSpPr>
          <p:cNvPr name="TextBox 180" id="180"/>
          <p:cNvSpPr txBox="true"/>
          <p:nvPr/>
        </p:nvSpPr>
        <p:spPr>
          <a:xfrm rot="0">
            <a:off x="10810113" y="296856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6.99-16.72</a:t>
            </a:r>
          </a:p>
        </p:txBody>
      </p:sp>
      <p:sp>
        <p:nvSpPr>
          <p:cNvPr name="AutoShape 181" id="181"/>
          <p:cNvSpPr/>
          <p:nvPr/>
        </p:nvSpPr>
        <p:spPr>
          <a:xfrm rot="0">
            <a:off x="12173807" y="3235262"/>
            <a:ext cx="1143762" cy="9525"/>
          </a:xfrm>
          <a:prstGeom prst="rect">
            <a:avLst/>
          </a:prstGeom>
          <a:solidFill>
            <a:srgbClr val="D8DFDD"/>
          </a:solidFill>
        </p:spPr>
      </p:sp>
      <p:sp>
        <p:nvSpPr>
          <p:cNvPr name="TextBox 182" id="182"/>
          <p:cNvSpPr txBox="true"/>
          <p:nvPr/>
        </p:nvSpPr>
        <p:spPr>
          <a:xfrm rot="0">
            <a:off x="12173807" y="296856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144</a:t>
            </a:r>
          </a:p>
        </p:txBody>
      </p:sp>
      <p:sp>
        <p:nvSpPr>
          <p:cNvPr name="AutoShape 183" id="183"/>
          <p:cNvSpPr/>
          <p:nvPr/>
        </p:nvSpPr>
        <p:spPr>
          <a:xfrm rot="0">
            <a:off x="13317569" y="3235262"/>
            <a:ext cx="1122331" cy="9525"/>
          </a:xfrm>
          <a:prstGeom prst="rect">
            <a:avLst/>
          </a:prstGeom>
          <a:solidFill>
            <a:srgbClr val="D8DFDD"/>
          </a:solidFill>
        </p:spPr>
      </p:sp>
      <p:sp>
        <p:nvSpPr>
          <p:cNvPr name="TextBox 184" id="184"/>
          <p:cNvSpPr txBox="true"/>
          <p:nvPr/>
        </p:nvSpPr>
        <p:spPr>
          <a:xfrm rot="0">
            <a:off x="13317569" y="296856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0.96-1.04</a:t>
            </a:r>
          </a:p>
        </p:txBody>
      </p:sp>
      <p:sp>
        <p:nvSpPr>
          <p:cNvPr name="AutoShape 185" id="185"/>
          <p:cNvSpPr/>
          <p:nvPr/>
        </p:nvSpPr>
        <p:spPr>
          <a:xfrm rot="0">
            <a:off x="7781925" y="3482912"/>
            <a:ext cx="1857947" cy="9525"/>
          </a:xfrm>
          <a:prstGeom prst="rect">
            <a:avLst/>
          </a:prstGeom>
          <a:solidFill>
            <a:srgbClr val="D8DFDD"/>
          </a:solidFill>
        </p:spPr>
      </p:sp>
      <p:sp>
        <p:nvSpPr>
          <p:cNvPr name="TextBox 186" id="186"/>
          <p:cNvSpPr txBox="true"/>
          <p:nvPr/>
        </p:nvSpPr>
        <p:spPr>
          <a:xfrm rot="0">
            <a:off x="7781925" y="321621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SF-TMN</a:t>
            </a:r>
          </a:p>
        </p:txBody>
      </p:sp>
      <p:sp>
        <p:nvSpPr>
          <p:cNvPr name="AutoShape 187" id="187"/>
          <p:cNvSpPr/>
          <p:nvPr/>
        </p:nvSpPr>
        <p:spPr>
          <a:xfrm rot="0">
            <a:off x="9639872" y="3482912"/>
            <a:ext cx="1170242" cy="9525"/>
          </a:xfrm>
          <a:prstGeom prst="rect">
            <a:avLst/>
          </a:prstGeom>
          <a:solidFill>
            <a:srgbClr val="D8DFDD"/>
          </a:solidFill>
        </p:spPr>
      </p:sp>
      <p:sp>
        <p:nvSpPr>
          <p:cNvPr name="TextBox 188" id="188"/>
          <p:cNvSpPr txBox="true"/>
          <p:nvPr/>
        </p:nvSpPr>
        <p:spPr>
          <a:xfrm rot="0">
            <a:off x="9639872" y="321621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2,259,932</a:t>
            </a:r>
          </a:p>
        </p:txBody>
      </p:sp>
      <p:sp>
        <p:nvSpPr>
          <p:cNvPr name="AutoShape 189" id="189"/>
          <p:cNvSpPr/>
          <p:nvPr/>
        </p:nvSpPr>
        <p:spPr>
          <a:xfrm rot="0">
            <a:off x="10810113" y="3482912"/>
            <a:ext cx="1363694" cy="9525"/>
          </a:xfrm>
          <a:prstGeom prst="rect">
            <a:avLst/>
          </a:prstGeom>
          <a:solidFill>
            <a:srgbClr val="D8DFDD"/>
          </a:solidFill>
        </p:spPr>
      </p:sp>
      <p:sp>
        <p:nvSpPr>
          <p:cNvPr name="TextBox 190" id="190"/>
          <p:cNvSpPr txBox="true"/>
          <p:nvPr/>
        </p:nvSpPr>
        <p:spPr>
          <a:xfrm rot="0">
            <a:off x="10810113" y="321621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17.25-29.14</a:t>
            </a:r>
          </a:p>
        </p:txBody>
      </p:sp>
      <p:sp>
        <p:nvSpPr>
          <p:cNvPr name="AutoShape 191" id="191"/>
          <p:cNvSpPr/>
          <p:nvPr/>
        </p:nvSpPr>
        <p:spPr>
          <a:xfrm rot="0">
            <a:off x="12173807" y="3482912"/>
            <a:ext cx="1143762" cy="9525"/>
          </a:xfrm>
          <a:prstGeom prst="rect">
            <a:avLst/>
          </a:prstGeom>
          <a:solidFill>
            <a:srgbClr val="D8DFDD"/>
          </a:solidFill>
        </p:spPr>
      </p:sp>
      <p:sp>
        <p:nvSpPr>
          <p:cNvPr name="TextBox 192" id="192"/>
          <p:cNvSpPr txBox="true"/>
          <p:nvPr/>
        </p:nvSpPr>
        <p:spPr>
          <a:xfrm rot="0">
            <a:off x="12173807" y="321621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336</a:t>
            </a:r>
          </a:p>
        </p:txBody>
      </p:sp>
      <p:sp>
        <p:nvSpPr>
          <p:cNvPr name="AutoShape 193" id="193"/>
          <p:cNvSpPr/>
          <p:nvPr/>
        </p:nvSpPr>
        <p:spPr>
          <a:xfrm rot="0">
            <a:off x="13317569" y="3482912"/>
            <a:ext cx="1122331" cy="9525"/>
          </a:xfrm>
          <a:prstGeom prst="rect">
            <a:avLst/>
          </a:prstGeom>
          <a:solidFill>
            <a:srgbClr val="D8DFDD"/>
          </a:solidFill>
        </p:spPr>
      </p:sp>
      <p:sp>
        <p:nvSpPr>
          <p:cNvPr name="TextBox 194" id="194"/>
          <p:cNvSpPr txBox="true"/>
          <p:nvPr/>
        </p:nvSpPr>
        <p:spPr>
          <a:xfrm rot="0">
            <a:off x="13317569" y="321621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5.02-8.46</a:t>
            </a:r>
          </a:p>
        </p:txBody>
      </p:sp>
      <p:sp>
        <p:nvSpPr>
          <p:cNvPr name="AutoShape 195" id="195"/>
          <p:cNvSpPr/>
          <p:nvPr/>
        </p:nvSpPr>
        <p:spPr>
          <a:xfrm rot="0">
            <a:off x="7781925" y="3730562"/>
            <a:ext cx="1857947" cy="9525"/>
          </a:xfrm>
          <a:prstGeom prst="rect">
            <a:avLst/>
          </a:prstGeom>
          <a:solidFill>
            <a:srgbClr val="D8DFDD"/>
          </a:solidFill>
        </p:spPr>
      </p:sp>
      <p:sp>
        <p:nvSpPr>
          <p:cNvPr name="TextBox 196" id="196"/>
          <p:cNvSpPr txBox="true"/>
          <p:nvPr/>
        </p:nvSpPr>
        <p:spPr>
          <a:xfrm rot="0">
            <a:off x="7781925" y="346386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MS-TCN-MT-10L</a:t>
            </a:r>
          </a:p>
        </p:txBody>
      </p:sp>
      <p:sp>
        <p:nvSpPr>
          <p:cNvPr name="AutoShape 197" id="197"/>
          <p:cNvSpPr/>
          <p:nvPr/>
        </p:nvSpPr>
        <p:spPr>
          <a:xfrm rot="0">
            <a:off x="9639872" y="3730562"/>
            <a:ext cx="1170242" cy="9525"/>
          </a:xfrm>
          <a:prstGeom prst="rect">
            <a:avLst/>
          </a:prstGeom>
          <a:solidFill>
            <a:srgbClr val="D8DFDD"/>
          </a:solidFill>
        </p:spPr>
      </p:sp>
      <p:sp>
        <p:nvSpPr>
          <p:cNvPr name="TextBox 198" id="198"/>
          <p:cNvSpPr txBox="true"/>
          <p:nvPr/>
        </p:nvSpPr>
        <p:spPr>
          <a:xfrm rot="0">
            <a:off x="9639872" y="346386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796,792</a:t>
            </a:r>
          </a:p>
        </p:txBody>
      </p:sp>
      <p:sp>
        <p:nvSpPr>
          <p:cNvPr name="AutoShape 199" id="199"/>
          <p:cNvSpPr/>
          <p:nvPr/>
        </p:nvSpPr>
        <p:spPr>
          <a:xfrm rot="0">
            <a:off x="10810113" y="3730562"/>
            <a:ext cx="1363694" cy="9525"/>
          </a:xfrm>
          <a:prstGeom prst="rect">
            <a:avLst/>
          </a:prstGeom>
          <a:solidFill>
            <a:srgbClr val="D8DFDD"/>
          </a:solidFill>
        </p:spPr>
      </p:sp>
      <p:sp>
        <p:nvSpPr>
          <p:cNvPr name="TextBox 200" id="200"/>
          <p:cNvSpPr txBox="true"/>
          <p:nvPr/>
        </p:nvSpPr>
        <p:spPr>
          <a:xfrm rot="0">
            <a:off x="10810113" y="346386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0.78-2.10</a:t>
            </a:r>
          </a:p>
        </p:txBody>
      </p:sp>
      <p:sp>
        <p:nvSpPr>
          <p:cNvPr name="AutoShape 201" id="201"/>
          <p:cNvSpPr/>
          <p:nvPr/>
        </p:nvSpPr>
        <p:spPr>
          <a:xfrm rot="0">
            <a:off x="12173807" y="3730562"/>
            <a:ext cx="1143762" cy="9525"/>
          </a:xfrm>
          <a:prstGeom prst="rect">
            <a:avLst/>
          </a:prstGeom>
          <a:solidFill>
            <a:srgbClr val="D8DFDD"/>
          </a:solidFill>
        </p:spPr>
      </p:sp>
      <p:sp>
        <p:nvSpPr>
          <p:cNvPr name="TextBox 202" id="202"/>
          <p:cNvSpPr txBox="true"/>
          <p:nvPr/>
        </p:nvSpPr>
        <p:spPr>
          <a:xfrm rot="0">
            <a:off x="12173807" y="346386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158-159</a:t>
            </a:r>
          </a:p>
        </p:txBody>
      </p:sp>
      <p:sp>
        <p:nvSpPr>
          <p:cNvPr name="AutoShape 203" id="203"/>
          <p:cNvSpPr/>
          <p:nvPr/>
        </p:nvSpPr>
        <p:spPr>
          <a:xfrm rot="0">
            <a:off x="13317569" y="3730562"/>
            <a:ext cx="1122331" cy="9525"/>
          </a:xfrm>
          <a:prstGeom prst="rect">
            <a:avLst/>
          </a:prstGeom>
          <a:solidFill>
            <a:srgbClr val="D8DFDD"/>
          </a:solidFill>
        </p:spPr>
      </p:sp>
      <p:sp>
        <p:nvSpPr>
          <p:cNvPr name="TextBox 204" id="204"/>
          <p:cNvSpPr txBox="true"/>
          <p:nvPr/>
        </p:nvSpPr>
        <p:spPr>
          <a:xfrm rot="0">
            <a:off x="13317569" y="346386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0.67-2.18</a:t>
            </a:r>
          </a:p>
        </p:txBody>
      </p:sp>
      <p:sp>
        <p:nvSpPr>
          <p:cNvPr name="AutoShape 205" id="205"/>
          <p:cNvSpPr/>
          <p:nvPr/>
        </p:nvSpPr>
        <p:spPr>
          <a:xfrm rot="0">
            <a:off x="7781925" y="3978212"/>
            <a:ext cx="1857947" cy="9525"/>
          </a:xfrm>
          <a:prstGeom prst="rect">
            <a:avLst/>
          </a:prstGeom>
          <a:solidFill>
            <a:srgbClr val="D8DFDD"/>
          </a:solidFill>
        </p:spPr>
      </p:sp>
      <p:sp>
        <p:nvSpPr>
          <p:cNvPr name="TextBox 206" id="206"/>
          <p:cNvSpPr txBox="true"/>
          <p:nvPr/>
        </p:nvSpPr>
        <p:spPr>
          <a:xfrm rot="0">
            <a:off x="7781925" y="3711511"/>
            <a:ext cx="1857947"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MS-TCN-MT-11L</a:t>
            </a:r>
          </a:p>
        </p:txBody>
      </p:sp>
      <p:sp>
        <p:nvSpPr>
          <p:cNvPr name="AutoShape 207" id="207"/>
          <p:cNvSpPr/>
          <p:nvPr/>
        </p:nvSpPr>
        <p:spPr>
          <a:xfrm rot="0">
            <a:off x="9639872" y="3978212"/>
            <a:ext cx="1170242" cy="9525"/>
          </a:xfrm>
          <a:prstGeom prst="rect">
            <a:avLst/>
          </a:prstGeom>
          <a:solidFill>
            <a:srgbClr val="D8DFDD"/>
          </a:solidFill>
        </p:spPr>
      </p:sp>
      <p:sp>
        <p:nvSpPr>
          <p:cNvPr name="TextBox 208" id="208"/>
          <p:cNvSpPr txBox="true"/>
          <p:nvPr/>
        </p:nvSpPr>
        <p:spPr>
          <a:xfrm rot="0">
            <a:off x="9639872" y="3711511"/>
            <a:ext cx="1170242"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862,840</a:t>
            </a:r>
          </a:p>
        </p:txBody>
      </p:sp>
      <p:sp>
        <p:nvSpPr>
          <p:cNvPr name="AutoShape 209" id="209"/>
          <p:cNvSpPr/>
          <p:nvPr/>
        </p:nvSpPr>
        <p:spPr>
          <a:xfrm rot="0">
            <a:off x="10810113" y="3978212"/>
            <a:ext cx="1363694" cy="9525"/>
          </a:xfrm>
          <a:prstGeom prst="rect">
            <a:avLst/>
          </a:prstGeom>
          <a:solidFill>
            <a:srgbClr val="D8DFDD"/>
          </a:solidFill>
        </p:spPr>
      </p:sp>
      <p:sp>
        <p:nvSpPr>
          <p:cNvPr name="TextBox 210" id="210"/>
          <p:cNvSpPr txBox="true"/>
          <p:nvPr/>
        </p:nvSpPr>
        <p:spPr>
          <a:xfrm rot="0">
            <a:off x="10810113" y="3711511"/>
            <a:ext cx="1363694" cy="276225"/>
          </a:xfrm>
          <a:prstGeom prst="rect">
            <a:avLst/>
          </a:prstGeom>
        </p:spPr>
        <p:txBody>
          <a:bodyPr anchor="t" rtlCol="false" tIns="0" lIns="0" bIns="0" rIns="0">
            <a:spAutoFit/>
          </a:bodyPr>
          <a:lstStyle/>
          <a:p>
            <a:pPr algn="l">
              <a:lnSpc>
                <a:spcPts val="1574"/>
              </a:lnSpc>
            </a:pPr>
            <a:r>
              <a:rPr lang="en-US" sz="1125">
                <a:solidFill>
                  <a:srgbClr val="23383E"/>
                </a:solidFill>
                <a:latin typeface="Arial"/>
                <a:ea typeface="Arial"/>
                <a:cs typeface="Arial"/>
                <a:sym typeface="Arial"/>
              </a:rPr>
              <a:t>1.19-1.89</a:t>
            </a:r>
          </a:p>
        </p:txBody>
      </p:sp>
      <p:sp>
        <p:nvSpPr>
          <p:cNvPr name="AutoShape 211" id="211"/>
          <p:cNvSpPr/>
          <p:nvPr/>
        </p:nvSpPr>
        <p:spPr>
          <a:xfrm rot="0">
            <a:off x="12173807" y="3978212"/>
            <a:ext cx="1143762" cy="9525"/>
          </a:xfrm>
          <a:prstGeom prst="rect">
            <a:avLst/>
          </a:prstGeom>
          <a:solidFill>
            <a:srgbClr val="D8DFDD"/>
          </a:solidFill>
        </p:spPr>
      </p:sp>
      <p:sp>
        <p:nvSpPr>
          <p:cNvPr name="TextBox 212" id="212"/>
          <p:cNvSpPr txBox="true"/>
          <p:nvPr/>
        </p:nvSpPr>
        <p:spPr>
          <a:xfrm rot="0">
            <a:off x="12173807" y="3711511"/>
            <a:ext cx="1143762"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166</a:t>
            </a:r>
          </a:p>
        </p:txBody>
      </p:sp>
      <p:sp>
        <p:nvSpPr>
          <p:cNvPr name="AutoShape 213" id="213"/>
          <p:cNvSpPr/>
          <p:nvPr/>
        </p:nvSpPr>
        <p:spPr>
          <a:xfrm rot="0">
            <a:off x="13317569" y="3978212"/>
            <a:ext cx="1122331" cy="9525"/>
          </a:xfrm>
          <a:prstGeom prst="rect">
            <a:avLst/>
          </a:prstGeom>
          <a:solidFill>
            <a:srgbClr val="D8DFDD"/>
          </a:solidFill>
        </p:spPr>
      </p:sp>
      <p:sp>
        <p:nvSpPr>
          <p:cNvPr name="TextBox 214" id="214"/>
          <p:cNvSpPr txBox="true"/>
          <p:nvPr/>
        </p:nvSpPr>
        <p:spPr>
          <a:xfrm rot="0">
            <a:off x="13317569" y="3711511"/>
            <a:ext cx="1122331" cy="276225"/>
          </a:xfrm>
          <a:prstGeom prst="rect">
            <a:avLst/>
          </a:prstGeom>
        </p:spPr>
        <p:txBody>
          <a:bodyPr anchor="t" rtlCol="false" tIns="0" lIns="0" bIns="0" rIns="0">
            <a:spAutoFit/>
          </a:bodyPr>
          <a:lstStyle/>
          <a:p>
            <a:pPr algn="r">
              <a:lnSpc>
                <a:spcPts val="1574"/>
              </a:lnSpc>
            </a:pPr>
            <a:r>
              <a:rPr lang="en-US" sz="1125">
                <a:solidFill>
                  <a:srgbClr val="23383E"/>
                </a:solidFill>
                <a:latin typeface="Arial"/>
                <a:ea typeface="Arial"/>
                <a:cs typeface="Arial"/>
                <a:sym typeface="Arial"/>
              </a:rPr>
              <a:t>0.69-2.27</a:t>
            </a:r>
          </a:p>
        </p:txBody>
      </p:sp>
      <p:sp>
        <p:nvSpPr>
          <p:cNvPr name="AutoShape 215" id="215"/>
          <p:cNvSpPr/>
          <p:nvPr/>
        </p:nvSpPr>
        <p:spPr>
          <a:xfrm rot="0">
            <a:off x="7781925" y="4316349"/>
            <a:ext cx="6657975" cy="1550956"/>
          </a:xfrm>
          <a:prstGeom prst="rect">
            <a:avLst/>
          </a:prstGeom>
          <a:solidFill>
            <a:srgbClr val="F6B94B">
              <a:alpha val="9804"/>
            </a:srgbClr>
          </a:solidFill>
        </p:spPr>
      </p:sp>
      <p:sp>
        <p:nvSpPr>
          <p:cNvPr name="AutoShape 216" id="216"/>
          <p:cNvSpPr/>
          <p:nvPr/>
        </p:nvSpPr>
        <p:spPr>
          <a:xfrm rot="0">
            <a:off x="7781925" y="4316349"/>
            <a:ext cx="47625" cy="1550956"/>
          </a:xfrm>
          <a:prstGeom prst="rect">
            <a:avLst/>
          </a:prstGeom>
          <a:solidFill>
            <a:srgbClr val="F6B94B"/>
          </a:solidFill>
        </p:spPr>
      </p:sp>
      <p:sp>
        <p:nvSpPr>
          <p:cNvPr name="TextBox 217" id="217"/>
          <p:cNvSpPr txBox="true"/>
          <p:nvPr/>
        </p:nvSpPr>
        <p:spPr>
          <a:xfrm rot="0">
            <a:off x="8058150" y="4535424"/>
            <a:ext cx="6153150" cy="261366"/>
          </a:xfrm>
          <a:prstGeom prst="rect">
            <a:avLst/>
          </a:prstGeom>
        </p:spPr>
        <p:txBody>
          <a:bodyPr anchor="t" rtlCol="false" tIns="0" lIns="0" bIns="0" rIns="0">
            <a:spAutoFit/>
          </a:bodyPr>
          <a:lstStyle/>
          <a:p>
            <a:pPr algn="l">
              <a:lnSpc>
                <a:spcPts val="1983"/>
              </a:lnSpc>
            </a:pPr>
            <a:r>
              <a:rPr lang="en-US" b="true" sz="1725">
                <a:solidFill>
                  <a:srgbClr val="102126"/>
                </a:solidFill>
                <a:latin typeface="Arial Bold"/>
                <a:ea typeface="Arial Bold"/>
                <a:cs typeface="Arial Bold"/>
                <a:sym typeface="Arial Bold"/>
              </a:rPr>
              <a:t>Interpretation</a:t>
            </a:r>
          </a:p>
        </p:txBody>
      </p:sp>
      <p:sp>
        <p:nvSpPr>
          <p:cNvPr name="TextBox 218" id="218"/>
          <p:cNvSpPr txBox="true"/>
          <p:nvPr/>
        </p:nvSpPr>
        <p:spPr>
          <a:xfrm rot="0">
            <a:off x="8058150" y="4834795"/>
            <a:ext cx="6153150" cy="803815"/>
          </a:xfrm>
          <a:prstGeom prst="rect">
            <a:avLst/>
          </a:prstGeom>
        </p:spPr>
        <p:txBody>
          <a:bodyPr anchor="t" rtlCol="false" tIns="0" lIns="0" bIns="0" rIns="0">
            <a:spAutoFit/>
          </a:bodyPr>
          <a:lstStyle/>
          <a:p>
            <a:pPr algn="l">
              <a:lnSpc>
                <a:spcPts val="2010"/>
              </a:lnSpc>
            </a:pPr>
            <a:r>
              <a:rPr lang="en-US" sz="1500">
                <a:solidFill>
                  <a:srgbClr val="42585D"/>
                </a:solidFill>
                <a:latin typeface="Arial"/>
                <a:ea typeface="Arial"/>
                <a:cs typeface="Arial"/>
                <a:sym typeface="Arial"/>
              </a:rPr>
              <a:t>The instrument task remains imbalanced; the single-task loss comparison is exploratory because standardized segmental metrics were not exported.</a:t>
            </a:r>
          </a:p>
        </p:txBody>
      </p:sp>
      <p:sp>
        <p:nvSpPr>
          <p:cNvPr name="AutoShape 219" id="219"/>
          <p:cNvSpPr/>
          <p:nvPr/>
        </p:nvSpPr>
        <p:spPr>
          <a:xfrm rot="0">
            <a:off x="800100" y="8039100"/>
            <a:ext cx="13639800" cy="9525"/>
          </a:xfrm>
          <a:prstGeom prst="rect">
            <a:avLst/>
          </a:prstGeom>
          <a:solidFill>
            <a:srgbClr val="061217">
              <a:alpha val="14902"/>
            </a:srgbClr>
          </a:solidFill>
        </p:spPr>
      </p:sp>
      <p:sp>
        <p:nvSpPr>
          <p:cNvPr name="TextBox 220" id="220"/>
          <p:cNvSpPr txBox="true"/>
          <p:nvPr/>
        </p:nvSpPr>
        <p:spPr>
          <a:xfrm rot="0">
            <a:off x="800100" y="7791450"/>
            <a:ext cx="4452747"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Source: Project report, Tables 5.3-5.5 · values in percent unless stated</a:t>
            </a:r>
          </a:p>
        </p:txBody>
      </p:sp>
      <p:sp>
        <p:nvSpPr>
          <p:cNvPr name="TextBox 221" id="221"/>
          <p:cNvSpPr txBox="true"/>
          <p:nvPr/>
        </p:nvSpPr>
        <p:spPr>
          <a:xfrm rot="0">
            <a:off x="800100" y="8153400"/>
            <a:ext cx="476726"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Backup</a:t>
            </a:r>
          </a:p>
        </p:txBody>
      </p:sp>
      <p:sp>
        <p:nvSpPr>
          <p:cNvPr name="TextBox 222" id="222"/>
          <p:cNvSpPr txBox="true"/>
          <p:nvPr/>
        </p:nvSpPr>
        <p:spPr>
          <a:xfrm rot="0">
            <a:off x="14280928" y="8153400"/>
            <a:ext cx="158972" cy="190500"/>
          </a:xfrm>
          <a:prstGeom prst="rect">
            <a:avLst/>
          </a:prstGeom>
        </p:spPr>
        <p:txBody>
          <a:bodyPr anchor="t" rtlCol="false" tIns="0" lIns="0" bIns="0" rIns="0">
            <a:spAutoFit/>
          </a:bodyPr>
          <a:lstStyle/>
          <a:p>
            <a:pPr algn="l">
              <a:lnSpc>
                <a:spcPts val="1574"/>
              </a:lnSpc>
            </a:pPr>
            <a:r>
              <a:rPr lang="en-US" sz="1125">
                <a:solidFill>
                  <a:srgbClr val="789198"/>
                </a:solidFill>
                <a:latin typeface="Arial"/>
                <a:ea typeface="Arial"/>
                <a:cs typeface="Arial"/>
                <a:sym typeface="Arial"/>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DAHP7frlsgE</dc:identifier>
  <dcterms:modified xsi:type="dcterms:W3CDTF">2011-08-01T06:04:30Z</dcterms:modified>
  <cp:revision>1</cp:revision>
  <dc:title>Surgical Workflow Analysis - White Theme</dc:title>
</cp:coreProperties>
</file>